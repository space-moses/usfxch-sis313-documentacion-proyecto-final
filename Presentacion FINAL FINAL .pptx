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60" r:id="rId5"/>
    <p:sldId id="261" r:id="rId6"/>
    <p:sldId id="262" r:id="rId7"/>
    <p:sldId id="264" r:id="rId8"/>
    <p:sldId id="265" r:id="rId9"/>
  </p:sldIdLst>
  <p:sldSz cx="16256000" cy="9144000"/>
  <p:notesSz cx="9144000" cy="16256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2" d="100"/>
          <a:sy n="62" d="100"/>
        </p:scale>
        <p:origin x="667"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7216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Bienvenidos a la presentación de nuestro proyecto. Somos estudiantes de la materia Infraestructura, Plataformas Tecnológicas y Redes. Hoy presentamos el diseño, implementación y aseguramiento de una infraestructura de red completa para un centro de cómputo de exámenes en línea. El proyecto abarca desde la conectividad con Internet hasta la capa de datos, pasando por balanceo de carga, seguridad y respaldos automatizados.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esta diapositiva explicamos la motivación del proyecto. Actualmente, muchas instituciones educativas requieren plataformas confiables para aplicar exámenes en línea, lo que exige una infraestructura robusta. Nuestros objetivos principales fueron cuatro: garantizar conectividad estable entre todos los servidores, implementar seguridad en múltiples capas, asegurar alta disponibilidad mediante balanceo de carga, y establecer un sistema automatizado de respaldos. El alcance abarca toda la pila: desde la conexión a Internet hasta la capa de datos.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presentamos la arquitectura completa de la solución. El flujo comienza cuando los usuarios acceden vía Internet — la petición llega al Router/Gateway que hace NAT y redirige al Balanceador NGINX. Este distribuye la carga entre los dos servidores web usando un algoritmo round-robin. Cada servidor web puede consultar la base de datos MariaDB en la red interna. El Backup Server realiza copias periódicas de la BD mediante scripts cron. Finalmente, el Servidor de Administración tiene acceso SSH a todos los nodos para gestión y </a:t>
            </a:r>
            <a:r>
              <a:rPr lang="en-US" dirty="0" err="1"/>
              <a:t>monitoreo</a:t>
            </a:r>
            <a:r>
              <a:rPr lang="en-US" dirty="0"/>
              <a:t>. Esta arquitectura es escalable: podemos agregar más servidores web sin afectar el resto del sistema.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seguridad fue un pilar fundamental del proyecto. Implementamos hardening SSH cambiando el puerto por defecto y deshabilitando autenticación por contraseña — solo se permite acceso mediante claves públicas/privadas RSA. El acceso root está bloqueado para login directo; los usuarios deben autenticarse con cuenta regular y elevar privilegios vía sudo. El firewall UFW está configurado para permitir solo los puertos estrictamente necesarios: HTTP (80), HTTPS (443) y el puerto SSH personalizado. Además, implementamos control de accesos por roles: administradores tienen acceso SSH a todos los nodos, mientras que usuarios de aplicación tienen permisos restringidos. Esta estrategia de defensa en profundidad protege en múltiples capas.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MariaDB fue seleccionada como sistema de gestión de bases de datos por ser open source, robusta y compatible con MySQL. Creamos la base de datos "examenes_db" con tablas para gestionar usuarios (estudiantes, profesores, administradores), exámenes, preguntas, respuestas y resultados. La comunicación entre la aplicación web y la base de datos se realiza exclusivamente por la red interna (192.168.1.0/24), nunca expuesta directamente a Internet. Implementamos gestión de usuarios y permisos a nivel de base de datos: cada rol de aplicación tiene un usuario MariaDB con privilegios mínimos necesarios. Además, se optimizaron los buffers y caché de consultas para mejorar el rendimiento bajo carga de múltiples estudiantes simultáneos.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sistema de respaldos es crítico para garantizar la continuidad del servicio. Configuramos un Backup Server dedicado (192.168.1.30) que ejecuta scripts Bash automatizados mediante cron jobs. Cada día a las 2:00 AM, se ejecuta mysqldump para generar un respaldo completo de la base de datos examenes_db. Los respaldos se almacenan localmente con una política de rotación: conservamos las últimas 7 copias diarias y las últimas 4 semanales. Esto nos permite recuperarnos ante cualquier escenario: fallo de hardware, corrupción de datos o eliminación accidental. El proceso es completamente automático y no requiere intervención manual.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resultados del proyecto, logramos una infraestructura operativa con 7 servidores configurados y comunicación exitosa entre todos los servicios. La seguridad está aplicada en múltiples capas incluyendo SSH hardening, firewall UFW y control de accesos por roles. La </a:t>
            </a:r>
            <a:r>
              <a:rPr lang="en-US" dirty="0" err="1"/>
              <a:t>plataforma</a:t>
            </a:r>
            <a:r>
              <a:rPr lang="en-US" dirty="0"/>
              <a:t> de exámenes está disponible con balanceo de carga activo entre dos servidores web. El sistema de respaldos funciona automáticamente sin intervención manual. Además, la arquitectura es escalable: podemos agregar más servidores web fácilmente sin afectar el resto del sistema, lo que permite crecer según la demanda de usuarios.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concluir, logramos diseñar e implementar una infraestructura de red completa, robusta y segura para un centro de cómputo de exámenes en línea. Como trabajo futuro, proponemos implementar </a:t>
            </a:r>
            <a:r>
              <a:rPr lang="en-US" dirty="0" err="1"/>
              <a:t>monitoreo</a:t>
            </a:r>
            <a:r>
              <a:rPr lang="en-US" dirty="0"/>
              <a:t> avanzado con Prometheus y Grafana para visualización de métricas en tiempo real, replicación de bases de datos en modo master-slave para mayor redundancia, alta disponibilidad total con failover automático usando Keepalived, automatización de configuraciones con Ansible para provisioning rápido, y certificados SSL/TLS con Let's Encrypt para cifrar todo el tráfico web. Muchas gracias por su atención, quedo atento a sus preguntas.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ttps://kimi-img.moonshot.cn/pub/slides/okc/rdnujj54ikoe2/mnt/agents/output/red-examenes/images/1_Modern_Data_Center_Server_Room_Blue.png"/>
          <p:cNvPicPr>
            <a:picLocks noChangeAspect="1"/>
          </p:cNvPicPr>
          <p:nvPr/>
        </p:nvPicPr>
        <p:blipFill>
          <a:blip r:embed="rId3"/>
          <a:srcRect l="111" r="111"/>
          <a:stretch/>
        </p:blipFill>
        <p:spPr>
          <a:xfrm>
            <a:off x="0" y="0"/>
            <a:ext cx="16256000" cy="9144000"/>
          </a:xfrm>
          <a:prstGeom prst="rect">
            <a:avLst/>
          </a:prstGeom>
        </p:spPr>
      </p:pic>
      <p:sp>
        <p:nvSpPr>
          <p:cNvPr id="4" name="Shape 0"/>
          <p:cNvSpPr/>
          <p:nvPr/>
        </p:nvSpPr>
        <p:spPr>
          <a:xfrm>
            <a:off x="0" y="-19050"/>
            <a:ext cx="16256000" cy="9144000"/>
          </a:xfrm>
          <a:prstGeom prst="rect">
            <a:avLst/>
          </a:prstGeom>
          <a:gradFill flip="none" rotWithShape="1">
            <a:gsLst>
              <a:gs pos="0">
                <a:srgbClr val="0D1117">
                  <a:alpha val="90000"/>
                </a:srgbClr>
              </a:gs>
              <a:gs pos="50000">
                <a:srgbClr val="0D1117">
                  <a:alpha val="80000"/>
                </a:srgbClr>
              </a:gs>
              <a:gs pos="100000">
                <a:srgbClr val="0D1117">
                  <a:alpha val="95000"/>
                </a:srgbClr>
              </a:gs>
            </a:gsLst>
            <a:lin ang="5400000" scaled="1"/>
          </a:gradFill>
          <a:ln w="12700">
            <a:solidFill>
              <a:srgbClr val="333333"/>
            </a:solidFill>
            <a:prstDash val="solid"/>
          </a:ln>
        </p:spPr>
        <p:txBody>
          <a:bodyPr/>
          <a:lstStyle/>
          <a:p>
            <a:endParaRPr lang="es-BO" dirty="0"/>
          </a:p>
        </p:txBody>
      </p:sp>
      <p:sp>
        <p:nvSpPr>
          <p:cNvPr id="5" name="Shape 1"/>
          <p:cNvSpPr/>
          <p:nvPr/>
        </p:nvSpPr>
        <p:spPr>
          <a:xfrm>
            <a:off x="0" y="0"/>
            <a:ext cx="16256000" cy="38100"/>
          </a:xfrm>
          <a:prstGeom prst="rect">
            <a:avLst/>
          </a:prstGeom>
          <a:solidFill>
            <a:srgbClr val="00E5A0"/>
          </a:solidFill>
          <a:ln/>
        </p:spPr>
      </p:sp>
      <p:sp>
        <p:nvSpPr>
          <p:cNvPr id="7" name="Text 3"/>
          <p:cNvSpPr/>
          <p:nvPr/>
        </p:nvSpPr>
        <p:spPr>
          <a:xfrm>
            <a:off x="1778000" y="3175000"/>
            <a:ext cx="12700000" cy="1524000"/>
          </a:xfrm>
          <a:prstGeom prst="rect">
            <a:avLst/>
          </a:prstGeom>
          <a:noFill/>
          <a:ln/>
        </p:spPr>
        <p:txBody>
          <a:bodyPr wrap="square" lIns="0" tIns="0" rIns="0" bIns="0" rtlCol="0" anchor="ctr"/>
          <a:lstStyle/>
          <a:p>
            <a:pPr algn="ctr">
              <a:lnSpc>
                <a:spcPct val="130000"/>
              </a:lnSpc>
            </a:pPr>
            <a:endParaRPr lang="en-US" sz="1600" dirty="0">
              <a:latin typeface="Arial" panose="020B0604020202020204" pitchFamily="34" charset="0"/>
              <a:cs typeface="Arial" panose="020B0604020202020204" pitchFamily="34" charset="0"/>
            </a:endParaRPr>
          </a:p>
        </p:txBody>
      </p:sp>
      <p:sp>
        <p:nvSpPr>
          <p:cNvPr id="8" name="Text 4"/>
          <p:cNvSpPr/>
          <p:nvPr/>
        </p:nvSpPr>
        <p:spPr>
          <a:xfrm>
            <a:off x="1778000" y="1054100"/>
            <a:ext cx="12700000" cy="4406900"/>
          </a:xfrm>
          <a:prstGeom prst="rect">
            <a:avLst/>
          </a:prstGeom>
          <a:noFill/>
          <a:ln/>
        </p:spPr>
        <p:txBody>
          <a:bodyPr wrap="none" lIns="0" tIns="0" rIns="0" bIns="0" rtlCol="0" anchor="ctr"/>
          <a:lstStyle/>
          <a:p>
            <a:pPr algn="ctr">
              <a:lnSpc>
                <a:spcPct val="100000"/>
              </a:lnSpc>
            </a:pPr>
            <a:r>
              <a:rPr lang="en-US" sz="5400" dirty="0">
                <a:solidFill>
                  <a:srgbClr val="00E5A0"/>
                </a:solidFill>
                <a:latin typeface="Arial" panose="020B0604020202020204" pitchFamily="34" charset="0"/>
                <a:ea typeface="Quattrocento Sans" pitchFamily="34" charset="-122"/>
                <a:cs typeface="Arial" panose="020B0604020202020204" pitchFamily="34" charset="0"/>
              </a:rPr>
              <a:t>Infraestructura de Red para </a:t>
            </a:r>
            <a:br>
              <a:rPr lang="en-US" sz="5400" dirty="0">
                <a:solidFill>
                  <a:srgbClr val="00E5A0"/>
                </a:solidFill>
                <a:latin typeface="Arial" panose="020B0604020202020204" pitchFamily="34" charset="0"/>
                <a:ea typeface="Quattrocento Sans" pitchFamily="34" charset="-122"/>
                <a:cs typeface="Arial" panose="020B0604020202020204" pitchFamily="34" charset="0"/>
              </a:rPr>
            </a:br>
            <a:r>
              <a:rPr lang="en-US" sz="5400" dirty="0">
                <a:solidFill>
                  <a:srgbClr val="00E5A0"/>
                </a:solidFill>
                <a:latin typeface="Arial" panose="020B0604020202020204" pitchFamily="34" charset="0"/>
                <a:ea typeface="Quattrocento Sans" pitchFamily="34" charset="-122"/>
                <a:cs typeface="Arial" panose="020B0604020202020204" pitchFamily="34" charset="0"/>
              </a:rPr>
              <a:t>Centro de Cómputo de Exámenes en Línea</a:t>
            </a:r>
            <a:endParaRPr lang="en-US" sz="5400" dirty="0">
              <a:latin typeface="Arial" panose="020B0604020202020204" pitchFamily="34" charset="0"/>
              <a:cs typeface="Arial" panose="020B0604020202020204" pitchFamily="34" charset="0"/>
            </a:endParaRPr>
          </a:p>
        </p:txBody>
      </p:sp>
      <p:sp>
        <p:nvSpPr>
          <p:cNvPr id="9" name="Shape 5"/>
          <p:cNvSpPr/>
          <p:nvPr/>
        </p:nvSpPr>
        <p:spPr>
          <a:xfrm>
            <a:off x="6858000" y="5715000"/>
            <a:ext cx="2540000" cy="25400"/>
          </a:xfrm>
          <a:prstGeom prst="rect">
            <a:avLst/>
          </a:prstGeom>
          <a:solidFill>
            <a:srgbClr val="00E5A0"/>
          </a:solidFill>
          <a:ln/>
        </p:spPr>
      </p:sp>
      <p:sp>
        <p:nvSpPr>
          <p:cNvPr id="10" name="Text 6"/>
          <p:cNvSpPr/>
          <p:nvPr/>
        </p:nvSpPr>
        <p:spPr>
          <a:xfrm>
            <a:off x="1778000" y="6032500"/>
            <a:ext cx="12700000" cy="381000"/>
          </a:xfrm>
          <a:prstGeom prst="rect">
            <a:avLst/>
          </a:prstGeom>
          <a:noFill/>
          <a:ln/>
        </p:spPr>
        <p:txBody>
          <a:bodyPr wrap="none" lIns="0" tIns="0" rIns="0" bIns="0" rtlCol="0" anchor="ctr"/>
          <a:lstStyle/>
          <a:p>
            <a:pPr algn="ctr">
              <a:lnSpc>
                <a:spcPct val="100000"/>
              </a:lnSpc>
            </a:pPr>
            <a:r>
              <a:rPr lang="en-US" sz="1800" dirty="0">
                <a:solidFill>
                  <a:srgbClr val="8B949E"/>
                </a:solidFill>
                <a:latin typeface="Arial" panose="020B0604020202020204" pitchFamily="34" charset="0"/>
                <a:ea typeface="Quattrocento Sans" pitchFamily="34" charset="-122"/>
                <a:cs typeface="Arial" panose="020B0604020202020204" pitchFamily="34" charset="0"/>
              </a:rPr>
              <a:t>Infraestructura, Plataformas Tecnológicas y Redes</a:t>
            </a:r>
            <a:endParaRPr lang="en-US" sz="1600" dirty="0">
              <a:latin typeface="Arial" panose="020B0604020202020204" pitchFamily="34" charset="0"/>
              <a:cs typeface="Arial" panose="020B0604020202020204" pitchFamily="34" charset="0"/>
            </a:endParaRPr>
          </a:p>
        </p:txBody>
      </p:sp>
      <p:sp>
        <p:nvSpPr>
          <p:cNvPr id="11" name="Text 7"/>
          <p:cNvSpPr/>
          <p:nvPr/>
        </p:nvSpPr>
        <p:spPr>
          <a:xfrm>
            <a:off x="1778000" y="6540500"/>
            <a:ext cx="12700000" cy="381000"/>
          </a:xfrm>
          <a:prstGeom prst="rect">
            <a:avLst/>
          </a:prstGeom>
          <a:noFill/>
          <a:ln/>
        </p:spPr>
        <p:txBody>
          <a:bodyPr wrap="none" lIns="0" tIns="0" rIns="0" bIns="0" rtlCol="0" anchor="ctr"/>
          <a:lstStyle/>
          <a:p>
            <a:pPr algn="ctr">
              <a:lnSpc>
                <a:spcPct val="100000"/>
              </a:lnSpc>
            </a:pPr>
            <a:r>
              <a:rPr lang="en-US" sz="1600" dirty="0">
                <a:solidFill>
                  <a:srgbClr val="8B949E"/>
                </a:solidFill>
                <a:latin typeface="Arial" panose="020B0604020202020204" pitchFamily="34" charset="0"/>
                <a:ea typeface="Quattrocento Sans" pitchFamily="34" charset="-122"/>
                <a:cs typeface="Arial" panose="020B0604020202020204" pitchFamily="34" charset="0"/>
              </a:rPr>
              <a:t>USFX | 2026</a:t>
            </a:r>
            <a:endParaRPr lang="en-US" sz="1600" dirty="0">
              <a:latin typeface="Arial" panose="020B0604020202020204" pitchFamily="34" charset="0"/>
              <a:cs typeface="Arial" panose="020B0604020202020204" pitchFamily="34" charset="0"/>
            </a:endParaRPr>
          </a:p>
        </p:txBody>
      </p:sp>
      <p:sp>
        <p:nvSpPr>
          <p:cNvPr id="12" name="Shape 8"/>
          <p:cNvSpPr/>
          <p:nvPr/>
        </p:nvSpPr>
        <p:spPr>
          <a:xfrm>
            <a:off x="0" y="9105900"/>
            <a:ext cx="16256000" cy="38100"/>
          </a:xfrm>
          <a:prstGeom prst="rect">
            <a:avLst/>
          </a:prstGeom>
          <a:solidFill>
            <a:srgbClr val="00E5A0"/>
          </a:solidFill>
          <a:ln/>
        </p:spPr>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3" name="Shape 0"/>
          <p:cNvSpPr/>
          <p:nvPr/>
        </p:nvSpPr>
        <p:spPr>
          <a:xfrm>
            <a:off x="0" y="0"/>
            <a:ext cx="16256000" cy="38100"/>
          </a:xfrm>
          <a:prstGeom prst="rect">
            <a:avLst/>
          </a:prstGeom>
          <a:solidFill>
            <a:srgbClr val="00E5A0"/>
          </a:solidFill>
          <a:ln/>
        </p:spPr>
      </p:sp>
      <p:sp>
        <p:nvSpPr>
          <p:cNvPr id="4" name="Text 1"/>
          <p:cNvSpPr/>
          <p:nvPr/>
        </p:nvSpPr>
        <p:spPr>
          <a:xfrm>
            <a:off x="762000" y="381000"/>
            <a:ext cx="7620000" cy="508000"/>
          </a:xfrm>
          <a:prstGeom prst="rect">
            <a:avLst/>
          </a:prstGeom>
          <a:noFill/>
          <a:ln/>
        </p:spPr>
        <p:txBody>
          <a:bodyPr wrap="none" lIns="0" tIns="0" rIns="0" bIns="0" rtlCol="0" anchor="ctr"/>
          <a:lstStyle/>
          <a:p>
            <a:pPr>
              <a:lnSpc>
                <a:spcPct val="120000"/>
              </a:lnSpc>
            </a:pPr>
            <a:r>
              <a:rPr lang="en-US" sz="3000" kern="0" spc="200" dirty="0">
                <a:solidFill>
                  <a:srgbClr val="00E5A0"/>
                </a:solidFill>
                <a:latin typeface="Arial" panose="020B0604020202020204" pitchFamily="34" charset="0"/>
                <a:ea typeface="Liter" pitchFamily="34" charset="-122"/>
                <a:cs typeface="Arial" panose="020B0604020202020204" pitchFamily="34" charset="0"/>
              </a:rPr>
              <a:t>INTRODUCCIÓN Y OBJETIVOS</a:t>
            </a:r>
            <a:endParaRPr lang="en-US" sz="3000" dirty="0">
              <a:latin typeface="Arial" panose="020B0604020202020204" pitchFamily="34" charset="0"/>
              <a:cs typeface="Arial" panose="020B0604020202020204" pitchFamily="34" charset="0"/>
            </a:endParaRPr>
          </a:p>
        </p:txBody>
      </p:sp>
      <p:sp>
        <p:nvSpPr>
          <p:cNvPr id="5" name="Shape 2"/>
          <p:cNvSpPr/>
          <p:nvPr/>
        </p:nvSpPr>
        <p:spPr>
          <a:xfrm>
            <a:off x="762000" y="952500"/>
            <a:ext cx="1524000" cy="38100"/>
          </a:xfrm>
          <a:prstGeom prst="rect">
            <a:avLst/>
          </a:prstGeom>
          <a:solidFill>
            <a:srgbClr val="00E5A0"/>
          </a:solidFill>
          <a:ln/>
        </p:spPr>
      </p:sp>
      <p:sp>
        <p:nvSpPr>
          <p:cNvPr id="6" name="Text 3"/>
          <p:cNvSpPr/>
          <p:nvPr/>
        </p:nvSpPr>
        <p:spPr>
          <a:xfrm>
            <a:off x="762000" y="1206500"/>
            <a:ext cx="14732000" cy="698500"/>
          </a:xfrm>
          <a:prstGeom prst="rect">
            <a:avLst/>
          </a:prstGeom>
          <a:noFill/>
          <a:ln/>
        </p:spPr>
        <p:txBody>
          <a:bodyPr wrap="square" lIns="0" tIns="0" rIns="0" bIns="0" rtlCol="0" anchor="ctr"/>
          <a:lstStyle/>
          <a:p>
            <a:pPr>
              <a:lnSpc>
                <a:spcPct val="150000"/>
              </a:lnSpc>
            </a:pPr>
            <a:r>
              <a:rPr lang="en-US" dirty="0">
                <a:solidFill>
                  <a:schemeClr val="bg1"/>
                </a:solidFill>
                <a:latin typeface="Arial" panose="020B0604020202020204" pitchFamily="34" charset="0"/>
                <a:ea typeface="Inter" pitchFamily="34" charset="-122"/>
                <a:cs typeface="Arial" panose="020B0604020202020204" pitchFamily="34" charset="0"/>
              </a:rPr>
              <a:t>Plataforma segura y disponible para evaluaciones remotas con integridad y privacidad.</a:t>
            </a:r>
            <a:endParaRPr lang="en-US" dirty="0">
              <a:solidFill>
                <a:schemeClr val="bg1"/>
              </a:solidFill>
              <a:latin typeface="Arial" panose="020B0604020202020204" pitchFamily="34" charset="0"/>
              <a:cs typeface="Arial" panose="020B0604020202020204" pitchFamily="34" charset="0"/>
            </a:endParaRPr>
          </a:p>
          <a:p>
            <a:pPr algn="ctr">
              <a:lnSpc>
                <a:spcPct val="150000"/>
              </a:lnSpc>
            </a:pPr>
            <a:endParaRPr lang="en-US" sz="1800" dirty="0">
              <a:latin typeface="Arial" panose="020B0604020202020204" pitchFamily="34" charset="0"/>
              <a:cs typeface="Arial" panose="020B0604020202020204" pitchFamily="34" charset="0"/>
            </a:endParaRPr>
          </a:p>
        </p:txBody>
      </p:sp>
      <p:sp>
        <p:nvSpPr>
          <p:cNvPr id="7" name="Shape 4"/>
          <p:cNvSpPr/>
          <p:nvPr/>
        </p:nvSpPr>
        <p:spPr>
          <a:xfrm>
            <a:off x="762000" y="2159000"/>
            <a:ext cx="3429000" cy="3556000"/>
          </a:xfrm>
          <a:prstGeom prst="roundRect">
            <a:avLst>
              <a:gd name="adj" fmla="val 8000"/>
            </a:avLst>
          </a:prstGeom>
          <a:solidFill>
            <a:srgbClr val="161B22"/>
          </a:solidFill>
          <a:ln w="12700">
            <a:solidFill>
              <a:srgbClr val="30363D"/>
            </a:solidFill>
            <a:prstDash val="solid"/>
          </a:ln>
        </p:spPr>
      </p:sp>
      <p:sp>
        <p:nvSpPr>
          <p:cNvPr id="8" name="Shape 5"/>
          <p:cNvSpPr/>
          <p:nvPr/>
        </p:nvSpPr>
        <p:spPr>
          <a:xfrm>
            <a:off x="2133600" y="2476500"/>
            <a:ext cx="685800" cy="609600"/>
          </a:xfrm>
          <a:custGeom>
            <a:avLst/>
            <a:gdLst/>
            <a:ahLst/>
            <a:cxnLst/>
            <a:rect l="l" t="t" r="r" b="b"/>
            <a:pathLst>
              <a:path w="685800" h="609600">
                <a:moveTo>
                  <a:pt x="295275" y="104775"/>
                </a:moveTo>
                <a:lnTo>
                  <a:pt x="390525" y="104775"/>
                </a:lnTo>
                <a:lnTo>
                  <a:pt x="390525" y="161925"/>
                </a:lnTo>
                <a:lnTo>
                  <a:pt x="295275" y="161925"/>
                </a:lnTo>
                <a:lnTo>
                  <a:pt x="295275" y="104775"/>
                </a:lnTo>
                <a:close/>
                <a:moveTo>
                  <a:pt x="285750" y="38100"/>
                </a:moveTo>
                <a:cubicBezTo>
                  <a:pt x="254198" y="38100"/>
                  <a:pt x="228600" y="63698"/>
                  <a:pt x="228600" y="95250"/>
                </a:cubicBezTo>
                <a:lnTo>
                  <a:pt x="228600" y="171450"/>
                </a:lnTo>
                <a:cubicBezTo>
                  <a:pt x="228600" y="203002"/>
                  <a:pt x="254198" y="228600"/>
                  <a:pt x="285750" y="228600"/>
                </a:cubicBezTo>
                <a:lnTo>
                  <a:pt x="304800" y="228600"/>
                </a:lnTo>
                <a:lnTo>
                  <a:pt x="304800" y="266700"/>
                </a:lnTo>
                <a:lnTo>
                  <a:pt x="38100" y="266700"/>
                </a:lnTo>
                <a:cubicBezTo>
                  <a:pt x="17026" y="266700"/>
                  <a:pt x="0" y="283726"/>
                  <a:pt x="0" y="304800"/>
                </a:cubicBezTo>
                <a:cubicBezTo>
                  <a:pt x="0" y="325874"/>
                  <a:pt x="17026" y="342900"/>
                  <a:pt x="38100" y="342900"/>
                </a:cubicBezTo>
                <a:lnTo>
                  <a:pt x="152400" y="342900"/>
                </a:lnTo>
                <a:lnTo>
                  <a:pt x="152400" y="381000"/>
                </a:lnTo>
                <a:lnTo>
                  <a:pt x="133350" y="381000"/>
                </a:lnTo>
                <a:cubicBezTo>
                  <a:pt x="101798" y="381000"/>
                  <a:pt x="76200" y="406598"/>
                  <a:pt x="76200" y="438150"/>
                </a:cubicBezTo>
                <a:lnTo>
                  <a:pt x="76200" y="514350"/>
                </a:lnTo>
                <a:cubicBezTo>
                  <a:pt x="76200" y="545902"/>
                  <a:pt x="101798" y="571500"/>
                  <a:pt x="133350" y="571500"/>
                </a:cubicBezTo>
                <a:lnTo>
                  <a:pt x="247650" y="571500"/>
                </a:lnTo>
                <a:cubicBezTo>
                  <a:pt x="279202" y="571500"/>
                  <a:pt x="304800" y="545902"/>
                  <a:pt x="304800" y="514350"/>
                </a:cubicBezTo>
                <a:lnTo>
                  <a:pt x="304800" y="438150"/>
                </a:lnTo>
                <a:cubicBezTo>
                  <a:pt x="304800" y="406598"/>
                  <a:pt x="279202" y="381000"/>
                  <a:pt x="247650" y="381000"/>
                </a:cubicBezTo>
                <a:lnTo>
                  <a:pt x="228600" y="381000"/>
                </a:lnTo>
                <a:lnTo>
                  <a:pt x="228600" y="342900"/>
                </a:lnTo>
                <a:lnTo>
                  <a:pt x="457200" y="342900"/>
                </a:lnTo>
                <a:lnTo>
                  <a:pt x="457200" y="381000"/>
                </a:lnTo>
                <a:lnTo>
                  <a:pt x="438150" y="381000"/>
                </a:lnTo>
                <a:cubicBezTo>
                  <a:pt x="406598" y="381000"/>
                  <a:pt x="381000" y="406598"/>
                  <a:pt x="381000" y="438150"/>
                </a:cubicBezTo>
                <a:lnTo>
                  <a:pt x="381000" y="514350"/>
                </a:lnTo>
                <a:cubicBezTo>
                  <a:pt x="381000" y="545902"/>
                  <a:pt x="406598" y="571500"/>
                  <a:pt x="438150" y="571500"/>
                </a:cubicBezTo>
                <a:lnTo>
                  <a:pt x="552450" y="571500"/>
                </a:lnTo>
                <a:cubicBezTo>
                  <a:pt x="584002" y="571500"/>
                  <a:pt x="609600" y="545902"/>
                  <a:pt x="609600" y="514350"/>
                </a:cubicBezTo>
                <a:lnTo>
                  <a:pt x="609600" y="438150"/>
                </a:lnTo>
                <a:cubicBezTo>
                  <a:pt x="609600" y="406598"/>
                  <a:pt x="584002" y="381000"/>
                  <a:pt x="552450" y="381000"/>
                </a:cubicBezTo>
                <a:lnTo>
                  <a:pt x="533400" y="381000"/>
                </a:lnTo>
                <a:lnTo>
                  <a:pt x="533400" y="342900"/>
                </a:lnTo>
                <a:lnTo>
                  <a:pt x="647700" y="342900"/>
                </a:lnTo>
                <a:cubicBezTo>
                  <a:pt x="668774" y="342900"/>
                  <a:pt x="685800" y="325874"/>
                  <a:pt x="685800" y="304800"/>
                </a:cubicBezTo>
                <a:cubicBezTo>
                  <a:pt x="685800" y="283726"/>
                  <a:pt x="668774" y="266700"/>
                  <a:pt x="647700" y="266700"/>
                </a:cubicBezTo>
                <a:lnTo>
                  <a:pt x="381000" y="266700"/>
                </a:lnTo>
                <a:lnTo>
                  <a:pt x="381000" y="228600"/>
                </a:lnTo>
                <a:lnTo>
                  <a:pt x="400050" y="228600"/>
                </a:lnTo>
                <a:cubicBezTo>
                  <a:pt x="431602" y="228600"/>
                  <a:pt x="457200" y="203002"/>
                  <a:pt x="457200" y="171450"/>
                </a:cubicBezTo>
                <a:lnTo>
                  <a:pt x="457200" y="95250"/>
                </a:lnTo>
                <a:cubicBezTo>
                  <a:pt x="457200" y="63698"/>
                  <a:pt x="431602" y="38100"/>
                  <a:pt x="400050" y="38100"/>
                </a:cubicBezTo>
                <a:lnTo>
                  <a:pt x="285750" y="38100"/>
                </a:lnTo>
                <a:close/>
                <a:moveTo>
                  <a:pt x="533400" y="447675"/>
                </a:moveTo>
                <a:lnTo>
                  <a:pt x="542925" y="447675"/>
                </a:lnTo>
                <a:lnTo>
                  <a:pt x="542925" y="504825"/>
                </a:lnTo>
                <a:lnTo>
                  <a:pt x="447675" y="504825"/>
                </a:lnTo>
                <a:lnTo>
                  <a:pt x="447675" y="447675"/>
                </a:lnTo>
                <a:lnTo>
                  <a:pt x="533400" y="447675"/>
                </a:lnTo>
                <a:close/>
                <a:moveTo>
                  <a:pt x="228600" y="447675"/>
                </a:moveTo>
                <a:lnTo>
                  <a:pt x="238125" y="447675"/>
                </a:lnTo>
                <a:lnTo>
                  <a:pt x="238125" y="504825"/>
                </a:lnTo>
                <a:lnTo>
                  <a:pt x="142875" y="504825"/>
                </a:lnTo>
                <a:lnTo>
                  <a:pt x="142875" y="447675"/>
                </a:lnTo>
                <a:lnTo>
                  <a:pt x="228600" y="447675"/>
                </a:lnTo>
                <a:close/>
              </a:path>
            </a:pathLst>
          </a:custGeom>
          <a:solidFill>
            <a:srgbClr val="00E5A0"/>
          </a:solidFill>
          <a:ln/>
        </p:spPr>
      </p:sp>
      <p:sp>
        <p:nvSpPr>
          <p:cNvPr id="9" name="Text 6"/>
          <p:cNvSpPr/>
          <p:nvPr/>
        </p:nvSpPr>
        <p:spPr>
          <a:xfrm>
            <a:off x="952500" y="3302000"/>
            <a:ext cx="3048000" cy="381000"/>
          </a:xfrm>
          <a:prstGeom prst="rect">
            <a:avLst/>
          </a:prstGeom>
          <a:noFill/>
          <a:ln/>
        </p:spPr>
        <p:txBody>
          <a:bodyPr wrap="none" lIns="0" tIns="0" rIns="0" bIns="0" rtlCol="0" anchor="ctr"/>
          <a:lstStyle/>
          <a:p>
            <a:pPr algn="ctr">
              <a:lnSpc>
                <a:spcPct val="100000"/>
              </a:lnSpc>
            </a:pPr>
            <a:r>
              <a:rPr lang="en-US" sz="1800" dirty="0">
                <a:solidFill>
                  <a:srgbClr val="00E5A0"/>
                </a:solidFill>
                <a:latin typeface="Arial" panose="020B0604020202020204" pitchFamily="34" charset="0"/>
                <a:ea typeface="Liter" pitchFamily="34" charset="-122"/>
                <a:cs typeface="Arial" panose="020B0604020202020204" pitchFamily="34" charset="0"/>
              </a:rPr>
              <a:t>CONECTIVIDAD</a:t>
            </a:r>
            <a:endParaRPr lang="en-US" sz="1600" dirty="0">
              <a:latin typeface="Arial" panose="020B0604020202020204" pitchFamily="34" charset="0"/>
              <a:cs typeface="Arial" panose="020B0604020202020204" pitchFamily="34" charset="0"/>
            </a:endParaRPr>
          </a:p>
        </p:txBody>
      </p:sp>
      <p:sp>
        <p:nvSpPr>
          <p:cNvPr id="10" name="Text 7"/>
          <p:cNvSpPr/>
          <p:nvPr/>
        </p:nvSpPr>
        <p:spPr>
          <a:xfrm>
            <a:off x="952500" y="3810000"/>
            <a:ext cx="3048000" cy="1651000"/>
          </a:xfrm>
          <a:prstGeom prst="rect">
            <a:avLst/>
          </a:prstGeom>
          <a:noFill/>
          <a:ln/>
        </p:spPr>
        <p:txBody>
          <a:bodyPr wrap="square" lIns="0" tIns="0" rIns="0" bIns="0" rtlCol="0" anchor="t"/>
          <a:lstStyle/>
          <a:p>
            <a:pPr algn="ctr">
              <a:lnSpc>
                <a:spcPct val="150000"/>
              </a:lnSpc>
            </a:pPr>
            <a:r>
              <a:rPr lang="en-US" sz="1600" dirty="0">
                <a:solidFill>
                  <a:srgbClr val="E6EDF3"/>
                </a:solidFill>
                <a:latin typeface="Arial" panose="020B0604020202020204" pitchFamily="34" charset="0"/>
                <a:ea typeface="QuattrocentoSans" pitchFamily="34" charset="-122"/>
                <a:cs typeface="Arial" panose="020B0604020202020204" pitchFamily="34" charset="0"/>
              </a:rPr>
              <a:t>Comunicación confiable entre todos los nodos mediante un data center de la </a:t>
            </a:r>
            <a:r>
              <a:rPr lang="en-US" sz="1600" dirty="0" err="1">
                <a:solidFill>
                  <a:srgbClr val="E6EDF3"/>
                </a:solidFill>
                <a:latin typeface="Arial" panose="020B0604020202020204" pitchFamily="34" charset="0"/>
                <a:ea typeface="QuattrocentoSans" pitchFamily="34" charset="-122"/>
                <a:cs typeface="Arial" panose="020B0604020202020204" pitchFamily="34" charset="0"/>
              </a:rPr>
              <a:t>facultad</a:t>
            </a:r>
            <a:r>
              <a:rPr lang="en-US" sz="1600" dirty="0">
                <a:solidFill>
                  <a:srgbClr val="E6EDF3"/>
                </a:solidFill>
                <a:latin typeface="Arial" panose="020B0604020202020204" pitchFamily="34" charset="0"/>
                <a:ea typeface="QuattrocentoSans" pitchFamily="34" charset="-122"/>
                <a:cs typeface="Arial" panose="020B0604020202020204" pitchFamily="34" charset="0"/>
              </a:rPr>
              <a:t>.</a:t>
            </a:r>
            <a:endParaRPr lang="en-US" sz="1800" dirty="0">
              <a:latin typeface="Arial" panose="020B0604020202020204" pitchFamily="34" charset="0"/>
              <a:cs typeface="Arial" panose="020B0604020202020204" pitchFamily="34" charset="0"/>
            </a:endParaRPr>
          </a:p>
        </p:txBody>
      </p:sp>
      <p:sp>
        <p:nvSpPr>
          <p:cNvPr id="11" name="Shape 8"/>
          <p:cNvSpPr/>
          <p:nvPr/>
        </p:nvSpPr>
        <p:spPr>
          <a:xfrm>
            <a:off x="4508500" y="2159000"/>
            <a:ext cx="3429000" cy="3556000"/>
          </a:xfrm>
          <a:prstGeom prst="roundRect">
            <a:avLst>
              <a:gd name="adj" fmla="val 8000"/>
            </a:avLst>
          </a:prstGeom>
          <a:solidFill>
            <a:srgbClr val="161B22"/>
          </a:solidFill>
          <a:ln w="12700">
            <a:solidFill>
              <a:srgbClr val="30363D"/>
            </a:solidFill>
            <a:prstDash val="solid"/>
          </a:ln>
        </p:spPr>
      </p:sp>
      <p:sp>
        <p:nvSpPr>
          <p:cNvPr id="12" name="Shape 9"/>
          <p:cNvSpPr/>
          <p:nvPr/>
        </p:nvSpPr>
        <p:spPr>
          <a:xfrm>
            <a:off x="5918200" y="2476500"/>
            <a:ext cx="609600" cy="609600"/>
          </a:xfrm>
          <a:custGeom>
            <a:avLst/>
            <a:gdLst/>
            <a:ahLst/>
            <a:cxnLst/>
            <a:rect l="l" t="t" r="r" b="b"/>
            <a:pathLst>
              <a:path w="609600" h="609600">
                <a:moveTo>
                  <a:pt x="304800" y="0"/>
                </a:moveTo>
                <a:cubicBezTo>
                  <a:pt x="310277" y="0"/>
                  <a:pt x="315754" y="1191"/>
                  <a:pt x="320754" y="3453"/>
                </a:cubicBezTo>
                <a:lnTo>
                  <a:pt x="545068" y="98584"/>
                </a:lnTo>
                <a:cubicBezTo>
                  <a:pt x="571262" y="109657"/>
                  <a:pt x="590788" y="135493"/>
                  <a:pt x="590669" y="166688"/>
                </a:cubicBezTo>
                <a:cubicBezTo>
                  <a:pt x="590074" y="284797"/>
                  <a:pt x="541496" y="500896"/>
                  <a:pt x="336352" y="599123"/>
                </a:cubicBezTo>
                <a:cubicBezTo>
                  <a:pt x="316468" y="608647"/>
                  <a:pt x="293370" y="608647"/>
                  <a:pt x="273487" y="599123"/>
                </a:cubicBezTo>
                <a:cubicBezTo>
                  <a:pt x="68223" y="500896"/>
                  <a:pt x="19764" y="284797"/>
                  <a:pt x="19169" y="166688"/>
                </a:cubicBezTo>
                <a:cubicBezTo>
                  <a:pt x="19050" y="135493"/>
                  <a:pt x="38576" y="109657"/>
                  <a:pt x="64770" y="98584"/>
                </a:cubicBezTo>
                <a:lnTo>
                  <a:pt x="288965" y="3453"/>
                </a:lnTo>
                <a:cubicBezTo>
                  <a:pt x="293965" y="1191"/>
                  <a:pt x="299323" y="0"/>
                  <a:pt x="304800" y="0"/>
                </a:cubicBezTo>
                <a:close/>
                <a:moveTo>
                  <a:pt x="304800" y="79534"/>
                </a:moveTo>
                <a:lnTo>
                  <a:pt x="304800" y="529709"/>
                </a:lnTo>
                <a:cubicBezTo>
                  <a:pt x="469106" y="450175"/>
                  <a:pt x="513278" y="273963"/>
                  <a:pt x="514350" y="168473"/>
                </a:cubicBezTo>
                <a:lnTo>
                  <a:pt x="304800" y="79653"/>
                </a:lnTo>
                <a:lnTo>
                  <a:pt x="304800" y="79653"/>
                </a:lnTo>
                <a:close/>
              </a:path>
            </a:pathLst>
          </a:custGeom>
          <a:solidFill>
            <a:srgbClr val="00E5A0"/>
          </a:solidFill>
          <a:ln/>
        </p:spPr>
      </p:sp>
      <p:sp>
        <p:nvSpPr>
          <p:cNvPr id="13" name="Text 10"/>
          <p:cNvSpPr/>
          <p:nvPr/>
        </p:nvSpPr>
        <p:spPr>
          <a:xfrm>
            <a:off x="4699000" y="3302000"/>
            <a:ext cx="3048000" cy="381000"/>
          </a:xfrm>
          <a:prstGeom prst="rect">
            <a:avLst/>
          </a:prstGeom>
          <a:noFill/>
          <a:ln/>
        </p:spPr>
        <p:txBody>
          <a:bodyPr wrap="none" lIns="0" tIns="0" rIns="0" bIns="0" rtlCol="0" anchor="ctr"/>
          <a:lstStyle/>
          <a:p>
            <a:pPr algn="ctr">
              <a:lnSpc>
                <a:spcPct val="100000"/>
              </a:lnSpc>
            </a:pPr>
            <a:r>
              <a:rPr lang="en-US" sz="1800" dirty="0">
                <a:solidFill>
                  <a:srgbClr val="00E5A0"/>
                </a:solidFill>
                <a:latin typeface="Arial" panose="020B0604020202020204" pitchFamily="34" charset="0"/>
                <a:ea typeface="Liter" pitchFamily="34" charset="-122"/>
                <a:cs typeface="Arial" panose="020B0604020202020204" pitchFamily="34" charset="0"/>
              </a:rPr>
              <a:t>SEGURIDAD</a:t>
            </a:r>
            <a:endParaRPr lang="en-US" sz="1600" dirty="0">
              <a:latin typeface="Arial" panose="020B0604020202020204" pitchFamily="34" charset="0"/>
              <a:cs typeface="Arial" panose="020B0604020202020204" pitchFamily="34" charset="0"/>
            </a:endParaRPr>
          </a:p>
        </p:txBody>
      </p:sp>
      <p:sp>
        <p:nvSpPr>
          <p:cNvPr id="14" name="Text 11"/>
          <p:cNvSpPr/>
          <p:nvPr/>
        </p:nvSpPr>
        <p:spPr>
          <a:xfrm>
            <a:off x="4699000" y="3810000"/>
            <a:ext cx="3048000" cy="1651000"/>
          </a:xfrm>
          <a:prstGeom prst="rect">
            <a:avLst/>
          </a:prstGeom>
          <a:noFill/>
          <a:ln/>
        </p:spPr>
        <p:txBody>
          <a:bodyPr wrap="square" lIns="0" tIns="0" rIns="0" bIns="0" rtlCol="0" anchor="t"/>
          <a:lstStyle/>
          <a:p>
            <a:pPr algn="ctr">
              <a:lnSpc>
                <a:spcPct val="150000"/>
              </a:lnSpc>
            </a:pPr>
            <a:r>
              <a:rPr lang="en-US" sz="1600" dirty="0">
                <a:solidFill>
                  <a:srgbClr val="E6EDF3"/>
                </a:solidFill>
                <a:latin typeface="Arial" panose="020B0604020202020204" pitchFamily="34" charset="0"/>
                <a:ea typeface="QuattrocentoSans" pitchFamily="34" charset="-122"/>
                <a:cs typeface="Arial" panose="020B0604020202020204" pitchFamily="34" charset="0"/>
              </a:rPr>
              <a:t>Protección de información con hardening SSH, firewall y control de accesos</a:t>
            </a:r>
            <a:endParaRPr lang="en-US" sz="1800" dirty="0">
              <a:latin typeface="Arial" panose="020B0604020202020204" pitchFamily="34" charset="0"/>
              <a:cs typeface="Arial" panose="020B0604020202020204" pitchFamily="34" charset="0"/>
            </a:endParaRPr>
          </a:p>
        </p:txBody>
      </p:sp>
      <p:sp>
        <p:nvSpPr>
          <p:cNvPr id="15" name="Shape 12"/>
          <p:cNvSpPr/>
          <p:nvPr/>
        </p:nvSpPr>
        <p:spPr>
          <a:xfrm>
            <a:off x="8255000" y="2159000"/>
            <a:ext cx="3429000" cy="3556000"/>
          </a:xfrm>
          <a:prstGeom prst="roundRect">
            <a:avLst>
              <a:gd name="adj" fmla="val 8000"/>
            </a:avLst>
          </a:prstGeom>
          <a:solidFill>
            <a:srgbClr val="161B22"/>
          </a:solidFill>
          <a:ln w="12700">
            <a:solidFill>
              <a:srgbClr val="30363D"/>
            </a:solidFill>
            <a:prstDash val="solid"/>
          </a:ln>
        </p:spPr>
      </p:sp>
      <p:sp>
        <p:nvSpPr>
          <p:cNvPr id="16" name="Shape 13"/>
          <p:cNvSpPr/>
          <p:nvPr/>
        </p:nvSpPr>
        <p:spPr>
          <a:xfrm>
            <a:off x="9664700" y="2476500"/>
            <a:ext cx="609600" cy="609600"/>
          </a:xfrm>
          <a:custGeom>
            <a:avLst/>
            <a:gdLst/>
            <a:ahLst/>
            <a:cxnLst/>
            <a:rect l="l" t="t" r="r" b="b"/>
            <a:pathLst>
              <a:path w="609600" h="609600">
                <a:moveTo>
                  <a:pt x="571619" y="228600"/>
                </a:moveTo>
                <a:lnTo>
                  <a:pt x="581025" y="228600"/>
                </a:lnTo>
                <a:cubicBezTo>
                  <a:pt x="596860" y="228600"/>
                  <a:pt x="609600" y="215860"/>
                  <a:pt x="609600" y="200025"/>
                </a:cubicBezTo>
                <a:lnTo>
                  <a:pt x="609600" y="28575"/>
                </a:lnTo>
                <a:cubicBezTo>
                  <a:pt x="609600" y="17026"/>
                  <a:pt x="602694" y="6548"/>
                  <a:pt x="591979" y="2143"/>
                </a:cubicBezTo>
                <a:cubicBezTo>
                  <a:pt x="581263" y="-2262"/>
                  <a:pt x="569000" y="238"/>
                  <a:pt x="560784" y="8334"/>
                </a:cubicBezTo>
                <a:lnTo>
                  <a:pt x="499229" y="70009"/>
                </a:lnTo>
                <a:cubicBezTo>
                  <a:pt x="446484" y="26313"/>
                  <a:pt x="378619" y="0"/>
                  <a:pt x="304800" y="0"/>
                </a:cubicBezTo>
                <a:cubicBezTo>
                  <a:pt x="151209" y="0"/>
                  <a:pt x="24170" y="113586"/>
                  <a:pt x="3096" y="261342"/>
                </a:cubicBezTo>
                <a:cubicBezTo>
                  <a:pt x="119" y="282178"/>
                  <a:pt x="14526" y="301466"/>
                  <a:pt x="35362" y="304443"/>
                </a:cubicBezTo>
                <a:cubicBezTo>
                  <a:pt x="56198" y="307419"/>
                  <a:pt x="75486" y="292894"/>
                  <a:pt x="78462" y="272177"/>
                </a:cubicBezTo>
                <a:cubicBezTo>
                  <a:pt x="94298" y="161330"/>
                  <a:pt x="189667" y="76200"/>
                  <a:pt x="304800" y="76200"/>
                </a:cubicBezTo>
                <a:cubicBezTo>
                  <a:pt x="357664" y="76200"/>
                  <a:pt x="406241" y="94059"/>
                  <a:pt x="444937" y="124182"/>
                </a:cubicBezTo>
                <a:lnTo>
                  <a:pt x="389334" y="179784"/>
                </a:lnTo>
                <a:cubicBezTo>
                  <a:pt x="381119" y="188000"/>
                  <a:pt x="378738" y="200263"/>
                  <a:pt x="383143" y="210979"/>
                </a:cubicBezTo>
                <a:cubicBezTo>
                  <a:pt x="387548" y="221694"/>
                  <a:pt x="398026" y="228600"/>
                  <a:pt x="409575" y="228600"/>
                </a:cubicBezTo>
                <a:lnTo>
                  <a:pt x="571619" y="228600"/>
                </a:lnTo>
                <a:close/>
                <a:moveTo>
                  <a:pt x="606623" y="348258"/>
                </a:moveTo>
                <a:cubicBezTo>
                  <a:pt x="609600" y="327422"/>
                  <a:pt x="595074" y="308134"/>
                  <a:pt x="574357" y="305157"/>
                </a:cubicBezTo>
                <a:cubicBezTo>
                  <a:pt x="553641" y="302181"/>
                  <a:pt x="534233" y="316706"/>
                  <a:pt x="531257" y="337423"/>
                </a:cubicBezTo>
                <a:cubicBezTo>
                  <a:pt x="515422" y="448151"/>
                  <a:pt x="420053" y="533281"/>
                  <a:pt x="304919" y="533281"/>
                </a:cubicBezTo>
                <a:cubicBezTo>
                  <a:pt x="252055" y="533281"/>
                  <a:pt x="203478" y="515422"/>
                  <a:pt x="164783" y="485299"/>
                </a:cubicBezTo>
                <a:lnTo>
                  <a:pt x="220266" y="429816"/>
                </a:lnTo>
                <a:cubicBezTo>
                  <a:pt x="228481" y="421600"/>
                  <a:pt x="230862" y="409337"/>
                  <a:pt x="226457" y="398621"/>
                </a:cubicBezTo>
                <a:cubicBezTo>
                  <a:pt x="222052" y="387906"/>
                  <a:pt x="211574" y="381000"/>
                  <a:pt x="200025" y="381000"/>
                </a:cubicBezTo>
                <a:lnTo>
                  <a:pt x="28575" y="381000"/>
                </a:lnTo>
                <a:cubicBezTo>
                  <a:pt x="12740" y="381000"/>
                  <a:pt x="0" y="393740"/>
                  <a:pt x="0" y="409575"/>
                </a:cubicBezTo>
                <a:lnTo>
                  <a:pt x="0" y="581025"/>
                </a:lnTo>
                <a:cubicBezTo>
                  <a:pt x="0" y="592574"/>
                  <a:pt x="6906" y="603052"/>
                  <a:pt x="17621" y="607457"/>
                </a:cubicBezTo>
                <a:cubicBezTo>
                  <a:pt x="28337" y="611862"/>
                  <a:pt x="40600" y="609362"/>
                  <a:pt x="48816" y="601266"/>
                </a:cubicBezTo>
                <a:lnTo>
                  <a:pt x="110490" y="539591"/>
                </a:lnTo>
                <a:cubicBezTo>
                  <a:pt x="163116" y="583287"/>
                  <a:pt x="230981" y="609600"/>
                  <a:pt x="304800" y="609600"/>
                </a:cubicBezTo>
                <a:cubicBezTo>
                  <a:pt x="458391" y="609600"/>
                  <a:pt x="585430" y="496014"/>
                  <a:pt x="606504" y="348258"/>
                </a:cubicBezTo>
                <a:close/>
              </a:path>
            </a:pathLst>
          </a:custGeom>
          <a:solidFill>
            <a:srgbClr val="00E5A0"/>
          </a:solidFill>
          <a:ln/>
        </p:spPr>
      </p:sp>
      <p:sp>
        <p:nvSpPr>
          <p:cNvPr id="17" name="Text 14"/>
          <p:cNvSpPr/>
          <p:nvPr/>
        </p:nvSpPr>
        <p:spPr>
          <a:xfrm>
            <a:off x="8445500" y="3302000"/>
            <a:ext cx="3048000" cy="381000"/>
          </a:xfrm>
          <a:prstGeom prst="rect">
            <a:avLst/>
          </a:prstGeom>
          <a:noFill/>
          <a:ln/>
        </p:spPr>
        <p:txBody>
          <a:bodyPr wrap="none" lIns="0" tIns="0" rIns="0" bIns="0" rtlCol="0" anchor="ctr"/>
          <a:lstStyle/>
          <a:p>
            <a:pPr algn="ctr">
              <a:lnSpc>
                <a:spcPct val="100000"/>
              </a:lnSpc>
            </a:pPr>
            <a:r>
              <a:rPr lang="en-US" sz="1800" dirty="0">
                <a:solidFill>
                  <a:srgbClr val="00E5A0"/>
                </a:solidFill>
                <a:latin typeface="Arial" panose="020B0604020202020204" pitchFamily="34" charset="0"/>
                <a:ea typeface="Liter" pitchFamily="34" charset="-122"/>
                <a:cs typeface="Arial" panose="020B0604020202020204" pitchFamily="34" charset="0"/>
              </a:rPr>
              <a:t>DISPONIBILIDAD</a:t>
            </a:r>
            <a:endParaRPr lang="en-US" sz="1600" dirty="0">
              <a:latin typeface="Arial" panose="020B0604020202020204" pitchFamily="34" charset="0"/>
              <a:cs typeface="Arial" panose="020B0604020202020204" pitchFamily="34" charset="0"/>
            </a:endParaRPr>
          </a:p>
        </p:txBody>
      </p:sp>
      <p:sp>
        <p:nvSpPr>
          <p:cNvPr id="18" name="Text 15"/>
          <p:cNvSpPr/>
          <p:nvPr/>
        </p:nvSpPr>
        <p:spPr>
          <a:xfrm>
            <a:off x="8445500" y="3810000"/>
            <a:ext cx="3048000" cy="1651000"/>
          </a:xfrm>
          <a:prstGeom prst="rect">
            <a:avLst/>
          </a:prstGeom>
          <a:noFill/>
          <a:ln/>
        </p:spPr>
        <p:txBody>
          <a:bodyPr wrap="square" lIns="0" tIns="0" rIns="0" bIns="0" rtlCol="0" anchor="t"/>
          <a:lstStyle/>
          <a:p>
            <a:pPr algn="ctr">
              <a:lnSpc>
                <a:spcPct val="150000"/>
              </a:lnSpc>
            </a:pPr>
            <a:r>
              <a:rPr lang="en-US" sz="1600" dirty="0">
                <a:solidFill>
                  <a:srgbClr val="E6EDF3"/>
                </a:solidFill>
                <a:latin typeface="Arial" panose="020B0604020202020204" pitchFamily="34" charset="0"/>
                <a:ea typeface="QuattrocentoSans" pitchFamily="34" charset="-122"/>
                <a:cs typeface="Arial" panose="020B0604020202020204" pitchFamily="34" charset="0"/>
              </a:rPr>
              <a:t>Balanceo de carga con NGINX para alta disponibilidad del servicio</a:t>
            </a:r>
            <a:endParaRPr lang="en-US" sz="1800" dirty="0">
              <a:latin typeface="Arial" panose="020B0604020202020204" pitchFamily="34" charset="0"/>
              <a:cs typeface="Arial" panose="020B0604020202020204" pitchFamily="34" charset="0"/>
            </a:endParaRPr>
          </a:p>
        </p:txBody>
      </p:sp>
      <p:sp>
        <p:nvSpPr>
          <p:cNvPr id="19" name="Shape 16"/>
          <p:cNvSpPr/>
          <p:nvPr/>
        </p:nvSpPr>
        <p:spPr>
          <a:xfrm>
            <a:off x="12001500" y="2159000"/>
            <a:ext cx="3429000" cy="3556000"/>
          </a:xfrm>
          <a:prstGeom prst="roundRect">
            <a:avLst>
              <a:gd name="adj" fmla="val 8000"/>
            </a:avLst>
          </a:prstGeom>
          <a:solidFill>
            <a:srgbClr val="161B22"/>
          </a:solidFill>
          <a:ln w="12700">
            <a:solidFill>
              <a:srgbClr val="30363D"/>
            </a:solidFill>
            <a:prstDash val="solid"/>
          </a:ln>
        </p:spPr>
      </p:sp>
      <p:sp>
        <p:nvSpPr>
          <p:cNvPr id="20" name="Shape 17"/>
          <p:cNvSpPr/>
          <p:nvPr/>
        </p:nvSpPr>
        <p:spPr>
          <a:xfrm>
            <a:off x="13449300" y="2476500"/>
            <a:ext cx="533400" cy="609600"/>
          </a:xfrm>
          <a:custGeom>
            <a:avLst/>
            <a:gdLst/>
            <a:ahLst/>
            <a:cxnLst/>
            <a:rect l="l" t="t" r="r" b="b"/>
            <a:pathLst>
              <a:path w="533400" h="609600">
                <a:moveTo>
                  <a:pt x="533400" y="245031"/>
                </a:moveTo>
                <a:cubicBezTo>
                  <a:pt x="515779" y="256699"/>
                  <a:pt x="495538" y="266105"/>
                  <a:pt x="474464" y="273606"/>
                </a:cubicBezTo>
                <a:cubicBezTo>
                  <a:pt x="418505" y="293608"/>
                  <a:pt x="345043" y="304800"/>
                  <a:pt x="266700" y="304800"/>
                </a:cubicBezTo>
                <a:cubicBezTo>
                  <a:pt x="188357" y="304800"/>
                  <a:pt x="114776" y="293489"/>
                  <a:pt x="58936" y="273606"/>
                </a:cubicBezTo>
                <a:cubicBezTo>
                  <a:pt x="37981" y="266105"/>
                  <a:pt x="17621" y="256699"/>
                  <a:pt x="0" y="245031"/>
                </a:cubicBezTo>
                <a:lnTo>
                  <a:pt x="0" y="342900"/>
                </a:lnTo>
                <a:cubicBezTo>
                  <a:pt x="0" y="395526"/>
                  <a:pt x="119420" y="438150"/>
                  <a:pt x="266700" y="438150"/>
                </a:cubicBezTo>
                <a:cubicBezTo>
                  <a:pt x="413980" y="438150"/>
                  <a:pt x="533400" y="395526"/>
                  <a:pt x="533400" y="342900"/>
                </a:cubicBezTo>
                <a:lnTo>
                  <a:pt x="533400" y="245031"/>
                </a:lnTo>
                <a:close/>
                <a:moveTo>
                  <a:pt x="533400" y="152400"/>
                </a:moveTo>
                <a:lnTo>
                  <a:pt x="533400" y="95250"/>
                </a:lnTo>
                <a:cubicBezTo>
                  <a:pt x="533400" y="42624"/>
                  <a:pt x="413980" y="0"/>
                  <a:pt x="266700" y="0"/>
                </a:cubicBezTo>
                <a:cubicBezTo>
                  <a:pt x="119420" y="0"/>
                  <a:pt x="0" y="42624"/>
                  <a:pt x="0" y="95250"/>
                </a:cubicBezTo>
                <a:lnTo>
                  <a:pt x="0" y="152400"/>
                </a:lnTo>
                <a:cubicBezTo>
                  <a:pt x="0" y="205026"/>
                  <a:pt x="119420" y="247650"/>
                  <a:pt x="266700" y="247650"/>
                </a:cubicBezTo>
                <a:cubicBezTo>
                  <a:pt x="413980" y="247650"/>
                  <a:pt x="533400" y="205026"/>
                  <a:pt x="533400" y="152400"/>
                </a:cubicBezTo>
                <a:close/>
                <a:moveTo>
                  <a:pt x="474464" y="464106"/>
                </a:moveTo>
                <a:cubicBezTo>
                  <a:pt x="418624" y="483989"/>
                  <a:pt x="345162" y="495300"/>
                  <a:pt x="266700" y="495300"/>
                </a:cubicBezTo>
                <a:cubicBezTo>
                  <a:pt x="188238" y="495300"/>
                  <a:pt x="114776" y="483989"/>
                  <a:pt x="58936" y="464106"/>
                </a:cubicBezTo>
                <a:cubicBezTo>
                  <a:pt x="37981" y="456605"/>
                  <a:pt x="17621" y="447199"/>
                  <a:pt x="0" y="435531"/>
                </a:cubicBezTo>
                <a:lnTo>
                  <a:pt x="0" y="514350"/>
                </a:lnTo>
                <a:cubicBezTo>
                  <a:pt x="0" y="566976"/>
                  <a:pt x="119420" y="609600"/>
                  <a:pt x="266700" y="609600"/>
                </a:cubicBezTo>
                <a:cubicBezTo>
                  <a:pt x="413980" y="609600"/>
                  <a:pt x="533400" y="566976"/>
                  <a:pt x="533400" y="514350"/>
                </a:cubicBezTo>
                <a:lnTo>
                  <a:pt x="533400" y="435531"/>
                </a:lnTo>
                <a:cubicBezTo>
                  <a:pt x="515779" y="447199"/>
                  <a:pt x="495538" y="456605"/>
                  <a:pt x="474464" y="464106"/>
                </a:cubicBezTo>
                <a:close/>
              </a:path>
            </a:pathLst>
          </a:custGeom>
          <a:solidFill>
            <a:srgbClr val="00E5A0"/>
          </a:solidFill>
          <a:ln/>
        </p:spPr>
      </p:sp>
      <p:sp>
        <p:nvSpPr>
          <p:cNvPr id="21" name="Text 18"/>
          <p:cNvSpPr/>
          <p:nvPr/>
        </p:nvSpPr>
        <p:spPr>
          <a:xfrm>
            <a:off x="12192000" y="3302000"/>
            <a:ext cx="3048000" cy="381000"/>
          </a:xfrm>
          <a:prstGeom prst="rect">
            <a:avLst/>
          </a:prstGeom>
          <a:noFill/>
          <a:ln/>
        </p:spPr>
        <p:txBody>
          <a:bodyPr wrap="none" lIns="0" tIns="0" rIns="0" bIns="0" rtlCol="0" anchor="ctr"/>
          <a:lstStyle/>
          <a:p>
            <a:pPr algn="ctr">
              <a:lnSpc>
                <a:spcPct val="100000"/>
              </a:lnSpc>
            </a:pPr>
            <a:r>
              <a:rPr lang="en-US" sz="1800" dirty="0">
                <a:solidFill>
                  <a:srgbClr val="00E5A0"/>
                </a:solidFill>
                <a:latin typeface="Arial" panose="020B0604020202020204" pitchFamily="34" charset="0"/>
                <a:ea typeface="Liter" pitchFamily="34" charset="-122"/>
                <a:cs typeface="Arial" panose="020B0604020202020204" pitchFamily="34" charset="0"/>
              </a:rPr>
              <a:t>RESPALDO</a:t>
            </a:r>
            <a:endParaRPr lang="en-US" sz="1600" dirty="0">
              <a:latin typeface="Arial" panose="020B0604020202020204" pitchFamily="34" charset="0"/>
              <a:cs typeface="Arial" panose="020B0604020202020204" pitchFamily="34" charset="0"/>
            </a:endParaRPr>
          </a:p>
        </p:txBody>
      </p:sp>
      <p:sp>
        <p:nvSpPr>
          <p:cNvPr id="22" name="Text 19"/>
          <p:cNvSpPr/>
          <p:nvPr/>
        </p:nvSpPr>
        <p:spPr>
          <a:xfrm>
            <a:off x="12192000" y="3810000"/>
            <a:ext cx="3048000" cy="1651000"/>
          </a:xfrm>
          <a:prstGeom prst="rect">
            <a:avLst/>
          </a:prstGeom>
          <a:noFill/>
          <a:ln/>
        </p:spPr>
        <p:txBody>
          <a:bodyPr wrap="square" lIns="0" tIns="0" rIns="0" bIns="0" rtlCol="0" anchor="t"/>
          <a:lstStyle/>
          <a:p>
            <a:pPr algn="ctr">
              <a:lnSpc>
                <a:spcPct val="150000"/>
              </a:lnSpc>
            </a:pPr>
            <a:r>
              <a:rPr lang="en-US" sz="1600" dirty="0" err="1">
                <a:solidFill>
                  <a:srgbClr val="E6EDF3"/>
                </a:solidFill>
                <a:latin typeface="Arial" panose="020B0604020202020204" pitchFamily="34" charset="0"/>
                <a:ea typeface="QuattrocentoSans" pitchFamily="34" charset="-122"/>
                <a:cs typeface="Arial" panose="020B0604020202020204" pitchFamily="34" charset="0"/>
              </a:rPr>
              <a:t>Automatización</a:t>
            </a:r>
            <a:r>
              <a:rPr lang="en-US" sz="1600" dirty="0">
                <a:solidFill>
                  <a:srgbClr val="E6EDF3"/>
                </a:solidFill>
                <a:latin typeface="Arial" panose="020B0604020202020204" pitchFamily="34" charset="0"/>
                <a:ea typeface="QuattrocentoSans" pitchFamily="34" charset="-122"/>
                <a:cs typeface="Arial" panose="020B0604020202020204" pitchFamily="34" charset="0"/>
              </a:rPr>
              <a:t> de copias de seguridad para recuperación ante fallos</a:t>
            </a:r>
            <a:endParaRPr lang="en-US" sz="1800" dirty="0">
              <a:latin typeface="Arial" panose="020B0604020202020204" pitchFamily="34" charset="0"/>
              <a:cs typeface="Arial" panose="020B0604020202020204" pitchFamily="34" charset="0"/>
            </a:endParaRPr>
          </a:p>
        </p:txBody>
      </p:sp>
      <p:sp>
        <p:nvSpPr>
          <p:cNvPr id="23" name="Shape 20"/>
          <p:cNvSpPr/>
          <p:nvPr/>
        </p:nvSpPr>
        <p:spPr>
          <a:xfrm>
            <a:off x="762000" y="6096000"/>
            <a:ext cx="14732000" cy="1270000"/>
          </a:xfrm>
          <a:prstGeom prst="roundRect">
            <a:avLst>
              <a:gd name="adj" fmla="val 6000"/>
            </a:avLst>
          </a:prstGeom>
          <a:solidFill>
            <a:srgbClr val="00E5A0">
              <a:alpha val="6275"/>
            </a:srgbClr>
          </a:solidFill>
          <a:ln w="12700">
            <a:solidFill>
              <a:srgbClr val="00E5A0"/>
            </a:solidFill>
            <a:prstDash val="solid"/>
          </a:ln>
        </p:spPr>
      </p:sp>
      <p:sp>
        <p:nvSpPr>
          <p:cNvPr id="24" name="Shape 21"/>
          <p:cNvSpPr/>
          <p:nvPr/>
        </p:nvSpPr>
        <p:spPr>
          <a:xfrm>
            <a:off x="1079500" y="6451600"/>
            <a:ext cx="457200" cy="457200"/>
          </a:xfrm>
          <a:custGeom>
            <a:avLst/>
            <a:gdLst/>
            <a:ahLst/>
            <a:cxnLst/>
            <a:rect l="l" t="t" r="r" b="b"/>
            <a:pathLst>
              <a:path w="457200" h="457200">
                <a:moveTo>
                  <a:pt x="400050" y="228600"/>
                </a:moveTo>
                <a:cubicBezTo>
                  <a:pt x="400050" y="133974"/>
                  <a:pt x="323226" y="57150"/>
                  <a:pt x="228600" y="57150"/>
                </a:cubicBezTo>
                <a:cubicBezTo>
                  <a:pt x="133974" y="57150"/>
                  <a:pt x="57150" y="133974"/>
                  <a:pt x="57150" y="228600"/>
                </a:cubicBezTo>
                <a:cubicBezTo>
                  <a:pt x="57150" y="323226"/>
                  <a:pt x="133974" y="400050"/>
                  <a:pt x="228600" y="400050"/>
                </a:cubicBezTo>
                <a:cubicBezTo>
                  <a:pt x="323226" y="400050"/>
                  <a:pt x="400050" y="323226"/>
                  <a:pt x="400050" y="228600"/>
                </a:cubicBezTo>
                <a:close/>
                <a:moveTo>
                  <a:pt x="0" y="228600"/>
                </a:moveTo>
                <a:cubicBezTo>
                  <a:pt x="0" y="102432"/>
                  <a:pt x="102432" y="0"/>
                  <a:pt x="228600" y="0"/>
                </a:cubicBezTo>
                <a:cubicBezTo>
                  <a:pt x="354768" y="0"/>
                  <a:pt x="457200" y="102432"/>
                  <a:pt x="457200" y="228600"/>
                </a:cubicBezTo>
                <a:cubicBezTo>
                  <a:pt x="457200" y="354768"/>
                  <a:pt x="354768" y="457200"/>
                  <a:pt x="228600" y="457200"/>
                </a:cubicBezTo>
                <a:cubicBezTo>
                  <a:pt x="102432" y="457200"/>
                  <a:pt x="0" y="354768"/>
                  <a:pt x="0" y="228600"/>
                </a:cubicBezTo>
                <a:close/>
                <a:moveTo>
                  <a:pt x="228600" y="300038"/>
                </a:moveTo>
                <a:cubicBezTo>
                  <a:pt x="268027" y="300038"/>
                  <a:pt x="300038" y="268027"/>
                  <a:pt x="300038" y="228600"/>
                </a:cubicBezTo>
                <a:cubicBezTo>
                  <a:pt x="300038" y="189173"/>
                  <a:pt x="268027" y="157163"/>
                  <a:pt x="228600" y="157163"/>
                </a:cubicBezTo>
                <a:cubicBezTo>
                  <a:pt x="189173" y="157163"/>
                  <a:pt x="157163" y="189173"/>
                  <a:pt x="157163" y="228600"/>
                </a:cubicBezTo>
                <a:cubicBezTo>
                  <a:pt x="157163" y="268027"/>
                  <a:pt x="189173" y="300038"/>
                  <a:pt x="228600" y="300038"/>
                </a:cubicBezTo>
                <a:close/>
                <a:moveTo>
                  <a:pt x="228600" y="100013"/>
                </a:moveTo>
                <a:cubicBezTo>
                  <a:pt x="299569" y="100013"/>
                  <a:pt x="357188" y="157631"/>
                  <a:pt x="357188" y="228600"/>
                </a:cubicBezTo>
                <a:cubicBezTo>
                  <a:pt x="357188" y="299569"/>
                  <a:pt x="299569" y="357188"/>
                  <a:pt x="228600" y="357188"/>
                </a:cubicBezTo>
                <a:cubicBezTo>
                  <a:pt x="157631" y="357188"/>
                  <a:pt x="100013" y="299569"/>
                  <a:pt x="100013" y="228600"/>
                </a:cubicBezTo>
                <a:cubicBezTo>
                  <a:pt x="100013" y="157631"/>
                  <a:pt x="157631" y="100013"/>
                  <a:pt x="228600" y="100013"/>
                </a:cubicBezTo>
                <a:close/>
                <a:moveTo>
                  <a:pt x="200025" y="228600"/>
                </a:moveTo>
                <a:cubicBezTo>
                  <a:pt x="200025" y="212829"/>
                  <a:pt x="212829" y="200025"/>
                  <a:pt x="228600" y="200025"/>
                </a:cubicBezTo>
                <a:cubicBezTo>
                  <a:pt x="244371" y="200025"/>
                  <a:pt x="257175" y="212829"/>
                  <a:pt x="257175" y="228600"/>
                </a:cubicBezTo>
                <a:cubicBezTo>
                  <a:pt x="257175" y="244371"/>
                  <a:pt x="244371" y="257175"/>
                  <a:pt x="228600" y="257175"/>
                </a:cubicBezTo>
                <a:cubicBezTo>
                  <a:pt x="212829" y="257175"/>
                  <a:pt x="200025" y="244371"/>
                  <a:pt x="200025" y="228600"/>
                </a:cubicBezTo>
                <a:close/>
              </a:path>
            </a:pathLst>
          </a:custGeom>
          <a:solidFill>
            <a:srgbClr val="00E5A0"/>
          </a:solidFill>
          <a:ln/>
        </p:spPr>
      </p:sp>
      <p:sp>
        <p:nvSpPr>
          <p:cNvPr id="25" name="Text 22"/>
          <p:cNvSpPr/>
          <p:nvPr/>
        </p:nvSpPr>
        <p:spPr>
          <a:xfrm>
            <a:off x="1778000" y="6286500"/>
            <a:ext cx="13335000" cy="889000"/>
          </a:xfrm>
          <a:prstGeom prst="rect">
            <a:avLst/>
          </a:prstGeom>
          <a:noFill/>
          <a:ln/>
        </p:spPr>
        <p:txBody>
          <a:bodyPr wrap="square" lIns="0" tIns="0" rIns="0" bIns="0" rtlCol="0" anchor="ctr"/>
          <a:lstStyle/>
          <a:p>
            <a:pPr>
              <a:lnSpc>
                <a:spcPct val="133000"/>
              </a:lnSpc>
            </a:pPr>
            <a:r>
              <a:rPr lang="en-US" b="1" dirty="0" err="1">
                <a:solidFill>
                  <a:srgbClr val="00E5A0"/>
                </a:solidFill>
                <a:latin typeface="Arial" panose="020B0604020202020204" pitchFamily="34" charset="0"/>
                <a:ea typeface="QuattrocentoSans" pitchFamily="34" charset="-122"/>
                <a:cs typeface="Arial" panose="020B0604020202020204" pitchFamily="34" charset="0"/>
              </a:rPr>
              <a:t>Objetivo</a:t>
            </a:r>
            <a:r>
              <a:rPr lang="en-US" sz="1800" b="1" dirty="0">
                <a:solidFill>
                  <a:srgbClr val="00E5A0"/>
                </a:solidFill>
                <a:latin typeface="Arial" panose="020B0604020202020204" pitchFamily="34" charset="0"/>
                <a:ea typeface="QuattrocentoSans" pitchFamily="34" charset="-122"/>
                <a:cs typeface="Arial" panose="020B0604020202020204" pitchFamily="34" charset="0"/>
              </a:rPr>
              <a:t>:</a:t>
            </a:r>
            <a:r>
              <a:rPr lang="en-US" sz="1800" dirty="0">
                <a:solidFill>
                  <a:srgbClr val="E6EDF3"/>
                </a:solidFill>
                <a:latin typeface="Arial" panose="020B0604020202020204" pitchFamily="34" charset="0"/>
                <a:ea typeface="QuattrocentoSans" pitchFamily="34" charset="-122"/>
                <a:cs typeface="Arial" panose="020B0604020202020204" pitchFamily="34" charset="0"/>
              </a:rPr>
              <a:t> </a:t>
            </a:r>
            <a:r>
              <a:rPr lang="en-US" dirty="0" err="1">
                <a:solidFill>
                  <a:schemeClr val="bg1"/>
                </a:solidFill>
                <a:latin typeface="Arial" panose="020B0604020202020204" pitchFamily="34" charset="0"/>
                <a:ea typeface="Inter" pitchFamily="34" charset="-122"/>
                <a:cs typeface="Arial" panose="020B0604020202020204" pitchFamily="34" charset="0"/>
              </a:rPr>
              <a:t>Conectividad</a:t>
            </a:r>
            <a:r>
              <a:rPr lang="en-US" dirty="0">
                <a:solidFill>
                  <a:schemeClr val="bg1"/>
                </a:solidFill>
                <a:latin typeface="Arial" panose="020B0604020202020204" pitchFamily="34" charset="0"/>
                <a:ea typeface="Inter" pitchFamily="34" charset="-122"/>
                <a:cs typeface="Arial" panose="020B0604020202020204" pitchFamily="34" charset="0"/>
              </a:rPr>
              <a:t> </a:t>
            </a:r>
            <a:r>
              <a:rPr lang="en-US" dirty="0" err="1">
                <a:solidFill>
                  <a:schemeClr val="bg1"/>
                </a:solidFill>
                <a:latin typeface="Arial" panose="020B0604020202020204" pitchFamily="34" charset="0"/>
                <a:ea typeface="Inter" pitchFamily="34" charset="-122"/>
                <a:cs typeface="Arial" panose="020B0604020202020204" pitchFamily="34" charset="0"/>
              </a:rPr>
              <a:t>fiable</a:t>
            </a:r>
            <a:r>
              <a:rPr lang="en-US" dirty="0">
                <a:solidFill>
                  <a:schemeClr val="bg1"/>
                </a:solidFill>
                <a:latin typeface="Arial" panose="020B0604020202020204" pitchFamily="34" charset="0"/>
                <a:ea typeface="Inter" pitchFamily="34" charset="-122"/>
                <a:cs typeface="Arial" panose="020B0604020202020204" pitchFamily="34" charset="0"/>
              </a:rPr>
              <a:t>, </a:t>
            </a:r>
            <a:r>
              <a:rPr lang="en-US" dirty="0" err="1">
                <a:solidFill>
                  <a:schemeClr val="bg1"/>
                </a:solidFill>
                <a:latin typeface="Arial" panose="020B0604020202020204" pitchFamily="34" charset="0"/>
                <a:ea typeface="Inter" pitchFamily="34" charset="-122"/>
                <a:cs typeface="Arial" panose="020B0604020202020204" pitchFamily="34" charset="0"/>
              </a:rPr>
              <a:t>seguridad</a:t>
            </a:r>
            <a:r>
              <a:rPr lang="en-US" dirty="0">
                <a:solidFill>
                  <a:schemeClr val="bg1"/>
                </a:solidFill>
                <a:latin typeface="Arial" panose="020B0604020202020204" pitchFamily="34" charset="0"/>
                <a:ea typeface="Inter" pitchFamily="34" charset="-122"/>
                <a:cs typeface="Arial" panose="020B0604020202020204" pitchFamily="34" charset="0"/>
              </a:rPr>
              <a:t> </a:t>
            </a:r>
            <a:r>
              <a:rPr lang="en-US" dirty="0" err="1">
                <a:solidFill>
                  <a:schemeClr val="bg1"/>
                </a:solidFill>
                <a:latin typeface="Arial" panose="020B0604020202020204" pitchFamily="34" charset="0"/>
                <a:ea typeface="Inter" pitchFamily="34" charset="-122"/>
                <a:cs typeface="Arial" panose="020B0604020202020204" pitchFamily="34" charset="0"/>
              </a:rPr>
              <a:t>reforzada</a:t>
            </a:r>
            <a:r>
              <a:rPr lang="en-US" dirty="0">
                <a:solidFill>
                  <a:schemeClr val="bg1"/>
                </a:solidFill>
                <a:latin typeface="Arial" panose="020B0604020202020204" pitchFamily="34" charset="0"/>
                <a:ea typeface="Inter" pitchFamily="34" charset="-122"/>
                <a:cs typeface="Arial" panose="020B0604020202020204" pitchFamily="34" charset="0"/>
              </a:rPr>
              <a:t>, </a:t>
            </a:r>
            <a:r>
              <a:rPr lang="en-US" dirty="0" err="1">
                <a:solidFill>
                  <a:schemeClr val="bg1"/>
                </a:solidFill>
                <a:latin typeface="Arial" panose="020B0604020202020204" pitchFamily="34" charset="0"/>
                <a:ea typeface="Inter" pitchFamily="34" charset="-122"/>
                <a:cs typeface="Arial" panose="020B0604020202020204" pitchFamily="34" charset="0"/>
              </a:rPr>
              <a:t>alta</a:t>
            </a:r>
            <a:r>
              <a:rPr lang="en-US" dirty="0">
                <a:solidFill>
                  <a:schemeClr val="bg1"/>
                </a:solidFill>
                <a:latin typeface="Arial" panose="020B0604020202020204" pitchFamily="34" charset="0"/>
                <a:ea typeface="Inter" pitchFamily="34" charset="-122"/>
                <a:cs typeface="Arial" panose="020B0604020202020204" pitchFamily="34" charset="0"/>
              </a:rPr>
              <a:t> </a:t>
            </a:r>
            <a:r>
              <a:rPr lang="en-US" dirty="0" err="1">
                <a:solidFill>
                  <a:schemeClr val="bg1"/>
                </a:solidFill>
                <a:latin typeface="Arial" panose="020B0604020202020204" pitchFamily="34" charset="0"/>
                <a:ea typeface="Inter" pitchFamily="34" charset="-122"/>
                <a:cs typeface="Arial" panose="020B0604020202020204" pitchFamily="34" charset="0"/>
              </a:rPr>
              <a:t>disponibilidad</a:t>
            </a:r>
            <a:r>
              <a:rPr lang="en-US" dirty="0">
                <a:solidFill>
                  <a:schemeClr val="bg1"/>
                </a:solidFill>
                <a:latin typeface="Arial" panose="020B0604020202020204" pitchFamily="34" charset="0"/>
                <a:ea typeface="Inter" pitchFamily="34" charset="-122"/>
                <a:cs typeface="Arial" panose="020B0604020202020204" pitchFamily="34" charset="0"/>
              </a:rPr>
              <a:t> y </a:t>
            </a:r>
            <a:r>
              <a:rPr lang="en-US" dirty="0" err="1">
                <a:solidFill>
                  <a:schemeClr val="bg1"/>
                </a:solidFill>
                <a:latin typeface="Arial" panose="020B0604020202020204" pitchFamily="34" charset="0"/>
                <a:ea typeface="Inter" pitchFamily="34" charset="-122"/>
                <a:cs typeface="Arial" panose="020B0604020202020204" pitchFamily="34" charset="0"/>
              </a:rPr>
              <a:t>respaldo</a:t>
            </a:r>
            <a:r>
              <a:rPr lang="en-US" dirty="0">
                <a:solidFill>
                  <a:schemeClr val="bg1"/>
                </a:solidFill>
                <a:latin typeface="Arial" panose="020B0604020202020204" pitchFamily="34" charset="0"/>
                <a:ea typeface="Inter" pitchFamily="34" charset="-122"/>
                <a:cs typeface="Arial" panose="020B0604020202020204" pitchFamily="34" charset="0"/>
              </a:rPr>
              <a:t> </a:t>
            </a:r>
            <a:r>
              <a:rPr lang="en-US" dirty="0" err="1">
                <a:solidFill>
                  <a:schemeClr val="bg1"/>
                </a:solidFill>
                <a:latin typeface="Arial" panose="020B0604020202020204" pitchFamily="34" charset="0"/>
                <a:ea typeface="Inter" pitchFamily="34" charset="-122"/>
                <a:cs typeface="Arial" panose="020B0604020202020204" pitchFamily="34" charset="0"/>
              </a:rPr>
              <a:t>automatizado</a:t>
            </a:r>
            <a:r>
              <a:rPr lang="en-US" dirty="0">
                <a:solidFill>
                  <a:srgbClr val="272525"/>
                </a:solidFill>
                <a:latin typeface="Arial" panose="020B0604020202020204" pitchFamily="34" charset="0"/>
                <a:ea typeface="Inter" pitchFamily="34" charset="-122"/>
                <a:cs typeface="Arial" panose="020B0604020202020204" pitchFamily="34" charset="0"/>
              </a:rPr>
              <a:t>.</a:t>
            </a:r>
            <a:endParaRPr lang="en-US" dirty="0">
              <a:latin typeface="Arial" panose="020B0604020202020204" pitchFamily="34" charset="0"/>
              <a:cs typeface="Arial" panose="020B0604020202020204" pitchFamily="34" charset="0"/>
            </a:endParaRPr>
          </a:p>
        </p:txBody>
      </p:sp>
      <p:sp>
        <p:nvSpPr>
          <p:cNvPr id="26" name="Text 23"/>
          <p:cNvSpPr/>
          <p:nvPr/>
        </p:nvSpPr>
        <p:spPr>
          <a:xfrm>
            <a:off x="15240000" y="8763000"/>
            <a:ext cx="635000" cy="254000"/>
          </a:xfrm>
          <a:prstGeom prst="rect">
            <a:avLst/>
          </a:prstGeom>
          <a:noFill/>
          <a:ln/>
        </p:spPr>
        <p:txBody>
          <a:bodyPr wrap="none" lIns="0" tIns="0" rIns="0" bIns="0" rtlCol="0" anchor="ctr"/>
          <a:lstStyle/>
          <a:p>
            <a:pPr algn="r">
              <a:lnSpc>
                <a:spcPct val="140000"/>
              </a:lnSpc>
            </a:pPr>
            <a:r>
              <a:rPr lang="en-US" sz="1400" dirty="0">
                <a:solidFill>
                  <a:srgbClr val="8B949E"/>
                </a:solidFill>
                <a:latin typeface="Arial" panose="020B0604020202020204" pitchFamily="34" charset="0"/>
                <a:ea typeface="QuattrocentoSans" pitchFamily="34" charset="-122"/>
                <a:cs typeface="Arial" panose="020B0604020202020204" pitchFamily="34" charset="0"/>
              </a:rPr>
              <a:t>02</a:t>
            </a:r>
            <a:endParaRPr lang="en-US" sz="1400" dirty="0">
              <a:latin typeface="Arial" panose="020B0604020202020204" pitchFamily="34" charset="0"/>
              <a:cs typeface="Arial" panose="020B0604020202020204" pitchFamily="34" charset="0"/>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3" name="Shape 0"/>
          <p:cNvSpPr/>
          <p:nvPr/>
        </p:nvSpPr>
        <p:spPr>
          <a:xfrm>
            <a:off x="0" y="0"/>
            <a:ext cx="16256000" cy="38100"/>
          </a:xfrm>
          <a:prstGeom prst="rect">
            <a:avLst/>
          </a:prstGeom>
          <a:solidFill>
            <a:srgbClr val="00E5A0"/>
          </a:solidFill>
          <a:ln/>
        </p:spPr>
      </p:sp>
      <p:sp>
        <p:nvSpPr>
          <p:cNvPr id="4" name="Text 1"/>
          <p:cNvSpPr/>
          <p:nvPr/>
        </p:nvSpPr>
        <p:spPr>
          <a:xfrm>
            <a:off x="762000" y="381000"/>
            <a:ext cx="8890000" cy="508000"/>
          </a:xfrm>
          <a:prstGeom prst="rect">
            <a:avLst/>
          </a:prstGeom>
          <a:noFill/>
          <a:ln/>
        </p:spPr>
        <p:txBody>
          <a:bodyPr wrap="none" lIns="0" tIns="0" rIns="0" bIns="0" rtlCol="0" anchor="ctr"/>
          <a:lstStyle/>
          <a:p>
            <a:pPr>
              <a:lnSpc>
                <a:spcPct val="120000"/>
              </a:lnSpc>
            </a:pPr>
            <a:r>
              <a:rPr lang="en-US" sz="3000" kern="0" spc="200" dirty="0">
                <a:solidFill>
                  <a:srgbClr val="00E5A0"/>
                </a:solidFill>
                <a:latin typeface="Arial" panose="020B0604020202020204" pitchFamily="34" charset="0"/>
                <a:ea typeface="Liter" pitchFamily="34" charset="-122"/>
                <a:cs typeface="Arial" panose="020B0604020202020204" pitchFamily="34" charset="0"/>
              </a:rPr>
              <a:t>ARQUITECTURA DE LA SOLUCIÓN</a:t>
            </a:r>
            <a:endParaRPr lang="en-US" sz="3000" dirty="0">
              <a:latin typeface="Arial" panose="020B0604020202020204" pitchFamily="34" charset="0"/>
              <a:cs typeface="Arial" panose="020B0604020202020204" pitchFamily="34" charset="0"/>
            </a:endParaRPr>
          </a:p>
        </p:txBody>
      </p:sp>
      <p:sp>
        <p:nvSpPr>
          <p:cNvPr id="50" name="Text 47"/>
          <p:cNvSpPr/>
          <p:nvPr/>
        </p:nvSpPr>
        <p:spPr>
          <a:xfrm>
            <a:off x="15240000" y="8763000"/>
            <a:ext cx="635000" cy="254000"/>
          </a:xfrm>
          <a:prstGeom prst="rect">
            <a:avLst/>
          </a:prstGeom>
          <a:noFill/>
          <a:ln/>
        </p:spPr>
        <p:txBody>
          <a:bodyPr wrap="none" lIns="0" tIns="0" rIns="0" bIns="0" rtlCol="0" anchor="ctr"/>
          <a:lstStyle/>
          <a:p>
            <a:pPr algn="r">
              <a:lnSpc>
                <a:spcPct val="140000"/>
              </a:lnSpc>
            </a:pPr>
            <a:r>
              <a:rPr lang="en-US" sz="1400" dirty="0">
                <a:solidFill>
                  <a:srgbClr val="8B949E"/>
                </a:solidFill>
                <a:latin typeface="Arial" panose="020B0604020202020204" pitchFamily="34" charset="0"/>
                <a:ea typeface="QuattrocentoSans" pitchFamily="34" charset="-122"/>
                <a:cs typeface="Arial" panose="020B0604020202020204" pitchFamily="34" charset="0"/>
              </a:rPr>
              <a:t>03</a:t>
            </a:r>
            <a:endParaRPr lang="en-US" sz="1400" dirty="0">
              <a:latin typeface="Arial" panose="020B0604020202020204" pitchFamily="34" charset="0"/>
              <a:cs typeface="Arial" panose="020B0604020202020204" pitchFamily="34" charset="0"/>
            </a:endParaRPr>
          </a:p>
        </p:txBody>
      </p:sp>
      <p:pic>
        <p:nvPicPr>
          <p:cNvPr id="6" name="Imagen 5">
            <a:extLst>
              <a:ext uri="{FF2B5EF4-FFF2-40B4-BE49-F238E27FC236}">
                <a16:creationId xmlns:a16="http://schemas.microsoft.com/office/drawing/2014/main" id="{26FEED27-CD08-785A-5C79-E3AF73DD0ED2}"/>
              </a:ext>
            </a:extLst>
          </p:cNvPr>
          <p:cNvPicPr>
            <a:picLocks noChangeAspect="1"/>
          </p:cNvPicPr>
          <p:nvPr/>
        </p:nvPicPr>
        <p:blipFill>
          <a:blip r:embed="rId3"/>
          <a:stretch>
            <a:fillRect/>
          </a:stretch>
        </p:blipFill>
        <p:spPr>
          <a:xfrm>
            <a:off x="0" y="977210"/>
            <a:ext cx="16255999" cy="8166790"/>
          </a:xfrm>
          <a:prstGeom prst="rect">
            <a:avLst/>
          </a:prstGeom>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3" name="Shape 0"/>
          <p:cNvSpPr/>
          <p:nvPr/>
        </p:nvSpPr>
        <p:spPr>
          <a:xfrm>
            <a:off x="0" y="0"/>
            <a:ext cx="16256000" cy="38100"/>
          </a:xfrm>
          <a:prstGeom prst="rect">
            <a:avLst/>
          </a:prstGeom>
          <a:solidFill>
            <a:srgbClr val="00E5A0"/>
          </a:solidFill>
          <a:ln/>
        </p:spPr>
      </p:sp>
      <p:sp>
        <p:nvSpPr>
          <p:cNvPr id="4" name="Text 1"/>
          <p:cNvSpPr/>
          <p:nvPr/>
        </p:nvSpPr>
        <p:spPr>
          <a:xfrm>
            <a:off x="762000" y="381000"/>
            <a:ext cx="7620000" cy="508000"/>
          </a:xfrm>
          <a:prstGeom prst="rect">
            <a:avLst/>
          </a:prstGeom>
          <a:noFill/>
          <a:ln/>
        </p:spPr>
        <p:txBody>
          <a:bodyPr wrap="none" lIns="0" tIns="0" rIns="0" bIns="0" rtlCol="0" anchor="ctr"/>
          <a:lstStyle/>
          <a:p>
            <a:pPr>
              <a:lnSpc>
                <a:spcPct val="120000"/>
              </a:lnSpc>
            </a:pPr>
            <a:r>
              <a:rPr lang="en-US" sz="3000" kern="0" spc="200" dirty="0">
                <a:solidFill>
                  <a:srgbClr val="00E5A0"/>
                </a:solidFill>
                <a:latin typeface="Arial" panose="020B0604020202020204" pitchFamily="34" charset="0"/>
                <a:ea typeface="Liter" pitchFamily="34" charset="-122"/>
                <a:cs typeface="Arial" panose="020B0604020202020204" pitchFamily="34" charset="0"/>
              </a:rPr>
              <a:t>SEGURIDAD IMPLEMENTADA</a:t>
            </a:r>
            <a:endParaRPr lang="en-US" sz="3000" dirty="0">
              <a:latin typeface="Arial" panose="020B0604020202020204" pitchFamily="34" charset="0"/>
              <a:cs typeface="Arial" panose="020B0604020202020204" pitchFamily="34" charset="0"/>
            </a:endParaRPr>
          </a:p>
        </p:txBody>
      </p:sp>
      <p:sp>
        <p:nvSpPr>
          <p:cNvPr id="5" name="Shape 2"/>
          <p:cNvSpPr/>
          <p:nvPr/>
        </p:nvSpPr>
        <p:spPr>
          <a:xfrm>
            <a:off x="762000" y="952500"/>
            <a:ext cx="1524000" cy="38100"/>
          </a:xfrm>
          <a:prstGeom prst="rect">
            <a:avLst/>
          </a:prstGeom>
          <a:solidFill>
            <a:srgbClr val="00E5A0"/>
          </a:solidFill>
          <a:ln/>
        </p:spPr>
      </p:sp>
      <p:sp>
        <p:nvSpPr>
          <p:cNvPr id="6" name="Shape 3"/>
          <p:cNvSpPr/>
          <p:nvPr/>
        </p:nvSpPr>
        <p:spPr>
          <a:xfrm>
            <a:off x="14732000" y="381000"/>
            <a:ext cx="762000" cy="762000"/>
          </a:xfrm>
          <a:custGeom>
            <a:avLst/>
            <a:gdLst/>
            <a:ahLst/>
            <a:cxnLst/>
            <a:rect l="l" t="t" r="r" b="b"/>
            <a:pathLst>
              <a:path w="762000" h="762000">
                <a:moveTo>
                  <a:pt x="381000" y="0"/>
                </a:moveTo>
                <a:cubicBezTo>
                  <a:pt x="387846" y="0"/>
                  <a:pt x="394692" y="1488"/>
                  <a:pt x="400943" y="4316"/>
                </a:cubicBezTo>
                <a:lnTo>
                  <a:pt x="681335" y="123230"/>
                </a:lnTo>
                <a:cubicBezTo>
                  <a:pt x="714077" y="137071"/>
                  <a:pt x="738485" y="169366"/>
                  <a:pt x="738336" y="208359"/>
                </a:cubicBezTo>
                <a:cubicBezTo>
                  <a:pt x="737592" y="355997"/>
                  <a:pt x="676870" y="626120"/>
                  <a:pt x="420439" y="748903"/>
                </a:cubicBezTo>
                <a:cubicBezTo>
                  <a:pt x="395585" y="760809"/>
                  <a:pt x="366713" y="760809"/>
                  <a:pt x="341858" y="748903"/>
                </a:cubicBezTo>
                <a:cubicBezTo>
                  <a:pt x="85279" y="626120"/>
                  <a:pt x="24705" y="355997"/>
                  <a:pt x="23961" y="208359"/>
                </a:cubicBezTo>
                <a:cubicBezTo>
                  <a:pt x="23812" y="169366"/>
                  <a:pt x="48220" y="137071"/>
                  <a:pt x="80962" y="123230"/>
                </a:cubicBezTo>
                <a:lnTo>
                  <a:pt x="361206" y="4316"/>
                </a:lnTo>
                <a:cubicBezTo>
                  <a:pt x="367457" y="1488"/>
                  <a:pt x="374154" y="0"/>
                  <a:pt x="381000" y="0"/>
                </a:cubicBezTo>
                <a:close/>
                <a:moveTo>
                  <a:pt x="381000" y="99417"/>
                </a:moveTo>
                <a:lnTo>
                  <a:pt x="381000" y="662136"/>
                </a:lnTo>
                <a:cubicBezTo>
                  <a:pt x="586383" y="562719"/>
                  <a:pt x="641598" y="342454"/>
                  <a:pt x="642938" y="210592"/>
                </a:cubicBezTo>
                <a:lnTo>
                  <a:pt x="381000" y="99566"/>
                </a:lnTo>
                <a:lnTo>
                  <a:pt x="381000" y="99566"/>
                </a:lnTo>
                <a:close/>
              </a:path>
            </a:pathLst>
          </a:custGeom>
          <a:solidFill>
            <a:srgbClr val="00E5A0">
              <a:alpha val="12549"/>
            </a:srgbClr>
          </a:solidFill>
          <a:ln/>
        </p:spPr>
      </p:sp>
      <p:sp>
        <p:nvSpPr>
          <p:cNvPr id="7" name="Shape 4"/>
          <p:cNvSpPr/>
          <p:nvPr/>
        </p:nvSpPr>
        <p:spPr>
          <a:xfrm>
            <a:off x="762000" y="1333500"/>
            <a:ext cx="4699000" cy="3048000"/>
          </a:xfrm>
          <a:prstGeom prst="roundRect">
            <a:avLst>
              <a:gd name="adj" fmla="val 8000"/>
            </a:avLst>
          </a:prstGeom>
          <a:solidFill>
            <a:srgbClr val="161B22"/>
          </a:solidFill>
          <a:ln w="12700">
            <a:solidFill>
              <a:srgbClr val="30363D"/>
            </a:solidFill>
            <a:prstDash val="solid"/>
          </a:ln>
        </p:spPr>
      </p:sp>
      <p:sp>
        <p:nvSpPr>
          <p:cNvPr id="8" name="Shape 5"/>
          <p:cNvSpPr/>
          <p:nvPr/>
        </p:nvSpPr>
        <p:spPr>
          <a:xfrm>
            <a:off x="762000" y="1333500"/>
            <a:ext cx="50800" cy="3048000"/>
          </a:xfrm>
          <a:prstGeom prst="rect">
            <a:avLst/>
          </a:prstGeom>
          <a:solidFill>
            <a:srgbClr val="00E5A0"/>
          </a:solidFill>
          <a:ln/>
        </p:spPr>
      </p:sp>
      <p:sp>
        <p:nvSpPr>
          <p:cNvPr id="9" name="Shape 6"/>
          <p:cNvSpPr/>
          <p:nvPr/>
        </p:nvSpPr>
        <p:spPr>
          <a:xfrm>
            <a:off x="1079500" y="1587500"/>
            <a:ext cx="457200" cy="457200"/>
          </a:xfrm>
          <a:custGeom>
            <a:avLst/>
            <a:gdLst/>
            <a:ahLst/>
            <a:cxnLst/>
            <a:rect l="l" t="t" r="r" b="b"/>
            <a:pathLst>
              <a:path w="457200" h="457200">
                <a:moveTo>
                  <a:pt x="8394" y="105906"/>
                </a:moveTo>
                <a:cubicBezTo>
                  <a:pt x="-2768" y="94744"/>
                  <a:pt x="-2768" y="76617"/>
                  <a:pt x="8394" y="65455"/>
                </a:cubicBezTo>
                <a:cubicBezTo>
                  <a:pt x="19556" y="54293"/>
                  <a:pt x="37683" y="54293"/>
                  <a:pt x="48845" y="65455"/>
                </a:cubicBezTo>
                <a:lnTo>
                  <a:pt x="191720" y="208330"/>
                </a:lnTo>
                <a:cubicBezTo>
                  <a:pt x="202883" y="219492"/>
                  <a:pt x="202883" y="237619"/>
                  <a:pt x="191720" y="248781"/>
                </a:cubicBezTo>
                <a:lnTo>
                  <a:pt x="48845" y="391656"/>
                </a:lnTo>
                <a:cubicBezTo>
                  <a:pt x="37683" y="402818"/>
                  <a:pt x="19556" y="402818"/>
                  <a:pt x="8394" y="391656"/>
                </a:cubicBezTo>
                <a:cubicBezTo>
                  <a:pt x="-2768" y="380494"/>
                  <a:pt x="-2768" y="362367"/>
                  <a:pt x="8394" y="351205"/>
                </a:cubicBezTo>
                <a:lnTo>
                  <a:pt x="130999" y="228600"/>
                </a:lnTo>
                <a:lnTo>
                  <a:pt x="8394" y="105906"/>
                </a:lnTo>
                <a:close/>
                <a:moveTo>
                  <a:pt x="200025" y="342900"/>
                </a:moveTo>
                <a:lnTo>
                  <a:pt x="428625" y="342900"/>
                </a:lnTo>
                <a:cubicBezTo>
                  <a:pt x="444431" y="342900"/>
                  <a:pt x="457200" y="355669"/>
                  <a:pt x="457200" y="371475"/>
                </a:cubicBezTo>
                <a:cubicBezTo>
                  <a:pt x="457200" y="387281"/>
                  <a:pt x="444431" y="400050"/>
                  <a:pt x="428625" y="400050"/>
                </a:cubicBezTo>
                <a:lnTo>
                  <a:pt x="200025" y="400050"/>
                </a:lnTo>
                <a:cubicBezTo>
                  <a:pt x="184219" y="400050"/>
                  <a:pt x="171450" y="387281"/>
                  <a:pt x="171450" y="371475"/>
                </a:cubicBezTo>
                <a:cubicBezTo>
                  <a:pt x="171450" y="355669"/>
                  <a:pt x="184219" y="342900"/>
                  <a:pt x="200025" y="342900"/>
                </a:cubicBezTo>
                <a:close/>
              </a:path>
            </a:pathLst>
          </a:custGeom>
          <a:solidFill>
            <a:srgbClr val="00E5A0"/>
          </a:solidFill>
          <a:ln/>
        </p:spPr>
      </p:sp>
      <p:sp>
        <p:nvSpPr>
          <p:cNvPr id="10" name="Text 7"/>
          <p:cNvSpPr/>
          <p:nvPr/>
        </p:nvSpPr>
        <p:spPr>
          <a:xfrm>
            <a:off x="1079500" y="2222500"/>
            <a:ext cx="4064000" cy="355600"/>
          </a:xfrm>
          <a:prstGeom prst="rect">
            <a:avLst/>
          </a:prstGeom>
          <a:noFill/>
          <a:ln/>
        </p:spPr>
        <p:txBody>
          <a:bodyPr wrap="none" lIns="0" tIns="0" rIns="0" bIns="0" rtlCol="0" anchor="ctr"/>
          <a:lstStyle/>
          <a:p>
            <a:pPr>
              <a:lnSpc>
                <a:spcPct val="100000"/>
              </a:lnSpc>
            </a:pPr>
            <a:r>
              <a:rPr lang="en-US" sz="1800" dirty="0">
                <a:solidFill>
                  <a:srgbClr val="00E5A0"/>
                </a:solidFill>
                <a:latin typeface="Arial" panose="020B0604020202020204" pitchFamily="34" charset="0"/>
                <a:ea typeface="Liter" pitchFamily="34" charset="-122"/>
                <a:cs typeface="Arial" panose="020B0604020202020204" pitchFamily="34" charset="0"/>
              </a:rPr>
              <a:t>HARDENING SSH</a:t>
            </a:r>
            <a:endParaRPr lang="en-US" sz="1600" dirty="0">
              <a:latin typeface="Arial" panose="020B0604020202020204" pitchFamily="34" charset="0"/>
              <a:cs typeface="Arial" panose="020B0604020202020204" pitchFamily="34" charset="0"/>
            </a:endParaRPr>
          </a:p>
        </p:txBody>
      </p:sp>
      <p:sp>
        <p:nvSpPr>
          <p:cNvPr id="11" name="Text 8"/>
          <p:cNvSpPr/>
          <p:nvPr/>
        </p:nvSpPr>
        <p:spPr>
          <a:xfrm>
            <a:off x="1079500" y="2667000"/>
            <a:ext cx="4064000" cy="1524000"/>
          </a:xfrm>
          <a:prstGeom prst="rect">
            <a:avLst/>
          </a:prstGeom>
          <a:noFill/>
          <a:ln/>
        </p:spPr>
        <p:txBody>
          <a:bodyPr wrap="square" lIns="0" tIns="0" rIns="0" bIns="0" rtlCol="0" anchor="t"/>
          <a:lstStyle/>
          <a:p>
            <a:pPr>
              <a:lnSpc>
                <a:spcPct val="150000"/>
              </a:lnSpc>
            </a:pPr>
            <a:r>
              <a:rPr lang="en-US" dirty="0">
                <a:solidFill>
                  <a:schemeClr val="bg1"/>
                </a:solidFill>
                <a:latin typeface="Arial" panose="020B0604020202020204" pitchFamily="34" charset="0"/>
                <a:cs typeface="Arial" panose="020B0604020202020204" pitchFamily="34" charset="0"/>
              </a:rPr>
              <a:t>Puerto no estándar, autenticación solo por claves públicas/privadas, deshabilitado password login</a:t>
            </a:r>
          </a:p>
        </p:txBody>
      </p:sp>
      <p:sp>
        <p:nvSpPr>
          <p:cNvPr id="12" name="Shape 9"/>
          <p:cNvSpPr/>
          <p:nvPr/>
        </p:nvSpPr>
        <p:spPr>
          <a:xfrm>
            <a:off x="5778500" y="1333500"/>
            <a:ext cx="4699000" cy="3048000"/>
          </a:xfrm>
          <a:prstGeom prst="roundRect">
            <a:avLst>
              <a:gd name="adj" fmla="val 8000"/>
            </a:avLst>
          </a:prstGeom>
          <a:solidFill>
            <a:srgbClr val="161B22"/>
          </a:solidFill>
          <a:ln w="12700">
            <a:solidFill>
              <a:srgbClr val="30363D"/>
            </a:solidFill>
            <a:prstDash val="solid"/>
          </a:ln>
        </p:spPr>
      </p:sp>
      <p:sp>
        <p:nvSpPr>
          <p:cNvPr id="13" name="Shape 10"/>
          <p:cNvSpPr/>
          <p:nvPr/>
        </p:nvSpPr>
        <p:spPr>
          <a:xfrm>
            <a:off x="5778500" y="1333500"/>
            <a:ext cx="50800" cy="3048000"/>
          </a:xfrm>
          <a:prstGeom prst="rect">
            <a:avLst/>
          </a:prstGeom>
          <a:solidFill>
            <a:srgbClr val="00E5A0"/>
          </a:solidFill>
          <a:ln/>
        </p:spPr>
      </p:sp>
      <p:sp>
        <p:nvSpPr>
          <p:cNvPr id="14" name="Shape 11"/>
          <p:cNvSpPr/>
          <p:nvPr/>
        </p:nvSpPr>
        <p:spPr>
          <a:xfrm>
            <a:off x="6096000" y="1587500"/>
            <a:ext cx="457200" cy="457200"/>
          </a:xfrm>
          <a:custGeom>
            <a:avLst/>
            <a:gdLst/>
            <a:ahLst/>
            <a:cxnLst/>
            <a:rect l="l" t="t" r="r" b="b"/>
            <a:pathLst>
              <a:path w="457200" h="457200">
                <a:moveTo>
                  <a:pt x="300038" y="314325"/>
                </a:moveTo>
                <a:cubicBezTo>
                  <a:pt x="386834" y="314325"/>
                  <a:pt x="457200" y="243959"/>
                  <a:pt x="457200" y="157163"/>
                </a:cubicBezTo>
                <a:cubicBezTo>
                  <a:pt x="457200" y="70366"/>
                  <a:pt x="386834" y="0"/>
                  <a:pt x="300038" y="0"/>
                </a:cubicBezTo>
                <a:cubicBezTo>
                  <a:pt x="213241" y="0"/>
                  <a:pt x="142875" y="70366"/>
                  <a:pt x="142875" y="157163"/>
                </a:cubicBezTo>
                <a:cubicBezTo>
                  <a:pt x="142875" y="173861"/>
                  <a:pt x="145465" y="190024"/>
                  <a:pt x="150287" y="205115"/>
                </a:cubicBezTo>
                <a:lnTo>
                  <a:pt x="6251" y="349151"/>
                </a:lnTo>
                <a:cubicBezTo>
                  <a:pt x="2232" y="353169"/>
                  <a:pt x="0" y="358616"/>
                  <a:pt x="0" y="364331"/>
                </a:cubicBezTo>
                <a:lnTo>
                  <a:pt x="0" y="435769"/>
                </a:lnTo>
                <a:cubicBezTo>
                  <a:pt x="0" y="447645"/>
                  <a:pt x="9555" y="457200"/>
                  <a:pt x="21431" y="457200"/>
                </a:cubicBezTo>
                <a:lnTo>
                  <a:pt x="92869" y="457200"/>
                </a:lnTo>
                <a:cubicBezTo>
                  <a:pt x="104745" y="457200"/>
                  <a:pt x="114300" y="447645"/>
                  <a:pt x="114300" y="435769"/>
                </a:cubicBezTo>
                <a:lnTo>
                  <a:pt x="114300" y="400050"/>
                </a:lnTo>
                <a:lnTo>
                  <a:pt x="150019" y="400050"/>
                </a:lnTo>
                <a:cubicBezTo>
                  <a:pt x="161895" y="400050"/>
                  <a:pt x="171450" y="390495"/>
                  <a:pt x="171450" y="378619"/>
                </a:cubicBezTo>
                <a:lnTo>
                  <a:pt x="171450" y="342900"/>
                </a:lnTo>
                <a:lnTo>
                  <a:pt x="207169" y="342900"/>
                </a:lnTo>
                <a:cubicBezTo>
                  <a:pt x="212884" y="342900"/>
                  <a:pt x="218331" y="340668"/>
                  <a:pt x="222349" y="336649"/>
                </a:cubicBezTo>
                <a:lnTo>
                  <a:pt x="252085" y="306913"/>
                </a:lnTo>
                <a:cubicBezTo>
                  <a:pt x="267176" y="311735"/>
                  <a:pt x="283339" y="314325"/>
                  <a:pt x="300038" y="314325"/>
                </a:cubicBezTo>
                <a:close/>
                <a:moveTo>
                  <a:pt x="335756" y="85725"/>
                </a:moveTo>
                <a:cubicBezTo>
                  <a:pt x="355470" y="85725"/>
                  <a:pt x="371475" y="101730"/>
                  <a:pt x="371475" y="121444"/>
                </a:cubicBezTo>
                <a:cubicBezTo>
                  <a:pt x="371475" y="141157"/>
                  <a:pt x="355470" y="157163"/>
                  <a:pt x="335756" y="157163"/>
                </a:cubicBezTo>
                <a:cubicBezTo>
                  <a:pt x="316043" y="157163"/>
                  <a:pt x="300038" y="141157"/>
                  <a:pt x="300038" y="121444"/>
                </a:cubicBezTo>
                <a:cubicBezTo>
                  <a:pt x="300038" y="101730"/>
                  <a:pt x="316043" y="85725"/>
                  <a:pt x="335756" y="85725"/>
                </a:cubicBezTo>
                <a:close/>
              </a:path>
            </a:pathLst>
          </a:custGeom>
          <a:solidFill>
            <a:srgbClr val="00E5A0"/>
          </a:solidFill>
          <a:ln/>
        </p:spPr>
      </p:sp>
      <p:sp>
        <p:nvSpPr>
          <p:cNvPr id="15" name="Text 12"/>
          <p:cNvSpPr/>
          <p:nvPr/>
        </p:nvSpPr>
        <p:spPr>
          <a:xfrm>
            <a:off x="6096000" y="2222500"/>
            <a:ext cx="4064000" cy="355600"/>
          </a:xfrm>
          <a:prstGeom prst="rect">
            <a:avLst/>
          </a:prstGeom>
          <a:noFill/>
          <a:ln/>
        </p:spPr>
        <p:txBody>
          <a:bodyPr wrap="none" lIns="0" tIns="0" rIns="0" bIns="0" rtlCol="0" anchor="ctr"/>
          <a:lstStyle/>
          <a:p>
            <a:pPr>
              <a:lnSpc>
                <a:spcPct val="100000"/>
              </a:lnSpc>
            </a:pPr>
            <a:r>
              <a:rPr lang="en-US" sz="1800" dirty="0">
                <a:solidFill>
                  <a:srgbClr val="00E5A0"/>
                </a:solidFill>
                <a:latin typeface="Arial" panose="020B0604020202020204" pitchFamily="34" charset="0"/>
                <a:ea typeface="Liter" pitchFamily="34" charset="-122"/>
                <a:cs typeface="Arial" panose="020B0604020202020204" pitchFamily="34" charset="0"/>
              </a:rPr>
              <a:t>CLAVES SSH</a:t>
            </a:r>
            <a:endParaRPr lang="en-US" sz="1600" dirty="0">
              <a:latin typeface="Arial" panose="020B0604020202020204" pitchFamily="34" charset="0"/>
              <a:cs typeface="Arial" panose="020B0604020202020204" pitchFamily="34" charset="0"/>
            </a:endParaRPr>
          </a:p>
        </p:txBody>
      </p:sp>
      <p:sp>
        <p:nvSpPr>
          <p:cNvPr id="16" name="Text 13"/>
          <p:cNvSpPr/>
          <p:nvPr/>
        </p:nvSpPr>
        <p:spPr>
          <a:xfrm>
            <a:off x="6096000" y="2667000"/>
            <a:ext cx="4064000" cy="1524000"/>
          </a:xfrm>
          <a:prstGeom prst="rect">
            <a:avLst/>
          </a:prstGeom>
          <a:noFill/>
          <a:ln/>
        </p:spPr>
        <p:txBody>
          <a:bodyPr wrap="square" lIns="0" tIns="0" rIns="0" bIns="0" rtlCol="0" anchor="t"/>
          <a:lstStyle/>
          <a:p>
            <a:pPr>
              <a:lnSpc>
                <a:spcPct val="150000"/>
              </a:lnSpc>
            </a:pPr>
            <a:r>
              <a:rPr lang="en-US" sz="1600" dirty="0">
                <a:solidFill>
                  <a:srgbClr val="E6EDF3"/>
                </a:solidFill>
                <a:latin typeface="Arial" panose="020B0604020202020204" pitchFamily="34" charset="0"/>
                <a:ea typeface="QuattrocentoSans" pitchFamily="34" charset="-122"/>
                <a:cs typeface="Arial" panose="020B0604020202020204" pitchFamily="34" charset="0"/>
              </a:rPr>
              <a:t>Par de claves RSA/ED25519 por administrador. Sin </a:t>
            </a:r>
            <a:r>
              <a:rPr lang="en-US" sz="1600" dirty="0" err="1">
                <a:solidFill>
                  <a:srgbClr val="E6EDF3"/>
                </a:solidFill>
                <a:latin typeface="Arial" panose="020B0604020202020204" pitchFamily="34" charset="0"/>
                <a:ea typeface="QuattrocentoSans" pitchFamily="34" charset="-122"/>
                <a:cs typeface="Arial" panose="020B0604020202020204" pitchFamily="34" charset="0"/>
              </a:rPr>
              <a:t>contraseñas</a:t>
            </a:r>
            <a:r>
              <a:rPr lang="en-US" sz="1600" dirty="0">
                <a:solidFill>
                  <a:srgbClr val="E6EDF3"/>
                </a:solidFill>
                <a:latin typeface="Arial" panose="020B0604020202020204" pitchFamily="34" charset="0"/>
                <a:ea typeface="QuattrocentoSans" pitchFamily="34" charset="-122"/>
                <a:cs typeface="Arial" panose="020B0604020202020204" pitchFamily="34" charset="0"/>
              </a:rPr>
              <a:t>.</a:t>
            </a:r>
            <a:endParaRPr lang="en-US" sz="1800" dirty="0">
              <a:latin typeface="Arial" panose="020B0604020202020204" pitchFamily="34" charset="0"/>
              <a:cs typeface="Arial" panose="020B0604020202020204" pitchFamily="34" charset="0"/>
            </a:endParaRPr>
          </a:p>
        </p:txBody>
      </p:sp>
      <p:sp>
        <p:nvSpPr>
          <p:cNvPr id="17" name="Shape 14"/>
          <p:cNvSpPr/>
          <p:nvPr/>
        </p:nvSpPr>
        <p:spPr>
          <a:xfrm>
            <a:off x="10795000" y="1333500"/>
            <a:ext cx="4699000" cy="3048000"/>
          </a:xfrm>
          <a:prstGeom prst="roundRect">
            <a:avLst>
              <a:gd name="adj" fmla="val 8000"/>
            </a:avLst>
          </a:prstGeom>
          <a:solidFill>
            <a:srgbClr val="161B22"/>
          </a:solidFill>
          <a:ln w="12700">
            <a:solidFill>
              <a:srgbClr val="30363D"/>
            </a:solidFill>
            <a:prstDash val="solid"/>
          </a:ln>
        </p:spPr>
      </p:sp>
      <p:sp>
        <p:nvSpPr>
          <p:cNvPr id="18" name="Shape 15"/>
          <p:cNvSpPr/>
          <p:nvPr/>
        </p:nvSpPr>
        <p:spPr>
          <a:xfrm>
            <a:off x="10795000" y="1333500"/>
            <a:ext cx="50800" cy="3048000"/>
          </a:xfrm>
          <a:prstGeom prst="rect">
            <a:avLst/>
          </a:prstGeom>
          <a:solidFill>
            <a:srgbClr val="00E5A0"/>
          </a:solidFill>
          <a:ln/>
        </p:spPr>
      </p:sp>
      <p:sp>
        <p:nvSpPr>
          <p:cNvPr id="19" name="Shape 16"/>
          <p:cNvSpPr/>
          <p:nvPr/>
        </p:nvSpPr>
        <p:spPr>
          <a:xfrm>
            <a:off x="11083925" y="1587500"/>
            <a:ext cx="514350" cy="457200"/>
          </a:xfrm>
          <a:custGeom>
            <a:avLst/>
            <a:gdLst/>
            <a:ahLst/>
            <a:cxnLst/>
            <a:rect l="l" t="t" r="r" b="b"/>
            <a:pathLst>
              <a:path w="514350" h="457200">
                <a:moveTo>
                  <a:pt x="200025" y="7144"/>
                </a:moveTo>
                <a:cubicBezTo>
                  <a:pt x="259166" y="7144"/>
                  <a:pt x="307181" y="55159"/>
                  <a:pt x="307181" y="114300"/>
                </a:cubicBezTo>
                <a:cubicBezTo>
                  <a:pt x="307181" y="173441"/>
                  <a:pt x="259166" y="221456"/>
                  <a:pt x="200025" y="221456"/>
                </a:cubicBezTo>
                <a:cubicBezTo>
                  <a:pt x="140884" y="221456"/>
                  <a:pt x="92869" y="173441"/>
                  <a:pt x="92869" y="114300"/>
                </a:cubicBezTo>
                <a:cubicBezTo>
                  <a:pt x="92869" y="55159"/>
                  <a:pt x="140884" y="7144"/>
                  <a:pt x="200025" y="7144"/>
                </a:cubicBezTo>
                <a:close/>
                <a:moveTo>
                  <a:pt x="173504" y="271463"/>
                </a:moveTo>
                <a:lnTo>
                  <a:pt x="226546" y="271463"/>
                </a:lnTo>
                <a:cubicBezTo>
                  <a:pt x="253067" y="271463"/>
                  <a:pt x="278070" y="277981"/>
                  <a:pt x="300038" y="289411"/>
                </a:cubicBezTo>
                <a:lnTo>
                  <a:pt x="300038" y="293251"/>
                </a:lnTo>
                <a:cubicBezTo>
                  <a:pt x="282535" y="308967"/>
                  <a:pt x="271463" y="331738"/>
                  <a:pt x="271463" y="357098"/>
                </a:cubicBezTo>
                <a:lnTo>
                  <a:pt x="271463" y="442823"/>
                </a:lnTo>
                <a:cubicBezTo>
                  <a:pt x="271463" y="447735"/>
                  <a:pt x="271909" y="452557"/>
                  <a:pt x="272623" y="457200"/>
                </a:cubicBezTo>
                <a:lnTo>
                  <a:pt x="40809" y="457200"/>
                </a:lnTo>
                <a:cubicBezTo>
                  <a:pt x="26164" y="457200"/>
                  <a:pt x="14288" y="445324"/>
                  <a:pt x="14288" y="430679"/>
                </a:cubicBezTo>
                <a:cubicBezTo>
                  <a:pt x="14288" y="342721"/>
                  <a:pt x="85546" y="271463"/>
                  <a:pt x="173504" y="271463"/>
                </a:cubicBezTo>
                <a:close/>
                <a:moveTo>
                  <a:pt x="442913" y="271552"/>
                </a:moveTo>
                <a:cubicBezTo>
                  <a:pt x="442913" y="255746"/>
                  <a:pt x="430143" y="242977"/>
                  <a:pt x="414338" y="242977"/>
                </a:cubicBezTo>
                <a:cubicBezTo>
                  <a:pt x="398532" y="242977"/>
                  <a:pt x="385763" y="255746"/>
                  <a:pt x="385763" y="271552"/>
                </a:cubicBezTo>
                <a:lnTo>
                  <a:pt x="385763" y="314325"/>
                </a:lnTo>
                <a:lnTo>
                  <a:pt x="442913" y="314325"/>
                </a:lnTo>
                <a:lnTo>
                  <a:pt x="442913" y="271552"/>
                </a:lnTo>
                <a:close/>
                <a:moveTo>
                  <a:pt x="314325" y="357188"/>
                </a:moveTo>
                <a:cubicBezTo>
                  <a:pt x="314325" y="338524"/>
                  <a:pt x="326291" y="322630"/>
                  <a:pt x="342900" y="316736"/>
                </a:cubicBezTo>
                <a:lnTo>
                  <a:pt x="342900" y="271552"/>
                </a:lnTo>
                <a:cubicBezTo>
                  <a:pt x="342900" y="232083"/>
                  <a:pt x="374868" y="200114"/>
                  <a:pt x="414338" y="200114"/>
                </a:cubicBezTo>
                <a:cubicBezTo>
                  <a:pt x="453807" y="200114"/>
                  <a:pt x="485775" y="232083"/>
                  <a:pt x="485775" y="271552"/>
                </a:cubicBezTo>
                <a:lnTo>
                  <a:pt x="485775" y="316736"/>
                </a:lnTo>
                <a:cubicBezTo>
                  <a:pt x="502384" y="322630"/>
                  <a:pt x="514350" y="338524"/>
                  <a:pt x="514350" y="357188"/>
                </a:cubicBezTo>
                <a:lnTo>
                  <a:pt x="514350" y="442913"/>
                </a:lnTo>
                <a:cubicBezTo>
                  <a:pt x="514350" y="466576"/>
                  <a:pt x="495151" y="485775"/>
                  <a:pt x="471488" y="485775"/>
                </a:cubicBezTo>
                <a:lnTo>
                  <a:pt x="357188" y="485775"/>
                </a:lnTo>
                <a:cubicBezTo>
                  <a:pt x="333524" y="485775"/>
                  <a:pt x="314325" y="466576"/>
                  <a:pt x="314325" y="442913"/>
                </a:cubicBezTo>
                <a:lnTo>
                  <a:pt x="314325" y="357188"/>
                </a:lnTo>
                <a:close/>
              </a:path>
            </a:pathLst>
          </a:custGeom>
          <a:solidFill>
            <a:srgbClr val="00E5A0"/>
          </a:solidFill>
          <a:ln/>
        </p:spPr>
      </p:sp>
      <p:sp>
        <p:nvSpPr>
          <p:cNvPr id="20" name="Text 17"/>
          <p:cNvSpPr/>
          <p:nvPr/>
        </p:nvSpPr>
        <p:spPr>
          <a:xfrm>
            <a:off x="11112500" y="2222500"/>
            <a:ext cx="4064000" cy="355600"/>
          </a:xfrm>
          <a:prstGeom prst="rect">
            <a:avLst/>
          </a:prstGeom>
          <a:noFill/>
          <a:ln/>
        </p:spPr>
        <p:txBody>
          <a:bodyPr wrap="none" lIns="0" tIns="0" rIns="0" bIns="0" rtlCol="0" anchor="ctr"/>
          <a:lstStyle/>
          <a:p>
            <a:pPr>
              <a:lnSpc>
                <a:spcPct val="100000"/>
              </a:lnSpc>
            </a:pPr>
            <a:r>
              <a:rPr lang="en-US" sz="1800" dirty="0">
                <a:solidFill>
                  <a:srgbClr val="00E5A0"/>
                </a:solidFill>
                <a:latin typeface="Arial" panose="020B0604020202020204" pitchFamily="34" charset="0"/>
                <a:ea typeface="Liter" pitchFamily="34" charset="-122"/>
                <a:cs typeface="Arial" panose="020B0604020202020204" pitchFamily="34" charset="0"/>
              </a:rPr>
              <a:t>MONITOREO</a:t>
            </a:r>
            <a:endParaRPr lang="en-US" sz="1600" dirty="0">
              <a:latin typeface="Arial" panose="020B0604020202020204" pitchFamily="34" charset="0"/>
              <a:cs typeface="Arial" panose="020B0604020202020204" pitchFamily="34" charset="0"/>
            </a:endParaRPr>
          </a:p>
        </p:txBody>
      </p:sp>
      <p:sp>
        <p:nvSpPr>
          <p:cNvPr id="21" name="Text 18"/>
          <p:cNvSpPr/>
          <p:nvPr/>
        </p:nvSpPr>
        <p:spPr>
          <a:xfrm>
            <a:off x="11112500" y="2667000"/>
            <a:ext cx="4064000" cy="1524000"/>
          </a:xfrm>
          <a:prstGeom prst="rect">
            <a:avLst/>
          </a:prstGeom>
          <a:noFill/>
          <a:ln/>
        </p:spPr>
        <p:txBody>
          <a:bodyPr wrap="square" lIns="0" tIns="0" rIns="0" bIns="0" rtlCol="0" anchor="t"/>
          <a:lstStyle/>
          <a:p>
            <a:pPr>
              <a:lnSpc>
                <a:spcPct val="150000"/>
              </a:lnSpc>
            </a:pPr>
            <a:r>
              <a:rPr lang="en-US" sz="1600" dirty="0">
                <a:solidFill>
                  <a:schemeClr val="bg1"/>
                </a:solidFill>
                <a:latin typeface="Arial" panose="020B0604020202020204" pitchFamily="34" charset="0"/>
                <a:ea typeface="QuattrocentoSans" pitchFamily="34" charset="-122"/>
                <a:cs typeface="Arial" panose="020B0604020202020204" pitchFamily="34" charset="0"/>
              </a:rPr>
              <a:t>Monitoreo con grafana y Prometheus con metricas en tiempo real</a:t>
            </a:r>
            <a:endParaRPr lang="en-US" sz="1800" dirty="0">
              <a:solidFill>
                <a:schemeClr val="bg1"/>
              </a:solidFill>
              <a:latin typeface="Arial" panose="020B0604020202020204" pitchFamily="34" charset="0"/>
              <a:cs typeface="Arial" panose="020B0604020202020204" pitchFamily="34" charset="0"/>
            </a:endParaRPr>
          </a:p>
        </p:txBody>
      </p:sp>
      <p:sp>
        <p:nvSpPr>
          <p:cNvPr id="22" name="Shape 19"/>
          <p:cNvSpPr/>
          <p:nvPr/>
        </p:nvSpPr>
        <p:spPr>
          <a:xfrm>
            <a:off x="762000" y="4699000"/>
            <a:ext cx="4699000" cy="3048000"/>
          </a:xfrm>
          <a:prstGeom prst="roundRect">
            <a:avLst>
              <a:gd name="adj" fmla="val 8000"/>
            </a:avLst>
          </a:prstGeom>
          <a:solidFill>
            <a:srgbClr val="161B22"/>
          </a:solidFill>
          <a:ln w="12700">
            <a:solidFill>
              <a:srgbClr val="30363D"/>
            </a:solidFill>
            <a:prstDash val="solid"/>
          </a:ln>
        </p:spPr>
      </p:sp>
      <p:sp>
        <p:nvSpPr>
          <p:cNvPr id="23" name="Shape 20"/>
          <p:cNvSpPr/>
          <p:nvPr/>
        </p:nvSpPr>
        <p:spPr>
          <a:xfrm>
            <a:off x="762000" y="4699000"/>
            <a:ext cx="50800" cy="3048000"/>
          </a:xfrm>
          <a:prstGeom prst="rect">
            <a:avLst/>
          </a:prstGeom>
          <a:solidFill>
            <a:srgbClr val="58A6FF"/>
          </a:solidFill>
          <a:ln/>
        </p:spPr>
      </p:sp>
      <p:sp>
        <p:nvSpPr>
          <p:cNvPr id="24" name="Shape 21"/>
          <p:cNvSpPr/>
          <p:nvPr/>
        </p:nvSpPr>
        <p:spPr>
          <a:xfrm>
            <a:off x="1136650" y="4953000"/>
            <a:ext cx="342900" cy="457200"/>
          </a:xfrm>
          <a:custGeom>
            <a:avLst/>
            <a:gdLst/>
            <a:ahLst/>
            <a:cxnLst/>
            <a:rect l="l" t="t" r="r" b="b"/>
            <a:pathLst>
              <a:path w="342900" h="457200">
                <a:moveTo>
                  <a:pt x="137160" y="26700"/>
                </a:moveTo>
                <a:lnTo>
                  <a:pt x="151448" y="7680"/>
                </a:lnTo>
                <a:cubicBezTo>
                  <a:pt x="155019" y="2858"/>
                  <a:pt x="160734" y="0"/>
                  <a:pt x="166717" y="0"/>
                </a:cubicBezTo>
                <a:cubicBezTo>
                  <a:pt x="177165" y="0"/>
                  <a:pt x="185738" y="8573"/>
                  <a:pt x="185738" y="19020"/>
                </a:cubicBezTo>
                <a:lnTo>
                  <a:pt x="185738" y="38755"/>
                </a:lnTo>
                <a:cubicBezTo>
                  <a:pt x="185738" y="50453"/>
                  <a:pt x="190560" y="61704"/>
                  <a:pt x="199043" y="69741"/>
                </a:cubicBezTo>
                <a:lnTo>
                  <a:pt x="274677" y="141982"/>
                </a:lnTo>
                <a:cubicBezTo>
                  <a:pt x="318254" y="183594"/>
                  <a:pt x="342900" y="241280"/>
                  <a:pt x="342900" y="301556"/>
                </a:cubicBezTo>
                <a:cubicBezTo>
                  <a:pt x="342900" y="387548"/>
                  <a:pt x="273248" y="457200"/>
                  <a:pt x="187256" y="457200"/>
                </a:cubicBezTo>
                <a:lnTo>
                  <a:pt x="171450" y="457200"/>
                </a:lnTo>
                <a:cubicBezTo>
                  <a:pt x="76795" y="457200"/>
                  <a:pt x="0" y="380405"/>
                  <a:pt x="0" y="285750"/>
                </a:cubicBezTo>
                <a:lnTo>
                  <a:pt x="0" y="282357"/>
                </a:lnTo>
                <a:cubicBezTo>
                  <a:pt x="0" y="238780"/>
                  <a:pt x="17324" y="196989"/>
                  <a:pt x="48131" y="166181"/>
                </a:cubicBezTo>
                <a:lnTo>
                  <a:pt x="51256" y="163056"/>
                </a:lnTo>
                <a:cubicBezTo>
                  <a:pt x="55007" y="159306"/>
                  <a:pt x="60186" y="157163"/>
                  <a:pt x="65544" y="157163"/>
                </a:cubicBezTo>
                <a:cubicBezTo>
                  <a:pt x="76706" y="157163"/>
                  <a:pt x="85725" y="166181"/>
                  <a:pt x="85725" y="177344"/>
                </a:cubicBezTo>
                <a:lnTo>
                  <a:pt x="85725" y="257175"/>
                </a:lnTo>
                <a:cubicBezTo>
                  <a:pt x="85725" y="288697"/>
                  <a:pt x="111353" y="314325"/>
                  <a:pt x="142875" y="314325"/>
                </a:cubicBezTo>
                <a:cubicBezTo>
                  <a:pt x="174397" y="314325"/>
                  <a:pt x="200025" y="288697"/>
                  <a:pt x="200025" y="257175"/>
                </a:cubicBezTo>
                <a:lnTo>
                  <a:pt x="200025" y="253692"/>
                </a:lnTo>
                <a:cubicBezTo>
                  <a:pt x="200025" y="237619"/>
                  <a:pt x="193596" y="222171"/>
                  <a:pt x="182255" y="210830"/>
                </a:cubicBezTo>
                <a:lnTo>
                  <a:pt x="147786" y="176361"/>
                </a:lnTo>
                <a:cubicBezTo>
                  <a:pt x="126355" y="154930"/>
                  <a:pt x="114300" y="125730"/>
                  <a:pt x="114300" y="95369"/>
                </a:cubicBezTo>
                <a:cubicBezTo>
                  <a:pt x="114300" y="70634"/>
                  <a:pt x="122337" y="46434"/>
                  <a:pt x="137160" y="26700"/>
                </a:cubicBezTo>
                <a:close/>
              </a:path>
            </a:pathLst>
          </a:custGeom>
          <a:solidFill>
            <a:srgbClr val="58A6FF"/>
          </a:solidFill>
          <a:ln/>
        </p:spPr>
      </p:sp>
      <p:sp>
        <p:nvSpPr>
          <p:cNvPr id="25" name="Text 22"/>
          <p:cNvSpPr/>
          <p:nvPr/>
        </p:nvSpPr>
        <p:spPr>
          <a:xfrm>
            <a:off x="1079500" y="5588000"/>
            <a:ext cx="4064000" cy="355600"/>
          </a:xfrm>
          <a:prstGeom prst="rect">
            <a:avLst/>
          </a:prstGeom>
          <a:noFill/>
          <a:ln/>
        </p:spPr>
        <p:txBody>
          <a:bodyPr wrap="none" lIns="0" tIns="0" rIns="0" bIns="0" rtlCol="0" anchor="ctr"/>
          <a:lstStyle/>
          <a:p>
            <a:pPr>
              <a:lnSpc>
                <a:spcPct val="100000"/>
              </a:lnSpc>
            </a:pPr>
            <a:r>
              <a:rPr lang="en-US" sz="1800" dirty="0">
                <a:solidFill>
                  <a:srgbClr val="58A6FF"/>
                </a:solidFill>
                <a:latin typeface="Arial" panose="020B0604020202020204" pitchFamily="34" charset="0"/>
                <a:ea typeface="Liter" pitchFamily="34" charset="-122"/>
                <a:cs typeface="Arial" panose="020B0604020202020204" pitchFamily="34" charset="0"/>
              </a:rPr>
              <a:t>FIREWALL UFW</a:t>
            </a:r>
            <a:endParaRPr lang="en-US" sz="1600" dirty="0">
              <a:latin typeface="Arial" panose="020B0604020202020204" pitchFamily="34" charset="0"/>
              <a:cs typeface="Arial" panose="020B0604020202020204" pitchFamily="34" charset="0"/>
            </a:endParaRPr>
          </a:p>
        </p:txBody>
      </p:sp>
      <p:sp>
        <p:nvSpPr>
          <p:cNvPr id="26" name="Text 23"/>
          <p:cNvSpPr/>
          <p:nvPr/>
        </p:nvSpPr>
        <p:spPr>
          <a:xfrm>
            <a:off x="1079500" y="6032500"/>
            <a:ext cx="4064000" cy="1524000"/>
          </a:xfrm>
          <a:prstGeom prst="rect">
            <a:avLst/>
          </a:prstGeom>
          <a:noFill/>
          <a:ln/>
        </p:spPr>
        <p:txBody>
          <a:bodyPr wrap="square" lIns="0" tIns="0" rIns="0" bIns="0" rtlCol="0" anchor="t"/>
          <a:lstStyle/>
          <a:p>
            <a:pPr>
              <a:lnSpc>
                <a:spcPct val="150000"/>
              </a:lnSpc>
            </a:pPr>
            <a:r>
              <a:rPr lang="en-US" sz="1600" dirty="0">
                <a:solidFill>
                  <a:srgbClr val="E6EDF3"/>
                </a:solidFill>
                <a:latin typeface="Arial" panose="020B0604020202020204" pitchFamily="34" charset="0"/>
                <a:ea typeface="QuattrocentoSans" pitchFamily="34" charset="-122"/>
                <a:cs typeface="Arial" panose="020B0604020202020204" pitchFamily="34" charset="0"/>
              </a:rPr>
              <a:t>Solo puertos 80, 443 y SSH habilitados. Política default deny. Registro de conexiones</a:t>
            </a:r>
            <a:endParaRPr lang="en-US" sz="1800" dirty="0">
              <a:latin typeface="Arial" panose="020B0604020202020204" pitchFamily="34" charset="0"/>
              <a:cs typeface="Arial" panose="020B0604020202020204" pitchFamily="34" charset="0"/>
            </a:endParaRPr>
          </a:p>
        </p:txBody>
      </p:sp>
      <p:sp>
        <p:nvSpPr>
          <p:cNvPr id="27" name="Shape 24"/>
          <p:cNvSpPr/>
          <p:nvPr/>
        </p:nvSpPr>
        <p:spPr>
          <a:xfrm>
            <a:off x="5778500" y="4699000"/>
            <a:ext cx="4699000" cy="3048000"/>
          </a:xfrm>
          <a:prstGeom prst="roundRect">
            <a:avLst>
              <a:gd name="adj" fmla="val 8000"/>
            </a:avLst>
          </a:prstGeom>
          <a:solidFill>
            <a:srgbClr val="161B22"/>
          </a:solidFill>
          <a:ln w="12700">
            <a:solidFill>
              <a:srgbClr val="30363D"/>
            </a:solidFill>
            <a:prstDash val="solid"/>
          </a:ln>
        </p:spPr>
      </p:sp>
      <p:sp>
        <p:nvSpPr>
          <p:cNvPr id="28" name="Shape 25"/>
          <p:cNvSpPr/>
          <p:nvPr/>
        </p:nvSpPr>
        <p:spPr>
          <a:xfrm>
            <a:off x="5778500" y="4699000"/>
            <a:ext cx="50800" cy="3048000"/>
          </a:xfrm>
          <a:prstGeom prst="rect">
            <a:avLst/>
          </a:prstGeom>
          <a:solidFill>
            <a:srgbClr val="58A6FF"/>
          </a:solidFill>
          <a:ln/>
        </p:spPr>
      </p:sp>
      <p:sp>
        <p:nvSpPr>
          <p:cNvPr id="29" name="Shape 26"/>
          <p:cNvSpPr/>
          <p:nvPr/>
        </p:nvSpPr>
        <p:spPr>
          <a:xfrm>
            <a:off x="6038850" y="4953000"/>
            <a:ext cx="571500" cy="457200"/>
          </a:xfrm>
          <a:custGeom>
            <a:avLst/>
            <a:gdLst/>
            <a:ahLst/>
            <a:cxnLst/>
            <a:rect l="l" t="t" r="r" b="b"/>
            <a:pathLst>
              <a:path w="571500" h="457200">
                <a:moveTo>
                  <a:pt x="285750" y="200025"/>
                </a:moveTo>
                <a:cubicBezTo>
                  <a:pt x="337006" y="200025"/>
                  <a:pt x="378619" y="158412"/>
                  <a:pt x="378619" y="107156"/>
                </a:cubicBezTo>
                <a:cubicBezTo>
                  <a:pt x="378619" y="55901"/>
                  <a:pt x="337006" y="14288"/>
                  <a:pt x="285750" y="14288"/>
                </a:cubicBezTo>
                <a:cubicBezTo>
                  <a:pt x="234494" y="14288"/>
                  <a:pt x="192881" y="55901"/>
                  <a:pt x="192881" y="107156"/>
                </a:cubicBezTo>
                <a:cubicBezTo>
                  <a:pt x="192881" y="158412"/>
                  <a:pt x="234494" y="200025"/>
                  <a:pt x="285750" y="200025"/>
                </a:cubicBezTo>
                <a:close/>
                <a:moveTo>
                  <a:pt x="85725" y="207169"/>
                </a:moveTo>
                <a:cubicBezTo>
                  <a:pt x="121210" y="207169"/>
                  <a:pt x="150019" y="178360"/>
                  <a:pt x="150019" y="142875"/>
                </a:cubicBezTo>
                <a:cubicBezTo>
                  <a:pt x="150019" y="107390"/>
                  <a:pt x="121210" y="78581"/>
                  <a:pt x="85725" y="78581"/>
                </a:cubicBezTo>
                <a:cubicBezTo>
                  <a:pt x="50240" y="78581"/>
                  <a:pt x="21431" y="107390"/>
                  <a:pt x="21431" y="142875"/>
                </a:cubicBezTo>
                <a:cubicBezTo>
                  <a:pt x="21431" y="178360"/>
                  <a:pt x="50240" y="207169"/>
                  <a:pt x="85725" y="207169"/>
                </a:cubicBezTo>
                <a:close/>
                <a:moveTo>
                  <a:pt x="0" y="371475"/>
                </a:moveTo>
                <a:lnTo>
                  <a:pt x="0" y="400050"/>
                </a:lnTo>
                <a:cubicBezTo>
                  <a:pt x="0" y="415856"/>
                  <a:pt x="12769" y="428625"/>
                  <a:pt x="28575" y="428625"/>
                </a:cubicBezTo>
                <a:lnTo>
                  <a:pt x="105995" y="428625"/>
                </a:lnTo>
                <a:cubicBezTo>
                  <a:pt x="102156" y="419874"/>
                  <a:pt x="100013" y="410230"/>
                  <a:pt x="100013" y="400050"/>
                </a:cubicBezTo>
                <a:lnTo>
                  <a:pt x="100013" y="385763"/>
                </a:lnTo>
                <a:cubicBezTo>
                  <a:pt x="100013" y="338257"/>
                  <a:pt x="117872" y="294858"/>
                  <a:pt x="147251" y="261997"/>
                </a:cubicBezTo>
                <a:cubicBezTo>
                  <a:pt x="136803" y="258872"/>
                  <a:pt x="125730" y="257175"/>
                  <a:pt x="114300" y="257175"/>
                </a:cubicBezTo>
                <a:cubicBezTo>
                  <a:pt x="51167" y="257175"/>
                  <a:pt x="0" y="308342"/>
                  <a:pt x="0" y="371475"/>
                </a:cubicBezTo>
                <a:close/>
                <a:moveTo>
                  <a:pt x="550069" y="142875"/>
                </a:moveTo>
                <a:cubicBezTo>
                  <a:pt x="550069" y="107390"/>
                  <a:pt x="521260" y="78581"/>
                  <a:pt x="485775" y="78581"/>
                </a:cubicBezTo>
                <a:cubicBezTo>
                  <a:pt x="450290" y="78581"/>
                  <a:pt x="421481" y="107390"/>
                  <a:pt x="421481" y="142875"/>
                </a:cubicBezTo>
                <a:cubicBezTo>
                  <a:pt x="421481" y="178360"/>
                  <a:pt x="450290" y="207169"/>
                  <a:pt x="485775" y="207169"/>
                </a:cubicBezTo>
                <a:cubicBezTo>
                  <a:pt x="521260" y="207169"/>
                  <a:pt x="550069" y="178360"/>
                  <a:pt x="550069" y="142875"/>
                </a:cubicBezTo>
                <a:close/>
                <a:moveTo>
                  <a:pt x="142875" y="385763"/>
                </a:moveTo>
                <a:lnTo>
                  <a:pt x="142875" y="400050"/>
                </a:lnTo>
                <a:cubicBezTo>
                  <a:pt x="142875" y="415856"/>
                  <a:pt x="155644" y="428625"/>
                  <a:pt x="171450" y="428625"/>
                </a:cubicBezTo>
                <a:lnTo>
                  <a:pt x="311468" y="428625"/>
                </a:lnTo>
                <a:cubicBezTo>
                  <a:pt x="305127" y="409337"/>
                  <a:pt x="305842" y="388977"/>
                  <a:pt x="321022" y="371475"/>
                </a:cubicBezTo>
                <a:cubicBezTo>
                  <a:pt x="308521" y="357009"/>
                  <a:pt x="302716" y="336024"/>
                  <a:pt x="310842" y="314950"/>
                </a:cubicBezTo>
                <a:cubicBezTo>
                  <a:pt x="316736" y="299680"/>
                  <a:pt x="325041" y="285393"/>
                  <a:pt x="335310" y="272713"/>
                </a:cubicBezTo>
                <a:cubicBezTo>
                  <a:pt x="340132" y="266819"/>
                  <a:pt x="345668" y="262265"/>
                  <a:pt x="351651" y="258961"/>
                </a:cubicBezTo>
                <a:cubicBezTo>
                  <a:pt x="331916" y="248692"/>
                  <a:pt x="309503" y="242888"/>
                  <a:pt x="285750" y="242888"/>
                </a:cubicBezTo>
                <a:cubicBezTo>
                  <a:pt x="206812" y="242888"/>
                  <a:pt x="142875" y="306824"/>
                  <a:pt x="142875" y="385763"/>
                </a:cubicBezTo>
                <a:close/>
                <a:moveTo>
                  <a:pt x="557748" y="346383"/>
                </a:moveTo>
                <a:cubicBezTo>
                  <a:pt x="563374" y="343168"/>
                  <a:pt x="566231" y="336471"/>
                  <a:pt x="563820" y="330309"/>
                </a:cubicBezTo>
                <a:cubicBezTo>
                  <a:pt x="559534" y="319236"/>
                  <a:pt x="553551" y="308789"/>
                  <a:pt x="546050" y="299591"/>
                </a:cubicBezTo>
                <a:cubicBezTo>
                  <a:pt x="541943" y="294501"/>
                  <a:pt x="534710" y="293608"/>
                  <a:pt x="529084" y="296912"/>
                </a:cubicBezTo>
                <a:cubicBezTo>
                  <a:pt x="509617" y="308164"/>
                  <a:pt x="485686" y="294412"/>
                  <a:pt x="485686" y="271820"/>
                </a:cubicBezTo>
                <a:cubicBezTo>
                  <a:pt x="485686" y="265301"/>
                  <a:pt x="481310" y="259497"/>
                  <a:pt x="474881" y="258514"/>
                </a:cubicBezTo>
                <a:cubicBezTo>
                  <a:pt x="463361" y="256729"/>
                  <a:pt x="450949" y="256729"/>
                  <a:pt x="439430" y="258514"/>
                </a:cubicBezTo>
                <a:cubicBezTo>
                  <a:pt x="433001" y="259497"/>
                  <a:pt x="428625" y="265301"/>
                  <a:pt x="428625" y="271820"/>
                </a:cubicBezTo>
                <a:cubicBezTo>
                  <a:pt x="428625" y="294322"/>
                  <a:pt x="404693" y="308164"/>
                  <a:pt x="385227" y="296912"/>
                </a:cubicBezTo>
                <a:cubicBezTo>
                  <a:pt x="379601" y="293697"/>
                  <a:pt x="372368" y="294590"/>
                  <a:pt x="368260" y="299591"/>
                </a:cubicBezTo>
                <a:cubicBezTo>
                  <a:pt x="360759" y="308789"/>
                  <a:pt x="354776" y="319236"/>
                  <a:pt x="350490" y="330309"/>
                </a:cubicBezTo>
                <a:cubicBezTo>
                  <a:pt x="348169" y="336381"/>
                  <a:pt x="350937" y="343079"/>
                  <a:pt x="356562" y="346293"/>
                </a:cubicBezTo>
                <a:cubicBezTo>
                  <a:pt x="376118" y="357545"/>
                  <a:pt x="376118" y="385137"/>
                  <a:pt x="356562" y="396478"/>
                </a:cubicBezTo>
                <a:cubicBezTo>
                  <a:pt x="350937" y="399693"/>
                  <a:pt x="348079" y="406390"/>
                  <a:pt x="350490" y="412462"/>
                </a:cubicBezTo>
                <a:cubicBezTo>
                  <a:pt x="354776" y="423535"/>
                  <a:pt x="360759" y="433983"/>
                  <a:pt x="368260" y="443180"/>
                </a:cubicBezTo>
                <a:cubicBezTo>
                  <a:pt x="372368" y="448270"/>
                  <a:pt x="379601" y="449163"/>
                  <a:pt x="385227" y="445859"/>
                </a:cubicBezTo>
                <a:cubicBezTo>
                  <a:pt x="404693" y="434608"/>
                  <a:pt x="428625" y="448449"/>
                  <a:pt x="428625" y="470952"/>
                </a:cubicBezTo>
                <a:cubicBezTo>
                  <a:pt x="428625" y="477470"/>
                  <a:pt x="433001" y="483275"/>
                  <a:pt x="439430" y="484257"/>
                </a:cubicBezTo>
                <a:cubicBezTo>
                  <a:pt x="450949" y="486043"/>
                  <a:pt x="463361" y="486043"/>
                  <a:pt x="474881" y="484257"/>
                </a:cubicBezTo>
                <a:cubicBezTo>
                  <a:pt x="481310" y="483275"/>
                  <a:pt x="485686" y="477470"/>
                  <a:pt x="485686" y="470952"/>
                </a:cubicBezTo>
                <a:cubicBezTo>
                  <a:pt x="485686" y="448449"/>
                  <a:pt x="509617" y="434608"/>
                  <a:pt x="529084" y="445859"/>
                </a:cubicBezTo>
                <a:cubicBezTo>
                  <a:pt x="534710" y="449074"/>
                  <a:pt x="541943" y="448181"/>
                  <a:pt x="546050" y="443180"/>
                </a:cubicBezTo>
                <a:cubicBezTo>
                  <a:pt x="553551" y="433983"/>
                  <a:pt x="559534" y="423535"/>
                  <a:pt x="563820" y="412462"/>
                </a:cubicBezTo>
                <a:cubicBezTo>
                  <a:pt x="566142" y="406390"/>
                  <a:pt x="563374" y="399693"/>
                  <a:pt x="557748" y="396478"/>
                </a:cubicBezTo>
                <a:cubicBezTo>
                  <a:pt x="538192" y="385227"/>
                  <a:pt x="538192" y="357634"/>
                  <a:pt x="557748" y="346293"/>
                </a:cubicBezTo>
                <a:close/>
                <a:moveTo>
                  <a:pt x="421481" y="371475"/>
                </a:moveTo>
                <a:cubicBezTo>
                  <a:pt x="421481" y="351761"/>
                  <a:pt x="437486" y="335756"/>
                  <a:pt x="457200" y="335756"/>
                </a:cubicBezTo>
                <a:cubicBezTo>
                  <a:pt x="476914" y="335756"/>
                  <a:pt x="492919" y="351761"/>
                  <a:pt x="492919" y="371475"/>
                </a:cubicBezTo>
                <a:cubicBezTo>
                  <a:pt x="492919" y="391189"/>
                  <a:pt x="476914" y="407194"/>
                  <a:pt x="457200" y="407194"/>
                </a:cubicBezTo>
                <a:cubicBezTo>
                  <a:pt x="437486" y="407194"/>
                  <a:pt x="421481" y="391189"/>
                  <a:pt x="421481" y="371475"/>
                </a:cubicBezTo>
                <a:close/>
              </a:path>
            </a:pathLst>
          </a:custGeom>
          <a:solidFill>
            <a:srgbClr val="58A6FF"/>
          </a:solidFill>
          <a:ln/>
        </p:spPr>
      </p:sp>
      <p:sp>
        <p:nvSpPr>
          <p:cNvPr id="30" name="Text 27"/>
          <p:cNvSpPr/>
          <p:nvPr/>
        </p:nvSpPr>
        <p:spPr>
          <a:xfrm>
            <a:off x="6096000" y="5588000"/>
            <a:ext cx="4064000" cy="355600"/>
          </a:xfrm>
          <a:prstGeom prst="rect">
            <a:avLst/>
          </a:prstGeom>
          <a:noFill/>
          <a:ln/>
        </p:spPr>
        <p:txBody>
          <a:bodyPr wrap="none" lIns="0" tIns="0" rIns="0" bIns="0" rtlCol="0" anchor="ctr"/>
          <a:lstStyle/>
          <a:p>
            <a:pPr>
              <a:lnSpc>
                <a:spcPct val="100000"/>
              </a:lnSpc>
            </a:pPr>
            <a:r>
              <a:rPr lang="en-US" sz="1800" dirty="0">
                <a:solidFill>
                  <a:srgbClr val="58A6FF"/>
                </a:solidFill>
                <a:latin typeface="Arial" panose="020B0604020202020204" pitchFamily="34" charset="0"/>
                <a:ea typeface="Liter" pitchFamily="34" charset="-122"/>
                <a:cs typeface="Arial" panose="020B0604020202020204" pitchFamily="34" charset="0"/>
              </a:rPr>
              <a:t>CONTROL DE ACCESOS</a:t>
            </a:r>
            <a:endParaRPr lang="en-US" sz="1600" dirty="0">
              <a:latin typeface="Arial" panose="020B0604020202020204" pitchFamily="34" charset="0"/>
              <a:cs typeface="Arial" panose="020B0604020202020204" pitchFamily="34" charset="0"/>
            </a:endParaRPr>
          </a:p>
        </p:txBody>
      </p:sp>
      <p:sp>
        <p:nvSpPr>
          <p:cNvPr id="31" name="Text 28"/>
          <p:cNvSpPr/>
          <p:nvPr/>
        </p:nvSpPr>
        <p:spPr>
          <a:xfrm>
            <a:off x="6096000" y="6032500"/>
            <a:ext cx="4064000" cy="1524000"/>
          </a:xfrm>
          <a:prstGeom prst="rect">
            <a:avLst/>
          </a:prstGeom>
          <a:noFill/>
          <a:ln/>
        </p:spPr>
        <p:txBody>
          <a:bodyPr wrap="square" lIns="0" tIns="0" rIns="0" bIns="0" rtlCol="0" anchor="t"/>
          <a:lstStyle/>
          <a:p>
            <a:pPr>
              <a:lnSpc>
                <a:spcPct val="150000"/>
              </a:lnSpc>
            </a:pPr>
            <a:r>
              <a:rPr lang="en-US" sz="1600" dirty="0">
                <a:solidFill>
                  <a:srgbClr val="E6EDF3"/>
                </a:solidFill>
                <a:latin typeface="Arial" panose="020B0604020202020204" pitchFamily="34" charset="0"/>
                <a:ea typeface="QuattrocentoSans" pitchFamily="34" charset="-122"/>
                <a:cs typeface="Arial" panose="020B0604020202020204" pitchFamily="34" charset="0"/>
              </a:rPr>
              <a:t>Usuarios diferenciados por rol. Admin: </a:t>
            </a:r>
            <a:r>
              <a:rPr lang="en-US" sz="1600" dirty="0" err="1">
                <a:solidFill>
                  <a:srgbClr val="E6EDF3"/>
                </a:solidFill>
                <a:latin typeface="Arial" panose="020B0604020202020204" pitchFamily="34" charset="0"/>
                <a:ea typeface="QuattrocentoSans" pitchFamily="34" charset="-122"/>
                <a:cs typeface="Arial" panose="020B0604020202020204" pitchFamily="34" charset="0"/>
              </a:rPr>
              <a:t>acceso</a:t>
            </a:r>
            <a:r>
              <a:rPr lang="en-US" sz="1600" dirty="0">
                <a:solidFill>
                  <a:srgbClr val="E6EDF3"/>
                </a:solidFill>
                <a:latin typeface="Arial" panose="020B0604020202020204" pitchFamily="34" charset="0"/>
                <a:ea typeface="QuattrocentoSans" pitchFamily="34" charset="-122"/>
                <a:cs typeface="Arial" panose="020B0604020202020204" pitchFamily="34" charset="0"/>
              </a:rPr>
              <a:t> total. App: permisos restringidos a su función</a:t>
            </a:r>
            <a:endParaRPr lang="en-US" sz="1800" dirty="0">
              <a:latin typeface="Arial" panose="020B0604020202020204" pitchFamily="34" charset="0"/>
              <a:cs typeface="Arial" panose="020B0604020202020204" pitchFamily="34" charset="0"/>
            </a:endParaRPr>
          </a:p>
        </p:txBody>
      </p:sp>
      <p:sp>
        <p:nvSpPr>
          <p:cNvPr id="32" name="Shape 29"/>
          <p:cNvSpPr/>
          <p:nvPr/>
        </p:nvSpPr>
        <p:spPr>
          <a:xfrm>
            <a:off x="10795000" y="4699000"/>
            <a:ext cx="4699000" cy="3048000"/>
          </a:xfrm>
          <a:prstGeom prst="roundRect">
            <a:avLst>
              <a:gd name="adj" fmla="val 8000"/>
            </a:avLst>
          </a:prstGeom>
          <a:solidFill>
            <a:srgbClr val="00E5A0">
              <a:alpha val="6275"/>
            </a:srgbClr>
          </a:solidFill>
          <a:ln w="12700">
            <a:solidFill>
              <a:srgbClr val="00E5A0"/>
            </a:solidFill>
            <a:prstDash val="solid"/>
          </a:ln>
        </p:spPr>
      </p:sp>
      <p:sp>
        <p:nvSpPr>
          <p:cNvPr id="33" name="Shape 30"/>
          <p:cNvSpPr/>
          <p:nvPr/>
        </p:nvSpPr>
        <p:spPr>
          <a:xfrm>
            <a:off x="12725400" y="5080000"/>
            <a:ext cx="711200" cy="711200"/>
          </a:xfrm>
          <a:custGeom>
            <a:avLst/>
            <a:gdLst/>
            <a:ahLst/>
            <a:cxnLst/>
            <a:rect l="l" t="t" r="r" b="b"/>
            <a:pathLst>
              <a:path w="711200" h="711200">
                <a:moveTo>
                  <a:pt x="355600" y="0"/>
                </a:moveTo>
                <a:cubicBezTo>
                  <a:pt x="361990" y="0"/>
                  <a:pt x="368379" y="1389"/>
                  <a:pt x="374213" y="4028"/>
                </a:cubicBezTo>
                <a:lnTo>
                  <a:pt x="635913" y="115014"/>
                </a:lnTo>
                <a:cubicBezTo>
                  <a:pt x="666472" y="127933"/>
                  <a:pt x="689253" y="158075"/>
                  <a:pt x="689114" y="194469"/>
                </a:cubicBezTo>
                <a:cubicBezTo>
                  <a:pt x="688419" y="332264"/>
                  <a:pt x="631746" y="584379"/>
                  <a:pt x="392410" y="698976"/>
                </a:cubicBezTo>
                <a:cubicBezTo>
                  <a:pt x="369213" y="710089"/>
                  <a:pt x="342265" y="710089"/>
                  <a:pt x="319068" y="698976"/>
                </a:cubicBezTo>
                <a:cubicBezTo>
                  <a:pt x="79593" y="584379"/>
                  <a:pt x="23058" y="332264"/>
                  <a:pt x="22364" y="194469"/>
                </a:cubicBezTo>
                <a:cubicBezTo>
                  <a:pt x="22225" y="158075"/>
                  <a:pt x="45006" y="127933"/>
                  <a:pt x="75565" y="115014"/>
                </a:cubicBezTo>
                <a:lnTo>
                  <a:pt x="337125" y="4028"/>
                </a:lnTo>
                <a:cubicBezTo>
                  <a:pt x="342960" y="1389"/>
                  <a:pt x="349210" y="0"/>
                  <a:pt x="355600" y="0"/>
                </a:cubicBezTo>
                <a:close/>
                <a:moveTo>
                  <a:pt x="355600" y="92789"/>
                </a:moveTo>
                <a:lnTo>
                  <a:pt x="355600" y="617994"/>
                </a:lnTo>
                <a:cubicBezTo>
                  <a:pt x="547291" y="525205"/>
                  <a:pt x="598825" y="319623"/>
                  <a:pt x="600075" y="196552"/>
                </a:cubicBezTo>
                <a:lnTo>
                  <a:pt x="355600" y="92928"/>
                </a:lnTo>
                <a:lnTo>
                  <a:pt x="355600" y="92928"/>
                </a:lnTo>
                <a:close/>
              </a:path>
            </a:pathLst>
          </a:custGeom>
          <a:solidFill>
            <a:srgbClr val="00E5A0"/>
          </a:solidFill>
          <a:ln/>
        </p:spPr>
      </p:sp>
      <p:sp>
        <p:nvSpPr>
          <p:cNvPr id="34" name="Text 31"/>
          <p:cNvSpPr/>
          <p:nvPr/>
        </p:nvSpPr>
        <p:spPr>
          <a:xfrm>
            <a:off x="11112500" y="5969000"/>
            <a:ext cx="4064000" cy="355600"/>
          </a:xfrm>
          <a:prstGeom prst="rect">
            <a:avLst/>
          </a:prstGeom>
          <a:noFill/>
          <a:ln/>
        </p:spPr>
        <p:txBody>
          <a:bodyPr wrap="none" lIns="0" tIns="0" rIns="0" bIns="0" rtlCol="0" anchor="ctr"/>
          <a:lstStyle/>
          <a:p>
            <a:pPr algn="ctr">
              <a:lnSpc>
                <a:spcPct val="100000"/>
              </a:lnSpc>
            </a:pPr>
            <a:r>
              <a:rPr lang="en-US" sz="1800" dirty="0">
                <a:solidFill>
                  <a:srgbClr val="00E5A0"/>
                </a:solidFill>
                <a:latin typeface="Arial" panose="020B0604020202020204" pitchFamily="34" charset="0"/>
                <a:ea typeface="Liter" pitchFamily="34" charset="-122"/>
                <a:cs typeface="Arial" panose="020B0604020202020204" pitchFamily="34" charset="0"/>
              </a:rPr>
              <a:t>DEFENSA EN PROFUNDIDAD</a:t>
            </a:r>
            <a:endParaRPr lang="en-US" sz="1600" dirty="0">
              <a:latin typeface="Arial" panose="020B0604020202020204" pitchFamily="34" charset="0"/>
              <a:cs typeface="Arial" panose="020B0604020202020204" pitchFamily="34" charset="0"/>
            </a:endParaRPr>
          </a:p>
        </p:txBody>
      </p:sp>
      <p:sp>
        <p:nvSpPr>
          <p:cNvPr id="35" name="Text 32"/>
          <p:cNvSpPr/>
          <p:nvPr/>
        </p:nvSpPr>
        <p:spPr>
          <a:xfrm>
            <a:off x="11112500" y="6413500"/>
            <a:ext cx="4064000" cy="1016000"/>
          </a:xfrm>
          <a:prstGeom prst="rect">
            <a:avLst/>
          </a:prstGeom>
          <a:noFill/>
          <a:ln/>
        </p:spPr>
        <p:txBody>
          <a:bodyPr wrap="square" lIns="0" tIns="0" rIns="0" bIns="0" rtlCol="0" anchor="t"/>
          <a:lstStyle/>
          <a:p>
            <a:pPr algn="ctr">
              <a:lnSpc>
                <a:spcPct val="150000"/>
              </a:lnSpc>
            </a:pPr>
            <a:r>
              <a:rPr lang="en-US" sz="1500" dirty="0">
                <a:solidFill>
                  <a:srgbClr val="E6EDF3"/>
                </a:solidFill>
                <a:latin typeface="Arial" panose="020B0604020202020204" pitchFamily="34" charset="0"/>
                <a:ea typeface="QuattrocentoSans" pitchFamily="34" charset="-122"/>
                <a:cs typeface="Arial" panose="020B0604020202020204" pitchFamily="34" charset="0"/>
              </a:rPr>
              <a:t>Múltiples capas de seguridad que protegen la infraestructura integralmente</a:t>
            </a:r>
            <a:endParaRPr lang="en-US" sz="1800" dirty="0">
              <a:latin typeface="Arial" panose="020B0604020202020204" pitchFamily="34" charset="0"/>
              <a:cs typeface="Arial" panose="020B0604020202020204" pitchFamily="34" charset="0"/>
            </a:endParaRPr>
          </a:p>
        </p:txBody>
      </p:sp>
      <p:sp>
        <p:nvSpPr>
          <p:cNvPr id="36" name="Text 33"/>
          <p:cNvSpPr/>
          <p:nvPr/>
        </p:nvSpPr>
        <p:spPr>
          <a:xfrm>
            <a:off x="15240000" y="8763000"/>
            <a:ext cx="635000" cy="254000"/>
          </a:xfrm>
          <a:prstGeom prst="rect">
            <a:avLst/>
          </a:prstGeom>
          <a:noFill/>
          <a:ln/>
        </p:spPr>
        <p:txBody>
          <a:bodyPr wrap="none" lIns="0" tIns="0" rIns="0" bIns="0" rtlCol="0" anchor="ctr"/>
          <a:lstStyle/>
          <a:p>
            <a:pPr algn="r">
              <a:lnSpc>
                <a:spcPct val="140000"/>
              </a:lnSpc>
            </a:pPr>
            <a:r>
              <a:rPr lang="en-US" sz="1400" dirty="0">
                <a:solidFill>
                  <a:srgbClr val="8B949E"/>
                </a:solidFill>
                <a:latin typeface="Arial" panose="020B0604020202020204" pitchFamily="34" charset="0"/>
                <a:ea typeface="QuattrocentoSans" pitchFamily="34" charset="-122"/>
                <a:cs typeface="Arial" panose="020B0604020202020204" pitchFamily="34" charset="0"/>
              </a:rPr>
              <a:t>05</a:t>
            </a:r>
            <a:endParaRPr lang="en-US" sz="1400" dirty="0">
              <a:latin typeface="Arial" panose="020B0604020202020204" pitchFamily="34" charset="0"/>
              <a:cs typeface="Arial" panose="020B0604020202020204" pitchFamily="34" charset="0"/>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3" name="Shape 0"/>
          <p:cNvSpPr/>
          <p:nvPr/>
        </p:nvSpPr>
        <p:spPr>
          <a:xfrm>
            <a:off x="0" y="0"/>
            <a:ext cx="16256000" cy="38100"/>
          </a:xfrm>
          <a:prstGeom prst="rect">
            <a:avLst/>
          </a:prstGeom>
          <a:solidFill>
            <a:srgbClr val="00E5A0"/>
          </a:solidFill>
          <a:ln/>
        </p:spPr>
      </p:sp>
      <p:sp>
        <p:nvSpPr>
          <p:cNvPr id="4" name="Text 1"/>
          <p:cNvSpPr/>
          <p:nvPr/>
        </p:nvSpPr>
        <p:spPr>
          <a:xfrm>
            <a:off x="762000" y="381000"/>
            <a:ext cx="8890000" cy="508000"/>
          </a:xfrm>
          <a:prstGeom prst="rect">
            <a:avLst/>
          </a:prstGeom>
          <a:noFill/>
          <a:ln/>
        </p:spPr>
        <p:txBody>
          <a:bodyPr wrap="none" lIns="0" tIns="0" rIns="0" bIns="0" rtlCol="0" anchor="ctr"/>
          <a:lstStyle/>
          <a:p>
            <a:pPr>
              <a:lnSpc>
                <a:spcPct val="120000"/>
              </a:lnSpc>
            </a:pPr>
            <a:r>
              <a:rPr lang="en-US" sz="3000" kern="0" spc="200" dirty="0">
                <a:solidFill>
                  <a:srgbClr val="00E5A0"/>
                </a:solidFill>
                <a:latin typeface="Arial" panose="020B0604020202020204" pitchFamily="34" charset="0"/>
                <a:ea typeface="Liter" pitchFamily="34" charset="-122"/>
                <a:cs typeface="Arial" panose="020B0604020202020204" pitchFamily="34" charset="0"/>
              </a:rPr>
              <a:t>BASE DE DATOS Y SERVICIOS</a:t>
            </a:r>
            <a:endParaRPr lang="en-US" sz="3000" dirty="0">
              <a:latin typeface="Arial" panose="020B0604020202020204" pitchFamily="34" charset="0"/>
              <a:cs typeface="Arial" panose="020B0604020202020204" pitchFamily="34" charset="0"/>
            </a:endParaRPr>
          </a:p>
        </p:txBody>
      </p:sp>
      <p:sp>
        <p:nvSpPr>
          <p:cNvPr id="5" name="Shape 2"/>
          <p:cNvSpPr/>
          <p:nvPr/>
        </p:nvSpPr>
        <p:spPr>
          <a:xfrm>
            <a:off x="762000" y="952500"/>
            <a:ext cx="1524000" cy="38100"/>
          </a:xfrm>
          <a:prstGeom prst="rect">
            <a:avLst/>
          </a:prstGeom>
          <a:solidFill>
            <a:srgbClr val="00E5A0"/>
          </a:solidFill>
          <a:ln/>
        </p:spPr>
      </p:sp>
      <p:sp>
        <p:nvSpPr>
          <p:cNvPr id="6" name="Shape 3"/>
          <p:cNvSpPr/>
          <p:nvPr/>
        </p:nvSpPr>
        <p:spPr>
          <a:xfrm>
            <a:off x="1055688" y="1397000"/>
            <a:ext cx="555625" cy="635000"/>
          </a:xfrm>
          <a:custGeom>
            <a:avLst/>
            <a:gdLst/>
            <a:ahLst/>
            <a:cxnLst/>
            <a:rect l="l" t="t" r="r" b="b"/>
            <a:pathLst>
              <a:path w="555625" h="635000">
                <a:moveTo>
                  <a:pt x="555625" y="255240"/>
                </a:moveTo>
                <a:cubicBezTo>
                  <a:pt x="537270" y="267395"/>
                  <a:pt x="516186" y="277192"/>
                  <a:pt x="494233" y="285006"/>
                </a:cubicBezTo>
                <a:cubicBezTo>
                  <a:pt x="435942" y="305842"/>
                  <a:pt x="359420" y="317500"/>
                  <a:pt x="277813" y="317500"/>
                </a:cubicBezTo>
                <a:cubicBezTo>
                  <a:pt x="196205" y="317500"/>
                  <a:pt x="119559" y="305718"/>
                  <a:pt x="61392" y="285006"/>
                </a:cubicBezTo>
                <a:cubicBezTo>
                  <a:pt x="39563" y="277192"/>
                  <a:pt x="18355" y="267395"/>
                  <a:pt x="0" y="255240"/>
                </a:cubicBezTo>
                <a:lnTo>
                  <a:pt x="0" y="357188"/>
                </a:lnTo>
                <a:cubicBezTo>
                  <a:pt x="0" y="412006"/>
                  <a:pt x="124396" y="456406"/>
                  <a:pt x="277813" y="456406"/>
                </a:cubicBezTo>
                <a:cubicBezTo>
                  <a:pt x="431229" y="456406"/>
                  <a:pt x="555625" y="412006"/>
                  <a:pt x="555625" y="357188"/>
                </a:cubicBezTo>
                <a:lnTo>
                  <a:pt x="555625" y="255240"/>
                </a:lnTo>
                <a:close/>
                <a:moveTo>
                  <a:pt x="555625" y="158750"/>
                </a:moveTo>
                <a:lnTo>
                  <a:pt x="555625" y="99219"/>
                </a:lnTo>
                <a:cubicBezTo>
                  <a:pt x="555625" y="44400"/>
                  <a:pt x="431229" y="0"/>
                  <a:pt x="277813" y="0"/>
                </a:cubicBezTo>
                <a:cubicBezTo>
                  <a:pt x="124396" y="0"/>
                  <a:pt x="0" y="44400"/>
                  <a:pt x="0" y="99219"/>
                </a:cubicBezTo>
                <a:lnTo>
                  <a:pt x="0" y="158750"/>
                </a:lnTo>
                <a:cubicBezTo>
                  <a:pt x="0" y="213568"/>
                  <a:pt x="124396" y="257969"/>
                  <a:pt x="277813" y="257969"/>
                </a:cubicBezTo>
                <a:cubicBezTo>
                  <a:pt x="431229" y="257969"/>
                  <a:pt x="555625" y="213568"/>
                  <a:pt x="555625" y="158750"/>
                </a:cubicBezTo>
                <a:close/>
                <a:moveTo>
                  <a:pt x="494233" y="483443"/>
                </a:moveTo>
                <a:cubicBezTo>
                  <a:pt x="436066" y="504155"/>
                  <a:pt x="359544" y="515937"/>
                  <a:pt x="277813" y="515937"/>
                </a:cubicBezTo>
                <a:cubicBezTo>
                  <a:pt x="196081" y="515937"/>
                  <a:pt x="119559" y="504155"/>
                  <a:pt x="61392" y="483443"/>
                </a:cubicBezTo>
                <a:cubicBezTo>
                  <a:pt x="39563" y="475630"/>
                  <a:pt x="18355" y="465832"/>
                  <a:pt x="0" y="453678"/>
                </a:cubicBezTo>
                <a:lnTo>
                  <a:pt x="0" y="535781"/>
                </a:lnTo>
                <a:cubicBezTo>
                  <a:pt x="0" y="590600"/>
                  <a:pt x="124396" y="635000"/>
                  <a:pt x="277813" y="635000"/>
                </a:cubicBezTo>
                <a:cubicBezTo>
                  <a:pt x="431229" y="635000"/>
                  <a:pt x="555625" y="590600"/>
                  <a:pt x="555625" y="535781"/>
                </a:cubicBezTo>
                <a:lnTo>
                  <a:pt x="555625" y="453678"/>
                </a:lnTo>
                <a:cubicBezTo>
                  <a:pt x="537270" y="465832"/>
                  <a:pt x="516186" y="475630"/>
                  <a:pt x="494233" y="483443"/>
                </a:cubicBezTo>
                <a:close/>
              </a:path>
            </a:pathLst>
          </a:custGeom>
          <a:solidFill>
            <a:srgbClr val="00E5A0"/>
          </a:solidFill>
          <a:ln/>
        </p:spPr>
      </p:sp>
      <p:sp>
        <p:nvSpPr>
          <p:cNvPr id="7" name="Text 4"/>
          <p:cNvSpPr/>
          <p:nvPr/>
        </p:nvSpPr>
        <p:spPr>
          <a:xfrm>
            <a:off x="1841500" y="1397000"/>
            <a:ext cx="5080000" cy="381000"/>
          </a:xfrm>
          <a:prstGeom prst="rect">
            <a:avLst/>
          </a:prstGeom>
          <a:noFill/>
          <a:ln/>
        </p:spPr>
        <p:txBody>
          <a:bodyPr wrap="none" lIns="0" tIns="0" rIns="0" bIns="0" rtlCol="0" anchor="ctr"/>
          <a:lstStyle/>
          <a:p>
            <a:pPr>
              <a:lnSpc>
                <a:spcPct val="100000"/>
              </a:lnSpc>
            </a:pPr>
            <a:r>
              <a:rPr lang="en-US" sz="2200" dirty="0">
                <a:solidFill>
                  <a:srgbClr val="00E5A0"/>
                </a:solidFill>
                <a:latin typeface="Arial" panose="020B0604020202020204" pitchFamily="34" charset="0"/>
                <a:ea typeface="Liter" pitchFamily="34" charset="-122"/>
                <a:cs typeface="Arial" panose="020B0604020202020204" pitchFamily="34" charset="0"/>
              </a:rPr>
              <a:t>MariaDB Server</a:t>
            </a:r>
            <a:endParaRPr lang="en-US" sz="1600" dirty="0">
              <a:latin typeface="Arial" panose="020B0604020202020204" pitchFamily="34" charset="0"/>
              <a:cs typeface="Arial" panose="020B0604020202020204" pitchFamily="34" charset="0"/>
            </a:endParaRPr>
          </a:p>
        </p:txBody>
      </p:sp>
      <p:sp>
        <p:nvSpPr>
          <p:cNvPr id="8" name="Text 5"/>
          <p:cNvSpPr/>
          <p:nvPr/>
        </p:nvSpPr>
        <p:spPr>
          <a:xfrm>
            <a:off x="1841500" y="1803400"/>
            <a:ext cx="5080000" cy="304800"/>
          </a:xfrm>
          <a:prstGeom prst="rect">
            <a:avLst/>
          </a:prstGeom>
          <a:noFill/>
          <a:ln/>
        </p:spPr>
        <p:txBody>
          <a:bodyPr wrap="none" lIns="0" tIns="0" rIns="0" bIns="0" rtlCol="0" anchor="ctr"/>
          <a:lstStyle/>
          <a:p>
            <a:pPr>
              <a:lnSpc>
                <a:spcPct val="140000"/>
              </a:lnSpc>
            </a:pPr>
            <a:r>
              <a:rPr lang="en-US" sz="1400" dirty="0">
                <a:solidFill>
                  <a:srgbClr val="8B949E"/>
                </a:solidFill>
                <a:latin typeface="Arial" panose="020B0604020202020204" pitchFamily="34" charset="0"/>
                <a:ea typeface="QuattrocentoSans" pitchFamily="34" charset="-122"/>
                <a:cs typeface="Arial" panose="020B0604020202020204" pitchFamily="34" charset="0"/>
              </a:rPr>
              <a:t>Sistema de gestión de bases de datos relacional</a:t>
            </a:r>
            <a:endParaRPr lang="en-US" sz="1400" dirty="0">
              <a:latin typeface="Arial" panose="020B0604020202020204" pitchFamily="34" charset="0"/>
              <a:cs typeface="Arial" panose="020B0604020202020204" pitchFamily="34" charset="0"/>
            </a:endParaRPr>
          </a:p>
        </p:txBody>
      </p:sp>
      <p:sp>
        <p:nvSpPr>
          <p:cNvPr id="9" name="Shape 6"/>
          <p:cNvSpPr/>
          <p:nvPr/>
        </p:nvSpPr>
        <p:spPr>
          <a:xfrm>
            <a:off x="762000" y="2349500"/>
            <a:ext cx="7112000" cy="3302000"/>
          </a:xfrm>
          <a:prstGeom prst="roundRect">
            <a:avLst>
              <a:gd name="adj" fmla="val 8000"/>
            </a:avLst>
          </a:prstGeom>
          <a:solidFill>
            <a:srgbClr val="161B22"/>
          </a:solidFill>
          <a:ln w="12700">
            <a:solidFill>
              <a:srgbClr val="30363D"/>
            </a:solidFill>
            <a:prstDash val="solid"/>
          </a:ln>
        </p:spPr>
      </p:sp>
      <p:sp>
        <p:nvSpPr>
          <p:cNvPr id="10" name="Text 7"/>
          <p:cNvSpPr/>
          <p:nvPr/>
        </p:nvSpPr>
        <p:spPr>
          <a:xfrm>
            <a:off x="1079500" y="2540000"/>
            <a:ext cx="3810000" cy="355600"/>
          </a:xfrm>
          <a:prstGeom prst="rect">
            <a:avLst/>
          </a:prstGeom>
          <a:noFill/>
          <a:ln/>
        </p:spPr>
        <p:txBody>
          <a:bodyPr wrap="none" lIns="0" tIns="0" rIns="0" bIns="0" rtlCol="0" anchor="ctr"/>
          <a:lstStyle/>
          <a:p>
            <a:pPr>
              <a:lnSpc>
                <a:spcPct val="100000"/>
              </a:lnSpc>
            </a:pPr>
            <a:r>
              <a:rPr lang="en-US" sz="1600" dirty="0">
                <a:solidFill>
                  <a:srgbClr val="00E5A0"/>
                </a:solidFill>
                <a:latin typeface="Arial" panose="020B0604020202020204" pitchFamily="34" charset="0"/>
                <a:ea typeface="Liter" pitchFamily="34" charset="-122"/>
                <a:cs typeface="Arial" panose="020B0604020202020204" pitchFamily="34" charset="0"/>
              </a:rPr>
              <a:t>ESQUEMA DE BASE DE DATOS</a:t>
            </a:r>
            <a:endParaRPr lang="en-US" sz="1600" dirty="0">
              <a:latin typeface="Arial" panose="020B0604020202020204" pitchFamily="34" charset="0"/>
              <a:cs typeface="Arial" panose="020B0604020202020204" pitchFamily="34" charset="0"/>
            </a:endParaRPr>
          </a:p>
        </p:txBody>
      </p:sp>
      <p:sp>
        <p:nvSpPr>
          <p:cNvPr id="11" name="Text 8"/>
          <p:cNvSpPr/>
          <p:nvPr/>
        </p:nvSpPr>
        <p:spPr>
          <a:xfrm>
            <a:off x="1079500" y="2984500"/>
            <a:ext cx="6477000" cy="2413000"/>
          </a:xfrm>
          <a:prstGeom prst="rect">
            <a:avLst/>
          </a:prstGeom>
          <a:noFill/>
          <a:ln/>
        </p:spPr>
        <p:txBody>
          <a:bodyPr wrap="square" lIns="0" tIns="0" rIns="0" bIns="0" rtlCol="0" anchor="t"/>
          <a:lstStyle/>
          <a:p>
            <a:pPr>
              <a:lnSpc>
                <a:spcPct val="160000"/>
              </a:lnSpc>
            </a:pPr>
            <a:r>
              <a:rPr lang="en-US" sz="1500" dirty="0">
                <a:solidFill>
                  <a:srgbClr val="00E5A0"/>
                </a:solidFill>
                <a:latin typeface="Arial" panose="020B0604020202020204" pitchFamily="34" charset="0"/>
                <a:ea typeface="Quattrocento Sans" pitchFamily="34" charset="-122"/>
                <a:cs typeface="Arial" panose="020B0604020202020204" pitchFamily="34" charset="0"/>
              </a:rPr>
              <a:t>examenes_db</a:t>
            </a:r>
            <a:endParaRPr lang="en-US" sz="1600" dirty="0">
              <a:latin typeface="Arial" panose="020B0604020202020204" pitchFamily="34" charset="0"/>
              <a:cs typeface="Arial" panose="020B0604020202020204" pitchFamily="34" charset="0"/>
            </a:endParaRPr>
          </a:p>
          <a:p>
            <a:pPr>
              <a:lnSpc>
                <a:spcPct val="160000"/>
              </a:lnSpc>
            </a:pPr>
            <a:r>
              <a:rPr lang="en-US" sz="1500" dirty="0">
                <a:solidFill>
                  <a:srgbClr val="E6EDF3"/>
                </a:solidFill>
                <a:latin typeface="Arial" panose="020B0604020202020204" pitchFamily="34" charset="0"/>
                <a:ea typeface="Quattrocento Sans" pitchFamily="34" charset="-122"/>
                <a:cs typeface="Arial" panose="020B0604020202020204" pitchFamily="34" charset="0"/>
              </a:rPr>
              <a:t>├── </a:t>
            </a:r>
            <a:r>
              <a:rPr lang="en-US" sz="1500" dirty="0">
                <a:solidFill>
                  <a:srgbClr val="58A6FF"/>
                </a:solidFill>
                <a:latin typeface="Arial" panose="020B0604020202020204" pitchFamily="34" charset="0"/>
                <a:ea typeface="Quattrocento Sans" pitchFamily="34" charset="-122"/>
                <a:cs typeface="Arial" panose="020B0604020202020204" pitchFamily="34" charset="0"/>
              </a:rPr>
              <a:t>usuarios</a:t>
            </a:r>
            <a:r>
              <a:rPr lang="en-US" sz="1500" dirty="0">
                <a:solidFill>
                  <a:srgbClr val="E6EDF3"/>
                </a:solidFill>
                <a:latin typeface="Arial" panose="020B0604020202020204" pitchFamily="34" charset="0"/>
                <a:ea typeface="Quattrocento Sans" pitchFamily="34" charset="-122"/>
                <a:cs typeface="Arial" panose="020B0604020202020204" pitchFamily="34" charset="0"/>
              </a:rPr>
              <a:t> (id, nombre, email, rol, password_hash)</a:t>
            </a:r>
            <a:endParaRPr lang="en-US" sz="1600" dirty="0">
              <a:latin typeface="Arial" panose="020B0604020202020204" pitchFamily="34" charset="0"/>
              <a:cs typeface="Arial" panose="020B0604020202020204" pitchFamily="34" charset="0"/>
            </a:endParaRPr>
          </a:p>
          <a:p>
            <a:pPr>
              <a:lnSpc>
                <a:spcPct val="160000"/>
              </a:lnSpc>
            </a:pPr>
            <a:r>
              <a:rPr lang="en-US" sz="1500" dirty="0">
                <a:solidFill>
                  <a:srgbClr val="E6EDF3"/>
                </a:solidFill>
                <a:latin typeface="Arial" panose="020B0604020202020204" pitchFamily="34" charset="0"/>
                <a:ea typeface="Quattrocento Sans" pitchFamily="34" charset="-122"/>
                <a:cs typeface="Arial" panose="020B0604020202020204" pitchFamily="34" charset="0"/>
              </a:rPr>
              <a:t>├── </a:t>
            </a:r>
            <a:r>
              <a:rPr lang="en-US" sz="1500" dirty="0">
                <a:solidFill>
                  <a:srgbClr val="58A6FF"/>
                </a:solidFill>
                <a:latin typeface="Arial" panose="020B0604020202020204" pitchFamily="34" charset="0"/>
                <a:ea typeface="Quattrocento Sans" pitchFamily="34" charset="-122"/>
                <a:cs typeface="Arial" panose="020B0604020202020204" pitchFamily="34" charset="0"/>
              </a:rPr>
              <a:t>examenes</a:t>
            </a:r>
            <a:r>
              <a:rPr lang="en-US" sz="1500" dirty="0">
                <a:solidFill>
                  <a:srgbClr val="E6EDF3"/>
                </a:solidFill>
                <a:latin typeface="Arial" panose="020B0604020202020204" pitchFamily="34" charset="0"/>
                <a:ea typeface="Quattrocento Sans" pitchFamily="34" charset="-122"/>
                <a:cs typeface="Arial" panose="020B0604020202020204" pitchFamily="34" charset="0"/>
              </a:rPr>
              <a:t> (id, titulo, descripcion, fecha_inicio, fecha_fin)</a:t>
            </a:r>
            <a:endParaRPr lang="en-US" sz="1600" dirty="0">
              <a:latin typeface="Arial" panose="020B0604020202020204" pitchFamily="34" charset="0"/>
              <a:cs typeface="Arial" panose="020B0604020202020204" pitchFamily="34" charset="0"/>
            </a:endParaRPr>
          </a:p>
          <a:p>
            <a:pPr>
              <a:lnSpc>
                <a:spcPct val="160000"/>
              </a:lnSpc>
            </a:pPr>
            <a:r>
              <a:rPr lang="en-US" sz="1500" dirty="0">
                <a:solidFill>
                  <a:srgbClr val="E6EDF3"/>
                </a:solidFill>
                <a:latin typeface="Arial" panose="020B0604020202020204" pitchFamily="34" charset="0"/>
                <a:ea typeface="Quattrocento Sans" pitchFamily="34" charset="-122"/>
                <a:cs typeface="Arial" panose="020B0604020202020204" pitchFamily="34" charset="0"/>
              </a:rPr>
              <a:t>├── </a:t>
            </a:r>
            <a:r>
              <a:rPr lang="en-US" sz="1500" dirty="0">
                <a:solidFill>
                  <a:srgbClr val="58A6FF"/>
                </a:solidFill>
                <a:latin typeface="Arial" panose="020B0604020202020204" pitchFamily="34" charset="0"/>
                <a:ea typeface="Quattrocento Sans" pitchFamily="34" charset="-122"/>
                <a:cs typeface="Arial" panose="020B0604020202020204" pitchFamily="34" charset="0"/>
              </a:rPr>
              <a:t>preguntas</a:t>
            </a:r>
            <a:r>
              <a:rPr lang="en-US" sz="1500" dirty="0">
                <a:solidFill>
                  <a:srgbClr val="E6EDF3"/>
                </a:solidFill>
                <a:latin typeface="Arial" panose="020B0604020202020204" pitchFamily="34" charset="0"/>
                <a:ea typeface="Quattrocento Sans" pitchFamily="34" charset="-122"/>
                <a:cs typeface="Arial" panose="020B0604020202020204" pitchFamily="34" charset="0"/>
              </a:rPr>
              <a:t> (id, examen_id, enunciado, tipo, puntaje)</a:t>
            </a:r>
            <a:endParaRPr lang="en-US" sz="1600" dirty="0">
              <a:latin typeface="Arial" panose="020B0604020202020204" pitchFamily="34" charset="0"/>
              <a:cs typeface="Arial" panose="020B0604020202020204" pitchFamily="34" charset="0"/>
            </a:endParaRPr>
          </a:p>
          <a:p>
            <a:pPr>
              <a:lnSpc>
                <a:spcPct val="160000"/>
              </a:lnSpc>
            </a:pPr>
            <a:r>
              <a:rPr lang="en-US" sz="1500" dirty="0">
                <a:solidFill>
                  <a:srgbClr val="E6EDF3"/>
                </a:solidFill>
                <a:latin typeface="Arial" panose="020B0604020202020204" pitchFamily="34" charset="0"/>
                <a:ea typeface="Quattrocento Sans" pitchFamily="34" charset="-122"/>
                <a:cs typeface="Arial" panose="020B0604020202020204" pitchFamily="34" charset="0"/>
              </a:rPr>
              <a:t>├── </a:t>
            </a:r>
            <a:r>
              <a:rPr lang="en-US" sz="1500" dirty="0">
                <a:solidFill>
                  <a:srgbClr val="58A6FF"/>
                </a:solidFill>
                <a:latin typeface="Arial" panose="020B0604020202020204" pitchFamily="34" charset="0"/>
                <a:ea typeface="Quattrocento Sans" pitchFamily="34" charset="-122"/>
                <a:cs typeface="Arial" panose="020B0604020202020204" pitchFamily="34" charset="0"/>
              </a:rPr>
              <a:t>respuestas</a:t>
            </a:r>
            <a:r>
              <a:rPr lang="en-US" sz="1500" dirty="0">
                <a:solidFill>
                  <a:srgbClr val="E6EDF3"/>
                </a:solidFill>
                <a:latin typeface="Arial" panose="020B0604020202020204" pitchFamily="34" charset="0"/>
                <a:ea typeface="Quattrocento Sans" pitchFamily="34" charset="-122"/>
                <a:cs typeface="Arial" panose="020B0604020202020204" pitchFamily="34" charset="0"/>
              </a:rPr>
              <a:t> (id, pregunta_id, estudiante_id, contenido)</a:t>
            </a:r>
            <a:endParaRPr lang="en-US" sz="1600" dirty="0">
              <a:latin typeface="Arial" panose="020B0604020202020204" pitchFamily="34" charset="0"/>
              <a:cs typeface="Arial" panose="020B0604020202020204" pitchFamily="34" charset="0"/>
            </a:endParaRPr>
          </a:p>
          <a:p>
            <a:pPr>
              <a:lnSpc>
                <a:spcPct val="160000"/>
              </a:lnSpc>
            </a:pPr>
            <a:r>
              <a:rPr lang="en-US" sz="1500" dirty="0">
                <a:solidFill>
                  <a:srgbClr val="E6EDF3"/>
                </a:solidFill>
                <a:latin typeface="Arial" panose="020B0604020202020204" pitchFamily="34" charset="0"/>
                <a:ea typeface="Quattrocento Sans" pitchFamily="34" charset="-122"/>
                <a:cs typeface="Arial" panose="020B0604020202020204" pitchFamily="34" charset="0"/>
              </a:rPr>
              <a:t>└── </a:t>
            </a:r>
            <a:r>
              <a:rPr lang="en-US" sz="1500" dirty="0">
                <a:solidFill>
                  <a:srgbClr val="58A6FF"/>
                </a:solidFill>
                <a:latin typeface="Arial" panose="020B0604020202020204" pitchFamily="34" charset="0"/>
                <a:ea typeface="Quattrocento Sans" pitchFamily="34" charset="-122"/>
                <a:cs typeface="Arial" panose="020B0604020202020204" pitchFamily="34" charset="0"/>
              </a:rPr>
              <a:t>resultados</a:t>
            </a:r>
            <a:r>
              <a:rPr lang="en-US" sz="1500" dirty="0">
                <a:solidFill>
                  <a:srgbClr val="E6EDF3"/>
                </a:solidFill>
                <a:latin typeface="Arial" panose="020B0604020202020204" pitchFamily="34" charset="0"/>
                <a:ea typeface="Quattrocento Sans" pitchFamily="34" charset="-122"/>
                <a:cs typeface="Arial" panose="020B0604020202020204" pitchFamily="34" charset="0"/>
              </a:rPr>
              <a:t> (id, examen_id, estudiante_id, puntaje_total)</a:t>
            </a:r>
            <a:endParaRPr lang="en-US" sz="1600" dirty="0">
              <a:latin typeface="Arial" panose="020B0604020202020204" pitchFamily="34" charset="0"/>
              <a:cs typeface="Arial" panose="020B0604020202020204" pitchFamily="34" charset="0"/>
            </a:endParaRPr>
          </a:p>
        </p:txBody>
      </p:sp>
      <p:sp>
        <p:nvSpPr>
          <p:cNvPr id="12" name="Shape 9"/>
          <p:cNvSpPr/>
          <p:nvPr/>
        </p:nvSpPr>
        <p:spPr>
          <a:xfrm>
            <a:off x="8255000" y="2349500"/>
            <a:ext cx="7239000" cy="3302000"/>
          </a:xfrm>
          <a:prstGeom prst="roundRect">
            <a:avLst>
              <a:gd name="adj" fmla="val 8000"/>
            </a:avLst>
          </a:prstGeom>
          <a:solidFill>
            <a:srgbClr val="161B22"/>
          </a:solidFill>
          <a:ln w="12700">
            <a:solidFill>
              <a:srgbClr val="30363D"/>
            </a:solidFill>
            <a:prstDash val="solid"/>
          </a:ln>
        </p:spPr>
      </p:sp>
      <p:sp>
        <p:nvSpPr>
          <p:cNvPr id="13" name="Text 10"/>
          <p:cNvSpPr/>
          <p:nvPr/>
        </p:nvSpPr>
        <p:spPr>
          <a:xfrm>
            <a:off x="8572500" y="2540000"/>
            <a:ext cx="5080000" cy="355600"/>
          </a:xfrm>
          <a:prstGeom prst="rect">
            <a:avLst/>
          </a:prstGeom>
          <a:noFill/>
          <a:ln/>
        </p:spPr>
        <p:txBody>
          <a:bodyPr wrap="none" lIns="0" tIns="0" rIns="0" bIns="0" rtlCol="0" anchor="ctr"/>
          <a:lstStyle/>
          <a:p>
            <a:pPr>
              <a:lnSpc>
                <a:spcPct val="100000"/>
              </a:lnSpc>
            </a:pPr>
            <a:r>
              <a:rPr lang="en-US" sz="1600" dirty="0">
                <a:solidFill>
                  <a:srgbClr val="00E5A0"/>
                </a:solidFill>
                <a:latin typeface="Arial" panose="020B0604020202020204" pitchFamily="34" charset="0"/>
                <a:ea typeface="Liter" pitchFamily="34" charset="-122"/>
                <a:cs typeface="Arial" panose="020B0604020202020204" pitchFamily="34" charset="0"/>
              </a:rPr>
              <a:t>COMUNICACIÓN Y SEGURIDAD</a:t>
            </a:r>
            <a:endParaRPr lang="en-US" sz="1600" dirty="0">
              <a:latin typeface="Arial" panose="020B0604020202020204" pitchFamily="34" charset="0"/>
              <a:cs typeface="Arial" panose="020B0604020202020204" pitchFamily="34" charset="0"/>
            </a:endParaRPr>
          </a:p>
        </p:txBody>
      </p:sp>
      <p:sp>
        <p:nvSpPr>
          <p:cNvPr id="14" name="Shape 11"/>
          <p:cNvSpPr/>
          <p:nvPr/>
        </p:nvSpPr>
        <p:spPr>
          <a:xfrm>
            <a:off x="8674100" y="3111500"/>
            <a:ext cx="228600" cy="304800"/>
          </a:xfrm>
          <a:custGeom>
            <a:avLst/>
            <a:gdLst/>
            <a:ahLst/>
            <a:cxnLst/>
            <a:rect l="l" t="t" r="r" b="b"/>
            <a:pathLst>
              <a:path w="228600" h="304800">
                <a:moveTo>
                  <a:pt x="76200" y="57150"/>
                </a:moveTo>
                <a:lnTo>
                  <a:pt x="76200" y="95250"/>
                </a:lnTo>
                <a:lnTo>
                  <a:pt x="152400" y="95250"/>
                </a:lnTo>
                <a:lnTo>
                  <a:pt x="152400" y="57150"/>
                </a:lnTo>
                <a:cubicBezTo>
                  <a:pt x="152400" y="36135"/>
                  <a:pt x="135315" y="19050"/>
                  <a:pt x="114300" y="19050"/>
                </a:cubicBezTo>
                <a:cubicBezTo>
                  <a:pt x="93285" y="19050"/>
                  <a:pt x="76200" y="36135"/>
                  <a:pt x="76200" y="57150"/>
                </a:cubicBezTo>
                <a:close/>
                <a:moveTo>
                  <a:pt x="38100" y="95250"/>
                </a:moveTo>
                <a:lnTo>
                  <a:pt x="38100" y="57150"/>
                </a:lnTo>
                <a:cubicBezTo>
                  <a:pt x="38100" y="15061"/>
                  <a:pt x="72211" y="-19050"/>
                  <a:pt x="114300" y="-19050"/>
                </a:cubicBezTo>
                <a:cubicBezTo>
                  <a:pt x="156389" y="-19050"/>
                  <a:pt x="190500" y="15061"/>
                  <a:pt x="190500" y="57150"/>
                </a:cubicBezTo>
                <a:lnTo>
                  <a:pt x="190500" y="95250"/>
                </a:lnTo>
                <a:cubicBezTo>
                  <a:pt x="211515" y="95250"/>
                  <a:pt x="228600" y="112335"/>
                  <a:pt x="228600" y="133350"/>
                </a:cubicBezTo>
                <a:lnTo>
                  <a:pt x="228600" y="266700"/>
                </a:lnTo>
                <a:cubicBezTo>
                  <a:pt x="228600" y="287715"/>
                  <a:pt x="211515" y="304800"/>
                  <a:pt x="190500" y="304800"/>
                </a:cubicBezTo>
                <a:lnTo>
                  <a:pt x="38100" y="304800"/>
                </a:lnTo>
                <a:cubicBezTo>
                  <a:pt x="17085" y="304800"/>
                  <a:pt x="0" y="287715"/>
                  <a:pt x="0" y="266700"/>
                </a:cubicBezTo>
                <a:lnTo>
                  <a:pt x="0" y="133350"/>
                </a:lnTo>
                <a:cubicBezTo>
                  <a:pt x="0" y="112335"/>
                  <a:pt x="17085" y="95250"/>
                  <a:pt x="38100" y="95250"/>
                </a:cubicBezTo>
                <a:close/>
              </a:path>
            </a:pathLst>
          </a:custGeom>
          <a:solidFill>
            <a:srgbClr val="00E5A0"/>
          </a:solidFill>
          <a:ln/>
        </p:spPr>
      </p:sp>
      <p:sp>
        <p:nvSpPr>
          <p:cNvPr id="15" name="Text 12"/>
          <p:cNvSpPr/>
          <p:nvPr/>
        </p:nvSpPr>
        <p:spPr>
          <a:xfrm>
            <a:off x="9080500" y="3048000"/>
            <a:ext cx="6096000" cy="635000"/>
          </a:xfrm>
          <a:prstGeom prst="rect">
            <a:avLst/>
          </a:prstGeom>
          <a:noFill/>
          <a:ln/>
        </p:spPr>
        <p:txBody>
          <a:bodyPr wrap="square" lIns="0" tIns="0" rIns="0" bIns="0" rtlCol="0" anchor="t"/>
          <a:lstStyle/>
          <a:p>
            <a:pPr>
              <a:lnSpc>
                <a:spcPct val="140000"/>
              </a:lnSpc>
            </a:pPr>
            <a:r>
              <a:rPr lang="en-US" sz="1500" dirty="0" err="1">
                <a:solidFill>
                  <a:srgbClr val="E6EDF3"/>
                </a:solidFill>
                <a:latin typeface="Arial" panose="020B0604020202020204" pitchFamily="34" charset="0"/>
                <a:ea typeface="微软雅黑" pitchFamily="34" charset="-122"/>
                <a:cs typeface="Arial" panose="020B0604020202020204" pitchFamily="34" charset="0"/>
              </a:rPr>
              <a:t>Comunicación</a:t>
            </a:r>
            <a:r>
              <a:rPr lang="en-US" sz="1500" dirty="0">
                <a:solidFill>
                  <a:srgbClr val="E6EDF3"/>
                </a:solidFill>
                <a:latin typeface="Arial" panose="020B0604020202020204" pitchFamily="34" charset="0"/>
                <a:ea typeface="微软雅黑" pitchFamily="34" charset="-122"/>
                <a:cs typeface="Arial" panose="020B0604020202020204" pitchFamily="34" charset="0"/>
              </a:rPr>
              <a:t> mediante data center.</a:t>
            </a:r>
            <a:endParaRPr lang="en-US" sz="1600" dirty="0">
              <a:latin typeface="Arial" panose="020B0604020202020204" pitchFamily="34" charset="0"/>
              <a:cs typeface="Arial" panose="020B0604020202020204" pitchFamily="34" charset="0"/>
            </a:endParaRPr>
          </a:p>
        </p:txBody>
      </p:sp>
      <p:sp>
        <p:nvSpPr>
          <p:cNvPr id="16" name="Shape 13"/>
          <p:cNvSpPr/>
          <p:nvPr/>
        </p:nvSpPr>
        <p:spPr>
          <a:xfrm>
            <a:off x="8597900" y="3810000"/>
            <a:ext cx="381000" cy="304800"/>
          </a:xfrm>
          <a:custGeom>
            <a:avLst/>
            <a:gdLst/>
            <a:ahLst/>
            <a:cxnLst/>
            <a:rect l="l" t="t" r="r" b="b"/>
            <a:pathLst>
              <a:path w="381000" h="304800">
                <a:moveTo>
                  <a:pt x="190500" y="9525"/>
                </a:moveTo>
                <a:cubicBezTo>
                  <a:pt x="224670" y="9525"/>
                  <a:pt x="252413" y="37267"/>
                  <a:pt x="252413" y="71438"/>
                </a:cubicBezTo>
                <a:cubicBezTo>
                  <a:pt x="252413" y="105608"/>
                  <a:pt x="224670" y="133350"/>
                  <a:pt x="190500" y="133350"/>
                </a:cubicBezTo>
                <a:cubicBezTo>
                  <a:pt x="156330" y="133350"/>
                  <a:pt x="128588" y="105608"/>
                  <a:pt x="128588" y="71438"/>
                </a:cubicBezTo>
                <a:cubicBezTo>
                  <a:pt x="128588" y="37267"/>
                  <a:pt x="156330" y="9525"/>
                  <a:pt x="190500" y="9525"/>
                </a:cubicBezTo>
                <a:close/>
                <a:moveTo>
                  <a:pt x="57150" y="52388"/>
                </a:moveTo>
                <a:cubicBezTo>
                  <a:pt x="80806" y="52388"/>
                  <a:pt x="100013" y="71594"/>
                  <a:pt x="100013" y="95250"/>
                </a:cubicBezTo>
                <a:cubicBezTo>
                  <a:pt x="100013" y="118906"/>
                  <a:pt x="80806" y="138113"/>
                  <a:pt x="57150" y="138113"/>
                </a:cubicBezTo>
                <a:cubicBezTo>
                  <a:pt x="33494" y="138113"/>
                  <a:pt x="14288" y="118906"/>
                  <a:pt x="14288" y="95250"/>
                </a:cubicBezTo>
                <a:cubicBezTo>
                  <a:pt x="14288" y="71594"/>
                  <a:pt x="33494" y="52388"/>
                  <a:pt x="57150" y="52388"/>
                </a:cubicBezTo>
                <a:close/>
                <a:moveTo>
                  <a:pt x="0" y="247650"/>
                </a:moveTo>
                <a:cubicBezTo>
                  <a:pt x="0" y="205561"/>
                  <a:pt x="34111" y="171450"/>
                  <a:pt x="76200" y="171450"/>
                </a:cubicBezTo>
                <a:cubicBezTo>
                  <a:pt x="83820" y="171450"/>
                  <a:pt x="91202" y="172581"/>
                  <a:pt x="98167" y="174665"/>
                </a:cubicBezTo>
                <a:cubicBezTo>
                  <a:pt x="78581" y="196572"/>
                  <a:pt x="66675" y="225504"/>
                  <a:pt x="66675" y="257175"/>
                </a:cubicBezTo>
                <a:lnTo>
                  <a:pt x="66675" y="266700"/>
                </a:lnTo>
                <a:cubicBezTo>
                  <a:pt x="66675" y="273487"/>
                  <a:pt x="68104" y="279916"/>
                  <a:pt x="70664" y="285750"/>
                </a:cubicBezTo>
                <a:lnTo>
                  <a:pt x="19050" y="285750"/>
                </a:lnTo>
                <a:cubicBezTo>
                  <a:pt x="8513" y="285750"/>
                  <a:pt x="0" y="277237"/>
                  <a:pt x="0" y="266700"/>
                </a:cubicBezTo>
                <a:lnTo>
                  <a:pt x="0" y="247650"/>
                </a:lnTo>
                <a:close/>
                <a:moveTo>
                  <a:pt x="310336" y="285750"/>
                </a:moveTo>
                <a:cubicBezTo>
                  <a:pt x="312896" y="279916"/>
                  <a:pt x="314325" y="273487"/>
                  <a:pt x="314325" y="266700"/>
                </a:cubicBezTo>
                <a:lnTo>
                  <a:pt x="314325" y="257175"/>
                </a:lnTo>
                <a:cubicBezTo>
                  <a:pt x="314325" y="225504"/>
                  <a:pt x="302419" y="196572"/>
                  <a:pt x="282833" y="174665"/>
                </a:cubicBezTo>
                <a:cubicBezTo>
                  <a:pt x="289798" y="172581"/>
                  <a:pt x="297180" y="171450"/>
                  <a:pt x="304800" y="171450"/>
                </a:cubicBezTo>
                <a:cubicBezTo>
                  <a:pt x="346889" y="171450"/>
                  <a:pt x="381000" y="205561"/>
                  <a:pt x="381000" y="247650"/>
                </a:cubicBezTo>
                <a:lnTo>
                  <a:pt x="381000" y="266700"/>
                </a:lnTo>
                <a:cubicBezTo>
                  <a:pt x="381000" y="277237"/>
                  <a:pt x="372487" y="285750"/>
                  <a:pt x="361950" y="285750"/>
                </a:cubicBezTo>
                <a:lnTo>
                  <a:pt x="310336" y="285750"/>
                </a:lnTo>
                <a:close/>
                <a:moveTo>
                  <a:pt x="280987" y="95250"/>
                </a:moveTo>
                <a:cubicBezTo>
                  <a:pt x="280987" y="71594"/>
                  <a:pt x="300194" y="52388"/>
                  <a:pt x="323850" y="52388"/>
                </a:cubicBezTo>
                <a:cubicBezTo>
                  <a:pt x="347506" y="52388"/>
                  <a:pt x="366712" y="71594"/>
                  <a:pt x="366712" y="95250"/>
                </a:cubicBezTo>
                <a:cubicBezTo>
                  <a:pt x="366712" y="118906"/>
                  <a:pt x="347506" y="138113"/>
                  <a:pt x="323850" y="138113"/>
                </a:cubicBezTo>
                <a:cubicBezTo>
                  <a:pt x="300194" y="138113"/>
                  <a:pt x="280987" y="118906"/>
                  <a:pt x="280987" y="95250"/>
                </a:cubicBezTo>
                <a:close/>
                <a:moveTo>
                  <a:pt x="95250" y="257175"/>
                </a:moveTo>
                <a:cubicBezTo>
                  <a:pt x="95250" y="204549"/>
                  <a:pt x="137874" y="161925"/>
                  <a:pt x="190500" y="161925"/>
                </a:cubicBezTo>
                <a:cubicBezTo>
                  <a:pt x="243126" y="161925"/>
                  <a:pt x="285750" y="204549"/>
                  <a:pt x="285750" y="257175"/>
                </a:cubicBezTo>
                <a:lnTo>
                  <a:pt x="285750" y="266700"/>
                </a:lnTo>
                <a:cubicBezTo>
                  <a:pt x="285750" y="277237"/>
                  <a:pt x="277237" y="285750"/>
                  <a:pt x="266700" y="285750"/>
                </a:cubicBezTo>
                <a:lnTo>
                  <a:pt x="114300" y="285750"/>
                </a:lnTo>
                <a:cubicBezTo>
                  <a:pt x="103763" y="285750"/>
                  <a:pt x="95250" y="277237"/>
                  <a:pt x="95250" y="266700"/>
                </a:cubicBezTo>
                <a:lnTo>
                  <a:pt x="95250" y="257175"/>
                </a:lnTo>
                <a:close/>
              </a:path>
            </a:pathLst>
          </a:custGeom>
          <a:solidFill>
            <a:srgbClr val="00E5A0"/>
          </a:solidFill>
          <a:ln/>
        </p:spPr>
      </p:sp>
      <p:sp>
        <p:nvSpPr>
          <p:cNvPr id="17" name="Text 14"/>
          <p:cNvSpPr/>
          <p:nvPr/>
        </p:nvSpPr>
        <p:spPr>
          <a:xfrm>
            <a:off x="9080500" y="3746500"/>
            <a:ext cx="6096000" cy="635000"/>
          </a:xfrm>
          <a:prstGeom prst="rect">
            <a:avLst/>
          </a:prstGeom>
          <a:noFill/>
          <a:ln/>
        </p:spPr>
        <p:txBody>
          <a:bodyPr wrap="square" lIns="0" tIns="0" rIns="0" bIns="0" rtlCol="0" anchor="t"/>
          <a:lstStyle/>
          <a:p>
            <a:pPr>
              <a:lnSpc>
                <a:spcPct val="140000"/>
              </a:lnSpc>
            </a:pPr>
            <a:r>
              <a:rPr lang="en-US" sz="1500" dirty="0">
                <a:solidFill>
                  <a:srgbClr val="E6EDF3"/>
                </a:solidFill>
                <a:latin typeface="Arial" panose="020B0604020202020204" pitchFamily="34" charset="0"/>
                <a:ea typeface="微软雅黑" pitchFamily="34" charset="-122"/>
                <a:cs typeface="Arial" panose="020B0604020202020204" pitchFamily="34" charset="0"/>
              </a:rPr>
              <a:t>Usuarios MariaDB por rol: admin, profesor, estudiante</a:t>
            </a:r>
            <a:endParaRPr lang="en-US" sz="1600" dirty="0">
              <a:latin typeface="Arial" panose="020B0604020202020204" pitchFamily="34" charset="0"/>
              <a:cs typeface="Arial" panose="020B0604020202020204" pitchFamily="34" charset="0"/>
            </a:endParaRPr>
          </a:p>
        </p:txBody>
      </p:sp>
      <p:sp>
        <p:nvSpPr>
          <p:cNvPr id="18" name="Shape 15"/>
          <p:cNvSpPr/>
          <p:nvPr/>
        </p:nvSpPr>
        <p:spPr>
          <a:xfrm>
            <a:off x="8636000" y="4508500"/>
            <a:ext cx="304800" cy="304800"/>
          </a:xfrm>
          <a:custGeom>
            <a:avLst/>
            <a:gdLst/>
            <a:ahLst/>
            <a:cxnLst/>
            <a:rect l="l" t="t" r="r" b="b"/>
            <a:pathLst>
              <a:path w="304800" h="304800">
                <a:moveTo>
                  <a:pt x="0" y="152400"/>
                </a:moveTo>
                <a:cubicBezTo>
                  <a:pt x="0" y="68288"/>
                  <a:pt x="68288" y="0"/>
                  <a:pt x="152400" y="0"/>
                </a:cubicBezTo>
                <a:cubicBezTo>
                  <a:pt x="236512" y="0"/>
                  <a:pt x="304800" y="68288"/>
                  <a:pt x="304800" y="152400"/>
                </a:cubicBezTo>
                <a:cubicBezTo>
                  <a:pt x="304800" y="236512"/>
                  <a:pt x="236512" y="304800"/>
                  <a:pt x="152400" y="304800"/>
                </a:cubicBezTo>
                <a:cubicBezTo>
                  <a:pt x="68288" y="304800"/>
                  <a:pt x="0" y="236512"/>
                  <a:pt x="0" y="152400"/>
                </a:cubicBezTo>
                <a:close/>
                <a:moveTo>
                  <a:pt x="171450" y="57150"/>
                </a:moveTo>
                <a:cubicBezTo>
                  <a:pt x="171450" y="46636"/>
                  <a:pt x="162914" y="38100"/>
                  <a:pt x="152400" y="38100"/>
                </a:cubicBezTo>
                <a:cubicBezTo>
                  <a:pt x="141886" y="38100"/>
                  <a:pt x="133350" y="46636"/>
                  <a:pt x="133350" y="57150"/>
                </a:cubicBezTo>
                <a:cubicBezTo>
                  <a:pt x="133350" y="67664"/>
                  <a:pt x="141886" y="76200"/>
                  <a:pt x="152400" y="76200"/>
                </a:cubicBezTo>
                <a:cubicBezTo>
                  <a:pt x="162914" y="76200"/>
                  <a:pt x="171450" y="67664"/>
                  <a:pt x="171450" y="57150"/>
                </a:cubicBezTo>
                <a:close/>
                <a:moveTo>
                  <a:pt x="152400" y="247650"/>
                </a:moveTo>
                <a:cubicBezTo>
                  <a:pt x="173415" y="247650"/>
                  <a:pt x="190500" y="230565"/>
                  <a:pt x="190500" y="209550"/>
                </a:cubicBezTo>
                <a:cubicBezTo>
                  <a:pt x="190500" y="199906"/>
                  <a:pt x="186928" y="191036"/>
                  <a:pt x="180975" y="184368"/>
                </a:cubicBezTo>
                <a:lnTo>
                  <a:pt x="222349" y="101679"/>
                </a:lnTo>
                <a:cubicBezTo>
                  <a:pt x="225862" y="94595"/>
                  <a:pt x="223004" y="86023"/>
                  <a:pt x="215979" y="82510"/>
                </a:cubicBezTo>
                <a:cubicBezTo>
                  <a:pt x="208955" y="78998"/>
                  <a:pt x="200323" y="81855"/>
                  <a:pt x="196810" y="88880"/>
                </a:cubicBezTo>
                <a:lnTo>
                  <a:pt x="155436" y="171569"/>
                </a:lnTo>
                <a:cubicBezTo>
                  <a:pt x="154424" y="171510"/>
                  <a:pt x="153412" y="171450"/>
                  <a:pt x="152400" y="171450"/>
                </a:cubicBezTo>
                <a:cubicBezTo>
                  <a:pt x="131385" y="171450"/>
                  <a:pt x="114300" y="188535"/>
                  <a:pt x="114300" y="209550"/>
                </a:cubicBezTo>
                <a:cubicBezTo>
                  <a:pt x="114300" y="230565"/>
                  <a:pt x="131385" y="247650"/>
                  <a:pt x="152400" y="247650"/>
                </a:cubicBezTo>
                <a:close/>
                <a:moveTo>
                  <a:pt x="104775" y="85725"/>
                </a:moveTo>
                <a:cubicBezTo>
                  <a:pt x="104775" y="75211"/>
                  <a:pt x="96239" y="66675"/>
                  <a:pt x="85725" y="66675"/>
                </a:cubicBezTo>
                <a:cubicBezTo>
                  <a:pt x="75211" y="66675"/>
                  <a:pt x="66675" y="75211"/>
                  <a:pt x="66675" y="85725"/>
                </a:cubicBezTo>
                <a:cubicBezTo>
                  <a:pt x="66675" y="96239"/>
                  <a:pt x="75211" y="104775"/>
                  <a:pt x="85725" y="104775"/>
                </a:cubicBezTo>
                <a:cubicBezTo>
                  <a:pt x="96239" y="104775"/>
                  <a:pt x="104775" y="96239"/>
                  <a:pt x="104775" y="85725"/>
                </a:cubicBezTo>
                <a:close/>
                <a:moveTo>
                  <a:pt x="57150" y="171450"/>
                </a:moveTo>
                <a:cubicBezTo>
                  <a:pt x="67664" y="171450"/>
                  <a:pt x="76200" y="162914"/>
                  <a:pt x="76200" y="152400"/>
                </a:cubicBezTo>
                <a:cubicBezTo>
                  <a:pt x="76200" y="141886"/>
                  <a:pt x="67664" y="133350"/>
                  <a:pt x="57150" y="133350"/>
                </a:cubicBezTo>
                <a:cubicBezTo>
                  <a:pt x="46636" y="133350"/>
                  <a:pt x="38100" y="141886"/>
                  <a:pt x="38100" y="152400"/>
                </a:cubicBezTo>
                <a:cubicBezTo>
                  <a:pt x="38100" y="162914"/>
                  <a:pt x="46636" y="171450"/>
                  <a:pt x="57150" y="171450"/>
                </a:cubicBezTo>
                <a:close/>
                <a:moveTo>
                  <a:pt x="266700" y="152400"/>
                </a:moveTo>
                <a:cubicBezTo>
                  <a:pt x="266700" y="141886"/>
                  <a:pt x="258164" y="133350"/>
                  <a:pt x="247650" y="133350"/>
                </a:cubicBezTo>
                <a:cubicBezTo>
                  <a:pt x="237136" y="133350"/>
                  <a:pt x="228600" y="141886"/>
                  <a:pt x="228600" y="152400"/>
                </a:cubicBezTo>
                <a:cubicBezTo>
                  <a:pt x="228600" y="162914"/>
                  <a:pt x="237136" y="171450"/>
                  <a:pt x="247650" y="171450"/>
                </a:cubicBezTo>
                <a:cubicBezTo>
                  <a:pt x="258164" y="171450"/>
                  <a:pt x="266700" y="162914"/>
                  <a:pt x="266700" y="152400"/>
                </a:cubicBezTo>
                <a:close/>
              </a:path>
            </a:pathLst>
          </a:custGeom>
          <a:solidFill>
            <a:srgbClr val="00E5A0"/>
          </a:solidFill>
          <a:ln/>
        </p:spPr>
      </p:sp>
      <p:sp>
        <p:nvSpPr>
          <p:cNvPr id="19" name="Text 16"/>
          <p:cNvSpPr/>
          <p:nvPr/>
        </p:nvSpPr>
        <p:spPr>
          <a:xfrm>
            <a:off x="9080500" y="4445000"/>
            <a:ext cx="6096000" cy="635000"/>
          </a:xfrm>
          <a:prstGeom prst="rect">
            <a:avLst/>
          </a:prstGeom>
          <a:noFill/>
          <a:ln/>
        </p:spPr>
        <p:txBody>
          <a:bodyPr wrap="square" lIns="0" tIns="0" rIns="0" bIns="0" rtlCol="0" anchor="t"/>
          <a:lstStyle/>
          <a:p>
            <a:pPr>
              <a:lnSpc>
                <a:spcPct val="140000"/>
              </a:lnSpc>
            </a:pPr>
            <a:r>
              <a:rPr lang="en-US" sz="1500" dirty="0">
                <a:solidFill>
                  <a:srgbClr val="E6EDF3"/>
                </a:solidFill>
                <a:latin typeface="Arial" panose="020B0604020202020204" pitchFamily="34" charset="0"/>
                <a:ea typeface="微软雅黑" pitchFamily="34" charset="-122"/>
                <a:cs typeface="Arial" panose="020B0604020202020204" pitchFamily="34" charset="0"/>
              </a:rPr>
              <a:t>Optimización de buffers y caché de consultas</a:t>
            </a:r>
            <a:endParaRPr lang="en-US" sz="1600" dirty="0">
              <a:latin typeface="Arial" panose="020B0604020202020204" pitchFamily="34" charset="0"/>
              <a:cs typeface="Arial" panose="020B0604020202020204" pitchFamily="34" charset="0"/>
            </a:endParaRPr>
          </a:p>
        </p:txBody>
      </p:sp>
      <p:sp>
        <p:nvSpPr>
          <p:cNvPr id="20" name="Shape 17"/>
          <p:cNvSpPr/>
          <p:nvPr/>
        </p:nvSpPr>
        <p:spPr>
          <a:xfrm>
            <a:off x="8616950" y="5207000"/>
            <a:ext cx="342900" cy="304800"/>
          </a:xfrm>
          <a:custGeom>
            <a:avLst/>
            <a:gdLst/>
            <a:ahLst/>
            <a:cxnLst/>
            <a:rect l="l" t="t" r="r" b="b"/>
            <a:pathLst>
              <a:path w="342900" h="304800">
                <a:moveTo>
                  <a:pt x="214789" y="714"/>
                </a:moveTo>
                <a:cubicBezTo>
                  <a:pt x="204668" y="-2203"/>
                  <a:pt x="194131" y="3691"/>
                  <a:pt x="191214" y="13811"/>
                </a:cubicBezTo>
                <a:lnTo>
                  <a:pt x="115014" y="280511"/>
                </a:lnTo>
                <a:cubicBezTo>
                  <a:pt x="112097" y="290632"/>
                  <a:pt x="117991" y="301169"/>
                  <a:pt x="128111" y="304086"/>
                </a:cubicBezTo>
                <a:cubicBezTo>
                  <a:pt x="138232" y="307003"/>
                  <a:pt x="148769" y="301109"/>
                  <a:pt x="151686" y="290989"/>
                </a:cubicBezTo>
                <a:lnTo>
                  <a:pt x="227886" y="24289"/>
                </a:lnTo>
                <a:cubicBezTo>
                  <a:pt x="230803" y="14168"/>
                  <a:pt x="224909" y="3631"/>
                  <a:pt x="214789" y="714"/>
                </a:cubicBezTo>
                <a:close/>
                <a:moveTo>
                  <a:pt x="253246" y="81736"/>
                </a:moveTo>
                <a:cubicBezTo>
                  <a:pt x="245805" y="89178"/>
                  <a:pt x="245805" y="101263"/>
                  <a:pt x="253246" y="108704"/>
                </a:cubicBezTo>
                <a:lnTo>
                  <a:pt x="296942" y="152400"/>
                </a:lnTo>
                <a:lnTo>
                  <a:pt x="253246" y="196096"/>
                </a:lnTo>
                <a:cubicBezTo>
                  <a:pt x="245805" y="203537"/>
                  <a:pt x="245805" y="215622"/>
                  <a:pt x="253246" y="223064"/>
                </a:cubicBezTo>
                <a:cubicBezTo>
                  <a:pt x="260687" y="230505"/>
                  <a:pt x="272772" y="230505"/>
                  <a:pt x="280214" y="223064"/>
                </a:cubicBezTo>
                <a:lnTo>
                  <a:pt x="337364" y="165914"/>
                </a:lnTo>
                <a:cubicBezTo>
                  <a:pt x="344805" y="158472"/>
                  <a:pt x="344805" y="146387"/>
                  <a:pt x="337364" y="138946"/>
                </a:cubicBezTo>
                <a:lnTo>
                  <a:pt x="280214" y="81796"/>
                </a:lnTo>
                <a:cubicBezTo>
                  <a:pt x="272772" y="74355"/>
                  <a:pt x="260687" y="74355"/>
                  <a:pt x="253246" y="81796"/>
                </a:cubicBezTo>
                <a:close/>
                <a:moveTo>
                  <a:pt x="89714" y="81736"/>
                </a:moveTo>
                <a:cubicBezTo>
                  <a:pt x="82272" y="74295"/>
                  <a:pt x="70187" y="74295"/>
                  <a:pt x="62746" y="81736"/>
                </a:cubicBezTo>
                <a:lnTo>
                  <a:pt x="5596" y="138886"/>
                </a:lnTo>
                <a:cubicBezTo>
                  <a:pt x="-1845" y="146328"/>
                  <a:pt x="-1845" y="158413"/>
                  <a:pt x="5596" y="165854"/>
                </a:cubicBezTo>
                <a:lnTo>
                  <a:pt x="62746" y="223004"/>
                </a:lnTo>
                <a:cubicBezTo>
                  <a:pt x="70187" y="230445"/>
                  <a:pt x="82272" y="230445"/>
                  <a:pt x="89714" y="223004"/>
                </a:cubicBezTo>
                <a:cubicBezTo>
                  <a:pt x="97155" y="215563"/>
                  <a:pt x="97155" y="203478"/>
                  <a:pt x="89714" y="196036"/>
                </a:cubicBezTo>
                <a:lnTo>
                  <a:pt x="46018" y="152400"/>
                </a:lnTo>
                <a:lnTo>
                  <a:pt x="89654" y="108704"/>
                </a:lnTo>
                <a:cubicBezTo>
                  <a:pt x="97095" y="101263"/>
                  <a:pt x="97095" y="89178"/>
                  <a:pt x="89654" y="81736"/>
                </a:cubicBezTo>
                <a:close/>
              </a:path>
            </a:pathLst>
          </a:custGeom>
          <a:solidFill>
            <a:srgbClr val="00E5A0"/>
          </a:solidFill>
          <a:ln/>
        </p:spPr>
      </p:sp>
      <p:sp>
        <p:nvSpPr>
          <p:cNvPr id="21" name="Text 18"/>
          <p:cNvSpPr/>
          <p:nvPr/>
        </p:nvSpPr>
        <p:spPr>
          <a:xfrm>
            <a:off x="9080500" y="5143500"/>
            <a:ext cx="6096000" cy="482600"/>
          </a:xfrm>
          <a:prstGeom prst="rect">
            <a:avLst/>
          </a:prstGeom>
          <a:noFill/>
          <a:ln/>
        </p:spPr>
        <p:txBody>
          <a:bodyPr wrap="square" lIns="0" tIns="0" rIns="0" bIns="0" rtlCol="0" anchor="t"/>
          <a:lstStyle/>
          <a:p>
            <a:pPr>
              <a:lnSpc>
                <a:spcPct val="140000"/>
              </a:lnSpc>
            </a:pPr>
            <a:r>
              <a:rPr lang="en-US" sz="1500" dirty="0">
                <a:solidFill>
                  <a:srgbClr val="E6EDF3"/>
                </a:solidFill>
                <a:latin typeface="Arial" panose="020B0604020202020204" pitchFamily="34" charset="0"/>
                <a:ea typeface="微软雅黑" pitchFamily="34" charset="-122"/>
                <a:cs typeface="Arial" panose="020B0604020202020204" pitchFamily="34" charset="0"/>
              </a:rPr>
              <a:t>Consultas parametrizadas para prevenir SQL Injection</a:t>
            </a:r>
            <a:endParaRPr lang="en-US" sz="1600" dirty="0">
              <a:latin typeface="Arial" panose="020B0604020202020204" pitchFamily="34" charset="0"/>
              <a:cs typeface="Arial" panose="020B0604020202020204" pitchFamily="34" charset="0"/>
            </a:endParaRPr>
          </a:p>
        </p:txBody>
      </p:sp>
      <p:sp>
        <p:nvSpPr>
          <p:cNvPr id="22" name="Shape 19"/>
          <p:cNvSpPr/>
          <p:nvPr/>
        </p:nvSpPr>
        <p:spPr>
          <a:xfrm>
            <a:off x="762000" y="6032500"/>
            <a:ext cx="14732000" cy="1651000"/>
          </a:xfrm>
          <a:prstGeom prst="roundRect">
            <a:avLst>
              <a:gd name="adj" fmla="val 6000"/>
            </a:avLst>
          </a:prstGeom>
          <a:solidFill>
            <a:srgbClr val="00E5A0">
              <a:alpha val="3137"/>
            </a:srgbClr>
          </a:solidFill>
          <a:ln w="12700">
            <a:solidFill>
              <a:srgbClr val="30363D"/>
            </a:solidFill>
            <a:prstDash val="solid"/>
          </a:ln>
        </p:spPr>
      </p:sp>
      <p:sp>
        <p:nvSpPr>
          <p:cNvPr id="23" name="Shape 20"/>
          <p:cNvSpPr/>
          <p:nvPr/>
        </p:nvSpPr>
        <p:spPr>
          <a:xfrm>
            <a:off x="2540000" y="6413500"/>
            <a:ext cx="1778000" cy="762000"/>
          </a:xfrm>
          <a:prstGeom prst="roundRect">
            <a:avLst>
              <a:gd name="adj" fmla="val 10000"/>
            </a:avLst>
          </a:prstGeom>
          <a:solidFill>
            <a:srgbClr val="161B22"/>
          </a:solidFill>
          <a:ln w="12700">
            <a:solidFill>
              <a:srgbClr val="58A6FF"/>
            </a:solidFill>
            <a:prstDash val="solid"/>
          </a:ln>
        </p:spPr>
      </p:sp>
      <p:sp>
        <p:nvSpPr>
          <p:cNvPr id="24" name="Shape 21"/>
          <p:cNvSpPr/>
          <p:nvPr/>
        </p:nvSpPr>
        <p:spPr>
          <a:xfrm>
            <a:off x="3168650" y="6502400"/>
            <a:ext cx="266700" cy="304800"/>
          </a:xfrm>
          <a:custGeom>
            <a:avLst/>
            <a:gdLst/>
            <a:ahLst/>
            <a:cxnLst/>
            <a:rect l="l" t="t" r="r" b="b"/>
            <a:pathLst>
              <a:path w="266700" h="304800">
                <a:moveTo>
                  <a:pt x="38100" y="19050"/>
                </a:moveTo>
                <a:cubicBezTo>
                  <a:pt x="17085" y="19050"/>
                  <a:pt x="0" y="36135"/>
                  <a:pt x="0" y="57150"/>
                </a:cubicBezTo>
                <a:lnTo>
                  <a:pt x="0" y="95250"/>
                </a:lnTo>
                <a:cubicBezTo>
                  <a:pt x="0" y="116265"/>
                  <a:pt x="17085" y="133350"/>
                  <a:pt x="38100" y="133350"/>
                </a:cubicBezTo>
                <a:lnTo>
                  <a:pt x="228600" y="133350"/>
                </a:lnTo>
                <a:cubicBezTo>
                  <a:pt x="249615" y="133350"/>
                  <a:pt x="266700" y="116265"/>
                  <a:pt x="266700" y="95250"/>
                </a:cubicBezTo>
                <a:lnTo>
                  <a:pt x="266700" y="57150"/>
                </a:lnTo>
                <a:cubicBezTo>
                  <a:pt x="266700" y="36135"/>
                  <a:pt x="249615" y="19050"/>
                  <a:pt x="228600" y="19050"/>
                </a:cubicBezTo>
                <a:lnTo>
                  <a:pt x="38100" y="19050"/>
                </a:lnTo>
                <a:close/>
                <a:moveTo>
                  <a:pt x="166688" y="61912"/>
                </a:moveTo>
                <a:cubicBezTo>
                  <a:pt x="174573" y="61912"/>
                  <a:pt x="180975" y="68315"/>
                  <a:pt x="180975" y="76200"/>
                </a:cubicBezTo>
                <a:cubicBezTo>
                  <a:pt x="180975" y="84085"/>
                  <a:pt x="174573" y="90488"/>
                  <a:pt x="166688" y="90488"/>
                </a:cubicBezTo>
                <a:cubicBezTo>
                  <a:pt x="158802" y="90488"/>
                  <a:pt x="152400" y="84085"/>
                  <a:pt x="152400" y="76200"/>
                </a:cubicBezTo>
                <a:cubicBezTo>
                  <a:pt x="152400" y="68315"/>
                  <a:pt x="158802" y="61912"/>
                  <a:pt x="166688" y="61912"/>
                </a:cubicBezTo>
                <a:close/>
                <a:moveTo>
                  <a:pt x="200025" y="76200"/>
                </a:moveTo>
                <a:cubicBezTo>
                  <a:pt x="200025" y="68315"/>
                  <a:pt x="206427" y="61912"/>
                  <a:pt x="214313" y="61912"/>
                </a:cubicBezTo>
                <a:cubicBezTo>
                  <a:pt x="222198" y="61912"/>
                  <a:pt x="228600" y="68315"/>
                  <a:pt x="228600" y="76200"/>
                </a:cubicBezTo>
                <a:cubicBezTo>
                  <a:pt x="228600" y="84085"/>
                  <a:pt x="222198" y="90488"/>
                  <a:pt x="214313" y="90488"/>
                </a:cubicBezTo>
                <a:cubicBezTo>
                  <a:pt x="206427" y="90488"/>
                  <a:pt x="200025" y="84085"/>
                  <a:pt x="200025" y="76200"/>
                </a:cubicBezTo>
                <a:close/>
                <a:moveTo>
                  <a:pt x="38100" y="171450"/>
                </a:moveTo>
                <a:cubicBezTo>
                  <a:pt x="17085" y="171450"/>
                  <a:pt x="0" y="188535"/>
                  <a:pt x="0" y="209550"/>
                </a:cubicBezTo>
                <a:lnTo>
                  <a:pt x="0" y="247650"/>
                </a:lnTo>
                <a:cubicBezTo>
                  <a:pt x="0" y="268665"/>
                  <a:pt x="17085" y="285750"/>
                  <a:pt x="38100" y="285750"/>
                </a:cubicBezTo>
                <a:lnTo>
                  <a:pt x="228600" y="285750"/>
                </a:lnTo>
                <a:cubicBezTo>
                  <a:pt x="249615" y="285750"/>
                  <a:pt x="266700" y="268665"/>
                  <a:pt x="266700" y="247650"/>
                </a:cubicBezTo>
                <a:lnTo>
                  <a:pt x="266700" y="209550"/>
                </a:lnTo>
                <a:cubicBezTo>
                  <a:pt x="266700" y="188535"/>
                  <a:pt x="249615" y="171450"/>
                  <a:pt x="228600" y="171450"/>
                </a:cubicBezTo>
                <a:lnTo>
                  <a:pt x="38100" y="171450"/>
                </a:lnTo>
                <a:close/>
                <a:moveTo>
                  <a:pt x="166688" y="214313"/>
                </a:moveTo>
                <a:cubicBezTo>
                  <a:pt x="174573" y="214313"/>
                  <a:pt x="180975" y="220715"/>
                  <a:pt x="180975" y="228600"/>
                </a:cubicBezTo>
                <a:cubicBezTo>
                  <a:pt x="180975" y="236485"/>
                  <a:pt x="174573" y="242888"/>
                  <a:pt x="166688" y="242888"/>
                </a:cubicBezTo>
                <a:cubicBezTo>
                  <a:pt x="158802" y="242888"/>
                  <a:pt x="152400" y="236485"/>
                  <a:pt x="152400" y="228600"/>
                </a:cubicBezTo>
                <a:cubicBezTo>
                  <a:pt x="152400" y="220715"/>
                  <a:pt x="158802" y="214313"/>
                  <a:pt x="166688" y="214313"/>
                </a:cubicBezTo>
                <a:close/>
                <a:moveTo>
                  <a:pt x="200025" y="228600"/>
                </a:moveTo>
                <a:cubicBezTo>
                  <a:pt x="200025" y="220715"/>
                  <a:pt x="206427" y="214313"/>
                  <a:pt x="214313" y="214313"/>
                </a:cubicBezTo>
                <a:cubicBezTo>
                  <a:pt x="222198" y="214313"/>
                  <a:pt x="228600" y="220715"/>
                  <a:pt x="228600" y="228600"/>
                </a:cubicBezTo>
                <a:cubicBezTo>
                  <a:pt x="228600" y="236485"/>
                  <a:pt x="222198" y="242888"/>
                  <a:pt x="214313" y="242888"/>
                </a:cubicBezTo>
                <a:cubicBezTo>
                  <a:pt x="206427" y="242888"/>
                  <a:pt x="200025" y="236485"/>
                  <a:pt x="200025" y="228600"/>
                </a:cubicBezTo>
                <a:close/>
              </a:path>
            </a:pathLst>
          </a:custGeom>
          <a:solidFill>
            <a:srgbClr val="58A6FF"/>
          </a:solidFill>
          <a:ln/>
        </p:spPr>
      </p:sp>
      <p:sp>
        <p:nvSpPr>
          <p:cNvPr id="25" name="Text 22"/>
          <p:cNvSpPr/>
          <p:nvPr/>
        </p:nvSpPr>
        <p:spPr>
          <a:xfrm>
            <a:off x="2540000" y="6858000"/>
            <a:ext cx="1778000" cy="254000"/>
          </a:xfrm>
          <a:prstGeom prst="rect">
            <a:avLst/>
          </a:prstGeom>
          <a:noFill/>
          <a:ln/>
        </p:spPr>
        <p:txBody>
          <a:bodyPr wrap="none" lIns="0" tIns="0" rIns="0" bIns="0" rtlCol="0" anchor="ctr"/>
          <a:lstStyle/>
          <a:p>
            <a:pPr algn="ctr">
              <a:lnSpc>
                <a:spcPct val="100000"/>
              </a:lnSpc>
            </a:pPr>
            <a:r>
              <a:rPr lang="en-US" sz="1100" dirty="0">
                <a:solidFill>
                  <a:srgbClr val="58A6FF"/>
                </a:solidFill>
                <a:latin typeface="Arial" panose="020B0604020202020204" pitchFamily="34" charset="0"/>
                <a:ea typeface="微软雅黑" pitchFamily="34" charset="-122"/>
                <a:cs typeface="Arial" panose="020B0604020202020204" pitchFamily="34" charset="0"/>
              </a:rPr>
              <a:t>WEB SERVER</a:t>
            </a:r>
            <a:endParaRPr lang="en-US" sz="1600" dirty="0">
              <a:latin typeface="Arial" panose="020B0604020202020204" pitchFamily="34" charset="0"/>
              <a:cs typeface="Arial" panose="020B0604020202020204" pitchFamily="34" charset="0"/>
            </a:endParaRPr>
          </a:p>
        </p:txBody>
      </p:sp>
      <p:sp>
        <p:nvSpPr>
          <p:cNvPr id="26" name="Shape 23"/>
          <p:cNvSpPr/>
          <p:nvPr/>
        </p:nvSpPr>
        <p:spPr>
          <a:xfrm>
            <a:off x="4318000" y="6794500"/>
            <a:ext cx="1524000" cy="0"/>
          </a:xfrm>
          <a:prstGeom prst="straightConnector1">
            <a:avLst/>
          </a:prstGeom>
          <a:noFill/>
          <a:ln w="25400">
            <a:solidFill>
              <a:srgbClr val="00E5A0"/>
            </a:solidFill>
            <a:prstDash val="solid"/>
            <a:headEnd type="none"/>
            <a:tailEnd type="arrow"/>
          </a:ln>
        </p:spPr>
      </p:sp>
      <p:sp>
        <p:nvSpPr>
          <p:cNvPr id="27" name="Shape 24"/>
          <p:cNvSpPr/>
          <p:nvPr/>
        </p:nvSpPr>
        <p:spPr>
          <a:xfrm>
            <a:off x="5842000" y="6413500"/>
            <a:ext cx="1778000" cy="762000"/>
          </a:xfrm>
          <a:prstGeom prst="roundRect">
            <a:avLst>
              <a:gd name="adj" fmla="val 10000"/>
            </a:avLst>
          </a:prstGeom>
          <a:solidFill>
            <a:srgbClr val="161B22"/>
          </a:solidFill>
          <a:ln w="25400">
            <a:solidFill>
              <a:srgbClr val="00E5A0"/>
            </a:solidFill>
            <a:prstDash val="solid"/>
          </a:ln>
        </p:spPr>
      </p:sp>
      <p:sp>
        <p:nvSpPr>
          <p:cNvPr id="28" name="Shape 25"/>
          <p:cNvSpPr/>
          <p:nvPr/>
        </p:nvSpPr>
        <p:spPr>
          <a:xfrm>
            <a:off x="6470650" y="6502400"/>
            <a:ext cx="266700" cy="304800"/>
          </a:xfrm>
          <a:custGeom>
            <a:avLst/>
            <a:gdLst/>
            <a:ahLst/>
            <a:cxnLst/>
            <a:rect l="l" t="t" r="r" b="b"/>
            <a:pathLst>
              <a:path w="266700" h="304800">
                <a:moveTo>
                  <a:pt x="266700" y="122515"/>
                </a:moveTo>
                <a:cubicBezTo>
                  <a:pt x="257889" y="128349"/>
                  <a:pt x="247769" y="133052"/>
                  <a:pt x="237232" y="136803"/>
                </a:cubicBezTo>
                <a:cubicBezTo>
                  <a:pt x="209252" y="146804"/>
                  <a:pt x="172522" y="152400"/>
                  <a:pt x="133350" y="152400"/>
                </a:cubicBezTo>
                <a:cubicBezTo>
                  <a:pt x="94178" y="152400"/>
                  <a:pt x="57388" y="146745"/>
                  <a:pt x="29468" y="136803"/>
                </a:cubicBezTo>
                <a:cubicBezTo>
                  <a:pt x="18990" y="133052"/>
                  <a:pt x="8811" y="128349"/>
                  <a:pt x="0" y="122515"/>
                </a:cubicBezTo>
                <a:lnTo>
                  <a:pt x="0" y="171450"/>
                </a:lnTo>
                <a:cubicBezTo>
                  <a:pt x="0" y="197763"/>
                  <a:pt x="59710" y="219075"/>
                  <a:pt x="133350" y="219075"/>
                </a:cubicBezTo>
                <a:cubicBezTo>
                  <a:pt x="206990" y="219075"/>
                  <a:pt x="266700" y="197763"/>
                  <a:pt x="266700" y="171450"/>
                </a:cubicBezTo>
                <a:lnTo>
                  <a:pt x="266700" y="122515"/>
                </a:lnTo>
                <a:close/>
                <a:moveTo>
                  <a:pt x="266700" y="76200"/>
                </a:moveTo>
                <a:lnTo>
                  <a:pt x="266700" y="47625"/>
                </a:lnTo>
                <a:cubicBezTo>
                  <a:pt x="266700" y="21312"/>
                  <a:pt x="206990" y="0"/>
                  <a:pt x="133350" y="0"/>
                </a:cubicBezTo>
                <a:cubicBezTo>
                  <a:pt x="59710" y="0"/>
                  <a:pt x="0" y="21312"/>
                  <a:pt x="0" y="47625"/>
                </a:cubicBezTo>
                <a:lnTo>
                  <a:pt x="0" y="76200"/>
                </a:lnTo>
                <a:cubicBezTo>
                  <a:pt x="0" y="102513"/>
                  <a:pt x="59710" y="123825"/>
                  <a:pt x="133350" y="123825"/>
                </a:cubicBezTo>
                <a:cubicBezTo>
                  <a:pt x="206990" y="123825"/>
                  <a:pt x="266700" y="102513"/>
                  <a:pt x="266700" y="76200"/>
                </a:cubicBezTo>
                <a:close/>
                <a:moveTo>
                  <a:pt x="237232" y="232053"/>
                </a:moveTo>
                <a:cubicBezTo>
                  <a:pt x="209312" y="241995"/>
                  <a:pt x="172581" y="247650"/>
                  <a:pt x="133350" y="247650"/>
                </a:cubicBezTo>
                <a:cubicBezTo>
                  <a:pt x="94119" y="247650"/>
                  <a:pt x="57388" y="241995"/>
                  <a:pt x="29468" y="232053"/>
                </a:cubicBezTo>
                <a:cubicBezTo>
                  <a:pt x="18990" y="228302"/>
                  <a:pt x="8811" y="223599"/>
                  <a:pt x="0" y="217765"/>
                </a:cubicBezTo>
                <a:lnTo>
                  <a:pt x="0" y="257175"/>
                </a:lnTo>
                <a:cubicBezTo>
                  <a:pt x="0" y="283488"/>
                  <a:pt x="59710" y="304800"/>
                  <a:pt x="133350" y="304800"/>
                </a:cubicBezTo>
                <a:cubicBezTo>
                  <a:pt x="206990" y="304800"/>
                  <a:pt x="266700" y="283488"/>
                  <a:pt x="266700" y="257175"/>
                </a:cubicBezTo>
                <a:lnTo>
                  <a:pt x="266700" y="217765"/>
                </a:lnTo>
                <a:cubicBezTo>
                  <a:pt x="257889" y="223599"/>
                  <a:pt x="247769" y="228302"/>
                  <a:pt x="237232" y="232053"/>
                </a:cubicBezTo>
                <a:close/>
              </a:path>
            </a:pathLst>
          </a:custGeom>
          <a:solidFill>
            <a:srgbClr val="00E5A0"/>
          </a:solidFill>
          <a:ln/>
        </p:spPr>
      </p:sp>
      <p:sp>
        <p:nvSpPr>
          <p:cNvPr id="29" name="Text 26"/>
          <p:cNvSpPr/>
          <p:nvPr/>
        </p:nvSpPr>
        <p:spPr>
          <a:xfrm>
            <a:off x="5842000" y="6858000"/>
            <a:ext cx="1778000" cy="254000"/>
          </a:xfrm>
          <a:prstGeom prst="rect">
            <a:avLst/>
          </a:prstGeom>
          <a:noFill/>
          <a:ln/>
        </p:spPr>
        <p:txBody>
          <a:bodyPr wrap="none" lIns="0" tIns="0" rIns="0" bIns="0" rtlCol="0" anchor="ctr"/>
          <a:lstStyle/>
          <a:p>
            <a:pPr algn="ctr">
              <a:lnSpc>
                <a:spcPct val="100000"/>
              </a:lnSpc>
            </a:pPr>
            <a:r>
              <a:rPr lang="en-US" sz="1100" dirty="0">
                <a:solidFill>
                  <a:srgbClr val="00E5A0"/>
                </a:solidFill>
                <a:latin typeface="Arial" panose="020B0604020202020204" pitchFamily="34" charset="0"/>
                <a:ea typeface="微软雅黑" pitchFamily="34" charset="-122"/>
                <a:cs typeface="Arial" panose="020B0604020202020204" pitchFamily="34" charset="0"/>
              </a:rPr>
              <a:t>MariaDB</a:t>
            </a:r>
            <a:endParaRPr lang="en-US" sz="1600" dirty="0">
              <a:latin typeface="Arial" panose="020B0604020202020204" pitchFamily="34" charset="0"/>
              <a:cs typeface="Arial" panose="020B0604020202020204" pitchFamily="34" charset="0"/>
            </a:endParaRPr>
          </a:p>
        </p:txBody>
      </p:sp>
      <p:sp>
        <p:nvSpPr>
          <p:cNvPr id="30" name="Text 27"/>
          <p:cNvSpPr/>
          <p:nvPr/>
        </p:nvSpPr>
        <p:spPr>
          <a:xfrm>
            <a:off x="4064000" y="7239000"/>
            <a:ext cx="2540000" cy="254000"/>
          </a:xfrm>
          <a:prstGeom prst="rect">
            <a:avLst/>
          </a:prstGeom>
          <a:noFill/>
          <a:ln/>
        </p:spPr>
        <p:txBody>
          <a:bodyPr wrap="none" lIns="0" tIns="0" rIns="0" bIns="0" rtlCol="0" anchor="ctr"/>
          <a:lstStyle/>
          <a:p>
            <a:pPr algn="ctr">
              <a:lnSpc>
                <a:spcPct val="100000"/>
              </a:lnSpc>
            </a:pPr>
            <a:r>
              <a:rPr lang="en-US" sz="1200" dirty="0">
                <a:solidFill>
                  <a:srgbClr val="8B949E"/>
                </a:solidFill>
                <a:latin typeface="Arial" panose="020B0604020202020204" pitchFamily="34" charset="0"/>
                <a:ea typeface="微软雅黑" pitchFamily="34" charset="-122"/>
                <a:cs typeface="Arial" panose="020B0604020202020204" pitchFamily="34" charset="0"/>
              </a:rPr>
              <a:t>Red interna segura</a:t>
            </a:r>
            <a:endParaRPr lang="en-US" sz="1600" dirty="0">
              <a:latin typeface="Arial" panose="020B0604020202020204" pitchFamily="34" charset="0"/>
              <a:cs typeface="Arial" panose="020B0604020202020204" pitchFamily="34" charset="0"/>
            </a:endParaRPr>
          </a:p>
        </p:txBody>
      </p:sp>
      <p:sp>
        <p:nvSpPr>
          <p:cNvPr id="31" name="Text 28"/>
          <p:cNvSpPr/>
          <p:nvPr/>
        </p:nvSpPr>
        <p:spPr>
          <a:xfrm>
            <a:off x="15240000" y="8763000"/>
            <a:ext cx="635000" cy="254000"/>
          </a:xfrm>
          <a:prstGeom prst="rect">
            <a:avLst/>
          </a:prstGeom>
          <a:noFill/>
          <a:ln/>
        </p:spPr>
        <p:txBody>
          <a:bodyPr wrap="none" lIns="0" tIns="0" rIns="0" bIns="0" rtlCol="0" anchor="ctr"/>
          <a:lstStyle/>
          <a:p>
            <a:pPr algn="r">
              <a:lnSpc>
                <a:spcPct val="140000"/>
              </a:lnSpc>
            </a:pPr>
            <a:r>
              <a:rPr lang="en-US" sz="1400" dirty="0">
                <a:solidFill>
                  <a:srgbClr val="8B949E"/>
                </a:solidFill>
                <a:latin typeface="Arial" panose="020B0604020202020204" pitchFamily="34" charset="0"/>
                <a:ea typeface="QuattrocentoSans" pitchFamily="34" charset="-122"/>
                <a:cs typeface="Arial" panose="020B0604020202020204" pitchFamily="34" charset="0"/>
              </a:rPr>
              <a:t>06</a:t>
            </a:r>
            <a:endParaRPr lang="en-US" sz="1400" dirty="0">
              <a:latin typeface="Arial" panose="020B0604020202020204" pitchFamily="34" charset="0"/>
              <a:cs typeface="Arial" panose="020B0604020202020204" pitchFamily="34" charset="0"/>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3" name="Shape 0"/>
          <p:cNvSpPr/>
          <p:nvPr/>
        </p:nvSpPr>
        <p:spPr>
          <a:xfrm>
            <a:off x="0" y="0"/>
            <a:ext cx="16256000" cy="38100"/>
          </a:xfrm>
          <a:prstGeom prst="rect">
            <a:avLst/>
          </a:prstGeom>
          <a:solidFill>
            <a:srgbClr val="00E5A0"/>
          </a:solidFill>
          <a:ln/>
        </p:spPr>
      </p:sp>
      <p:sp>
        <p:nvSpPr>
          <p:cNvPr id="4" name="Text 1"/>
          <p:cNvSpPr/>
          <p:nvPr/>
        </p:nvSpPr>
        <p:spPr>
          <a:xfrm>
            <a:off x="762000" y="381000"/>
            <a:ext cx="7620000" cy="508000"/>
          </a:xfrm>
          <a:prstGeom prst="rect">
            <a:avLst/>
          </a:prstGeom>
          <a:noFill/>
          <a:ln/>
        </p:spPr>
        <p:txBody>
          <a:bodyPr wrap="none" lIns="0" tIns="0" rIns="0" bIns="0" rtlCol="0" anchor="ctr"/>
          <a:lstStyle/>
          <a:p>
            <a:pPr>
              <a:lnSpc>
                <a:spcPct val="120000"/>
              </a:lnSpc>
            </a:pPr>
            <a:r>
              <a:rPr lang="en-US" sz="3000" kern="0" spc="200" dirty="0">
                <a:solidFill>
                  <a:srgbClr val="00E5A0"/>
                </a:solidFill>
                <a:latin typeface="Arial" panose="020B0604020202020204" pitchFamily="34" charset="0"/>
                <a:ea typeface="Liter" pitchFamily="34" charset="-122"/>
                <a:cs typeface="Arial" panose="020B0604020202020204" pitchFamily="34" charset="0"/>
              </a:rPr>
              <a:t>SISTEMA DE RESPALDOS</a:t>
            </a:r>
            <a:endParaRPr lang="en-US" sz="3000" dirty="0">
              <a:latin typeface="Arial" panose="020B0604020202020204" pitchFamily="34" charset="0"/>
              <a:cs typeface="Arial" panose="020B0604020202020204" pitchFamily="34" charset="0"/>
            </a:endParaRPr>
          </a:p>
        </p:txBody>
      </p:sp>
      <p:sp>
        <p:nvSpPr>
          <p:cNvPr id="5" name="Shape 2"/>
          <p:cNvSpPr/>
          <p:nvPr/>
        </p:nvSpPr>
        <p:spPr>
          <a:xfrm>
            <a:off x="762000" y="952500"/>
            <a:ext cx="1524000" cy="38100"/>
          </a:xfrm>
          <a:prstGeom prst="rect">
            <a:avLst/>
          </a:prstGeom>
          <a:solidFill>
            <a:srgbClr val="00E5A0"/>
          </a:solidFill>
          <a:ln/>
        </p:spPr>
      </p:sp>
      <p:sp>
        <p:nvSpPr>
          <p:cNvPr id="6" name="Shape 3"/>
          <p:cNvSpPr/>
          <p:nvPr/>
        </p:nvSpPr>
        <p:spPr>
          <a:xfrm>
            <a:off x="1016000" y="1651000"/>
            <a:ext cx="2540000" cy="1270000"/>
          </a:xfrm>
          <a:prstGeom prst="roundRect">
            <a:avLst>
              <a:gd name="adj" fmla="val 10000"/>
            </a:avLst>
          </a:prstGeom>
          <a:solidFill>
            <a:srgbClr val="161B22"/>
          </a:solidFill>
          <a:ln w="25400">
            <a:solidFill>
              <a:srgbClr val="00E5A0"/>
            </a:solidFill>
            <a:prstDash val="solid"/>
          </a:ln>
        </p:spPr>
      </p:sp>
      <p:sp>
        <p:nvSpPr>
          <p:cNvPr id="7" name="Shape 4"/>
          <p:cNvSpPr/>
          <p:nvPr/>
        </p:nvSpPr>
        <p:spPr>
          <a:xfrm>
            <a:off x="1911350" y="1778000"/>
            <a:ext cx="444500" cy="508000"/>
          </a:xfrm>
          <a:custGeom>
            <a:avLst/>
            <a:gdLst/>
            <a:ahLst/>
            <a:cxnLst/>
            <a:rect l="l" t="t" r="r" b="b"/>
            <a:pathLst>
              <a:path w="444500" h="508000">
                <a:moveTo>
                  <a:pt x="444500" y="204192"/>
                </a:moveTo>
                <a:cubicBezTo>
                  <a:pt x="429816" y="213916"/>
                  <a:pt x="412948" y="221754"/>
                  <a:pt x="395387" y="228005"/>
                </a:cubicBezTo>
                <a:cubicBezTo>
                  <a:pt x="348754" y="244673"/>
                  <a:pt x="287536" y="254000"/>
                  <a:pt x="222250" y="254000"/>
                </a:cubicBezTo>
                <a:cubicBezTo>
                  <a:pt x="156964" y="254000"/>
                  <a:pt x="95647" y="244574"/>
                  <a:pt x="49113" y="228005"/>
                </a:cubicBezTo>
                <a:cubicBezTo>
                  <a:pt x="31651" y="221754"/>
                  <a:pt x="14684" y="213916"/>
                  <a:pt x="0" y="204192"/>
                </a:cubicBezTo>
                <a:lnTo>
                  <a:pt x="0" y="285750"/>
                </a:lnTo>
                <a:cubicBezTo>
                  <a:pt x="0" y="329605"/>
                  <a:pt x="99516" y="365125"/>
                  <a:pt x="222250" y="365125"/>
                </a:cubicBezTo>
                <a:cubicBezTo>
                  <a:pt x="344984" y="365125"/>
                  <a:pt x="444500" y="329605"/>
                  <a:pt x="444500" y="285750"/>
                </a:cubicBezTo>
                <a:lnTo>
                  <a:pt x="444500" y="204192"/>
                </a:lnTo>
                <a:close/>
                <a:moveTo>
                  <a:pt x="444500" y="127000"/>
                </a:moveTo>
                <a:lnTo>
                  <a:pt x="444500" y="79375"/>
                </a:lnTo>
                <a:cubicBezTo>
                  <a:pt x="444500" y="35520"/>
                  <a:pt x="344984" y="0"/>
                  <a:pt x="222250" y="0"/>
                </a:cubicBezTo>
                <a:cubicBezTo>
                  <a:pt x="99516" y="0"/>
                  <a:pt x="0" y="35520"/>
                  <a:pt x="0" y="79375"/>
                </a:cubicBezTo>
                <a:lnTo>
                  <a:pt x="0" y="127000"/>
                </a:lnTo>
                <a:cubicBezTo>
                  <a:pt x="0" y="170855"/>
                  <a:pt x="99516" y="206375"/>
                  <a:pt x="222250" y="206375"/>
                </a:cubicBezTo>
                <a:cubicBezTo>
                  <a:pt x="344984" y="206375"/>
                  <a:pt x="444500" y="170855"/>
                  <a:pt x="444500" y="127000"/>
                </a:cubicBezTo>
                <a:close/>
                <a:moveTo>
                  <a:pt x="395387" y="386755"/>
                </a:moveTo>
                <a:cubicBezTo>
                  <a:pt x="348853" y="403324"/>
                  <a:pt x="287635" y="412750"/>
                  <a:pt x="222250" y="412750"/>
                </a:cubicBezTo>
                <a:cubicBezTo>
                  <a:pt x="156865" y="412750"/>
                  <a:pt x="95647" y="403324"/>
                  <a:pt x="49113" y="386755"/>
                </a:cubicBezTo>
                <a:cubicBezTo>
                  <a:pt x="31651" y="380504"/>
                  <a:pt x="14684" y="372666"/>
                  <a:pt x="0" y="362942"/>
                </a:cubicBezTo>
                <a:lnTo>
                  <a:pt x="0" y="428625"/>
                </a:lnTo>
                <a:cubicBezTo>
                  <a:pt x="0" y="472480"/>
                  <a:pt x="99516" y="508000"/>
                  <a:pt x="222250" y="508000"/>
                </a:cubicBezTo>
                <a:cubicBezTo>
                  <a:pt x="344984" y="508000"/>
                  <a:pt x="444500" y="472480"/>
                  <a:pt x="444500" y="428625"/>
                </a:cubicBezTo>
                <a:lnTo>
                  <a:pt x="444500" y="362942"/>
                </a:lnTo>
                <a:cubicBezTo>
                  <a:pt x="429816" y="372666"/>
                  <a:pt x="412948" y="380504"/>
                  <a:pt x="395387" y="386755"/>
                </a:cubicBezTo>
                <a:close/>
              </a:path>
            </a:pathLst>
          </a:custGeom>
          <a:solidFill>
            <a:srgbClr val="00E5A0"/>
          </a:solidFill>
          <a:ln/>
        </p:spPr>
      </p:sp>
      <p:sp>
        <p:nvSpPr>
          <p:cNvPr id="8" name="Text 5"/>
          <p:cNvSpPr/>
          <p:nvPr/>
        </p:nvSpPr>
        <p:spPr>
          <a:xfrm>
            <a:off x="1016000" y="2349500"/>
            <a:ext cx="2540000" cy="444500"/>
          </a:xfrm>
          <a:prstGeom prst="rect">
            <a:avLst/>
          </a:prstGeom>
          <a:noFill/>
          <a:ln/>
        </p:spPr>
        <p:txBody>
          <a:bodyPr wrap="none" lIns="0" tIns="0" rIns="0" bIns="0" rtlCol="0" anchor="ctr"/>
          <a:lstStyle/>
          <a:p>
            <a:pPr algn="ctr">
              <a:lnSpc>
                <a:spcPct val="100000"/>
              </a:lnSpc>
            </a:pPr>
            <a:r>
              <a:rPr lang="en-US" sz="1300" dirty="0">
                <a:solidFill>
                  <a:srgbClr val="00E5A0"/>
                </a:solidFill>
                <a:latin typeface="Arial" panose="020B0604020202020204" pitchFamily="34" charset="0"/>
                <a:ea typeface="Liter" pitchFamily="34" charset="-122"/>
                <a:cs typeface="Arial" panose="020B0604020202020204" pitchFamily="34" charset="0"/>
              </a:rPr>
              <a:t>MariaDB</a:t>
            </a:r>
            <a:endParaRPr lang="en-US" sz="1600" dirty="0">
              <a:latin typeface="Arial" panose="020B0604020202020204" pitchFamily="34" charset="0"/>
              <a:cs typeface="Arial" panose="020B0604020202020204" pitchFamily="34" charset="0"/>
            </a:endParaRPr>
          </a:p>
        </p:txBody>
      </p:sp>
      <p:sp>
        <p:nvSpPr>
          <p:cNvPr id="9" name="Shape 6"/>
          <p:cNvSpPr/>
          <p:nvPr/>
        </p:nvSpPr>
        <p:spPr>
          <a:xfrm>
            <a:off x="3556000" y="2260600"/>
            <a:ext cx="1016000" cy="0"/>
          </a:xfrm>
          <a:prstGeom prst="straightConnector1">
            <a:avLst/>
          </a:prstGeom>
          <a:noFill/>
          <a:ln w="25400">
            <a:solidFill>
              <a:srgbClr val="00E5A0"/>
            </a:solidFill>
            <a:prstDash val="solid"/>
            <a:headEnd type="none"/>
            <a:tailEnd type="arrow"/>
          </a:ln>
        </p:spPr>
      </p:sp>
      <p:sp>
        <p:nvSpPr>
          <p:cNvPr id="10" name="Shape 7"/>
          <p:cNvSpPr/>
          <p:nvPr/>
        </p:nvSpPr>
        <p:spPr>
          <a:xfrm>
            <a:off x="4572000" y="1651000"/>
            <a:ext cx="2540000" cy="1270000"/>
          </a:xfrm>
          <a:prstGeom prst="roundRect">
            <a:avLst>
              <a:gd name="adj" fmla="val 10000"/>
            </a:avLst>
          </a:prstGeom>
          <a:solidFill>
            <a:srgbClr val="161B22"/>
          </a:solidFill>
          <a:ln w="25400">
            <a:solidFill>
              <a:srgbClr val="00E5A0"/>
            </a:solidFill>
            <a:prstDash val="solid"/>
          </a:ln>
        </p:spPr>
      </p:sp>
      <p:sp>
        <p:nvSpPr>
          <p:cNvPr id="11" name="Shape 8"/>
          <p:cNvSpPr/>
          <p:nvPr/>
        </p:nvSpPr>
        <p:spPr>
          <a:xfrm>
            <a:off x="5499100" y="1778000"/>
            <a:ext cx="381000" cy="508000"/>
          </a:xfrm>
          <a:custGeom>
            <a:avLst/>
            <a:gdLst/>
            <a:ahLst/>
            <a:cxnLst/>
            <a:rect l="l" t="t" r="r" b="b"/>
            <a:pathLst>
              <a:path w="381000" h="508000">
                <a:moveTo>
                  <a:pt x="0" y="63500"/>
                </a:moveTo>
                <a:cubicBezTo>
                  <a:pt x="0" y="28476"/>
                  <a:pt x="28476" y="0"/>
                  <a:pt x="63500" y="0"/>
                </a:cubicBezTo>
                <a:lnTo>
                  <a:pt x="211832" y="0"/>
                </a:lnTo>
                <a:cubicBezTo>
                  <a:pt x="228699" y="0"/>
                  <a:pt x="244872" y="6648"/>
                  <a:pt x="256778" y="18554"/>
                </a:cubicBezTo>
                <a:lnTo>
                  <a:pt x="362446" y="124321"/>
                </a:lnTo>
                <a:cubicBezTo>
                  <a:pt x="374352" y="136227"/>
                  <a:pt x="381000" y="152400"/>
                  <a:pt x="381000" y="169267"/>
                </a:cubicBezTo>
                <a:lnTo>
                  <a:pt x="381000" y="444500"/>
                </a:lnTo>
                <a:cubicBezTo>
                  <a:pt x="381000" y="479524"/>
                  <a:pt x="352524" y="508000"/>
                  <a:pt x="317500" y="508000"/>
                </a:cubicBezTo>
                <a:lnTo>
                  <a:pt x="63500" y="508000"/>
                </a:lnTo>
                <a:cubicBezTo>
                  <a:pt x="28476" y="508000"/>
                  <a:pt x="0" y="479524"/>
                  <a:pt x="0" y="444500"/>
                </a:cubicBezTo>
                <a:lnTo>
                  <a:pt x="0" y="63500"/>
                </a:lnTo>
                <a:close/>
                <a:moveTo>
                  <a:pt x="206375" y="58043"/>
                </a:moveTo>
                <a:lnTo>
                  <a:pt x="206375" y="150813"/>
                </a:lnTo>
                <a:cubicBezTo>
                  <a:pt x="206375" y="164009"/>
                  <a:pt x="216991" y="174625"/>
                  <a:pt x="230188" y="174625"/>
                </a:cubicBezTo>
                <a:lnTo>
                  <a:pt x="322957" y="174625"/>
                </a:lnTo>
                <a:lnTo>
                  <a:pt x="206375" y="58043"/>
                </a:lnTo>
                <a:close/>
                <a:moveTo>
                  <a:pt x="152995" y="293291"/>
                </a:moveTo>
                <a:cubicBezTo>
                  <a:pt x="161528" y="283270"/>
                  <a:pt x="160437" y="268288"/>
                  <a:pt x="150416" y="259755"/>
                </a:cubicBezTo>
                <a:cubicBezTo>
                  <a:pt x="140395" y="251222"/>
                  <a:pt x="125413" y="252313"/>
                  <a:pt x="116880" y="262334"/>
                </a:cubicBezTo>
                <a:lnTo>
                  <a:pt x="69255" y="317897"/>
                </a:lnTo>
                <a:cubicBezTo>
                  <a:pt x="61615" y="326827"/>
                  <a:pt x="61615" y="339923"/>
                  <a:pt x="69255" y="348853"/>
                </a:cubicBezTo>
                <a:lnTo>
                  <a:pt x="116880" y="404416"/>
                </a:lnTo>
                <a:cubicBezTo>
                  <a:pt x="125413" y="414437"/>
                  <a:pt x="140494" y="415528"/>
                  <a:pt x="150416" y="406995"/>
                </a:cubicBezTo>
                <a:cubicBezTo>
                  <a:pt x="160338" y="398463"/>
                  <a:pt x="161528" y="383381"/>
                  <a:pt x="152995" y="373459"/>
                </a:cubicBezTo>
                <a:lnTo>
                  <a:pt x="118666" y="333375"/>
                </a:lnTo>
                <a:lnTo>
                  <a:pt x="152995" y="293291"/>
                </a:lnTo>
                <a:close/>
                <a:moveTo>
                  <a:pt x="264120" y="262334"/>
                </a:moveTo>
                <a:cubicBezTo>
                  <a:pt x="255587" y="252313"/>
                  <a:pt x="240506" y="251222"/>
                  <a:pt x="230584" y="259755"/>
                </a:cubicBezTo>
                <a:cubicBezTo>
                  <a:pt x="220662" y="268287"/>
                  <a:pt x="219472" y="283369"/>
                  <a:pt x="228005" y="293291"/>
                </a:cubicBezTo>
                <a:lnTo>
                  <a:pt x="262334" y="333375"/>
                </a:lnTo>
                <a:lnTo>
                  <a:pt x="228005" y="373459"/>
                </a:lnTo>
                <a:cubicBezTo>
                  <a:pt x="219472" y="383480"/>
                  <a:pt x="220563" y="398462"/>
                  <a:pt x="230584" y="406995"/>
                </a:cubicBezTo>
                <a:cubicBezTo>
                  <a:pt x="240605" y="415528"/>
                  <a:pt x="255587" y="414437"/>
                  <a:pt x="264120" y="404416"/>
                </a:cubicBezTo>
                <a:lnTo>
                  <a:pt x="311745" y="348853"/>
                </a:lnTo>
                <a:cubicBezTo>
                  <a:pt x="319385" y="339923"/>
                  <a:pt x="319385" y="326827"/>
                  <a:pt x="311745" y="317897"/>
                </a:cubicBezTo>
                <a:lnTo>
                  <a:pt x="264120" y="262334"/>
                </a:lnTo>
                <a:close/>
              </a:path>
            </a:pathLst>
          </a:custGeom>
          <a:solidFill>
            <a:srgbClr val="00E5A0"/>
          </a:solidFill>
          <a:ln/>
        </p:spPr>
      </p:sp>
      <p:sp>
        <p:nvSpPr>
          <p:cNvPr id="12" name="Text 9"/>
          <p:cNvSpPr/>
          <p:nvPr/>
        </p:nvSpPr>
        <p:spPr>
          <a:xfrm>
            <a:off x="4572000" y="2349500"/>
            <a:ext cx="2540000" cy="444500"/>
          </a:xfrm>
          <a:prstGeom prst="rect">
            <a:avLst/>
          </a:prstGeom>
          <a:noFill/>
          <a:ln/>
        </p:spPr>
        <p:txBody>
          <a:bodyPr wrap="none" lIns="0" tIns="0" rIns="0" bIns="0" rtlCol="0" anchor="ctr"/>
          <a:lstStyle/>
          <a:p>
            <a:pPr algn="ctr">
              <a:lnSpc>
                <a:spcPct val="100000"/>
              </a:lnSpc>
            </a:pPr>
            <a:r>
              <a:rPr lang="en-US" sz="1300" dirty="0">
                <a:solidFill>
                  <a:srgbClr val="00E5A0"/>
                </a:solidFill>
                <a:latin typeface="Arial" panose="020B0604020202020204" pitchFamily="34" charset="0"/>
                <a:ea typeface="Liter" pitchFamily="34" charset="-122"/>
                <a:cs typeface="Arial" panose="020B0604020202020204" pitchFamily="34" charset="0"/>
              </a:rPr>
              <a:t>mysqldump</a:t>
            </a:r>
            <a:endParaRPr lang="en-US" sz="1600" dirty="0">
              <a:latin typeface="Arial" panose="020B0604020202020204" pitchFamily="34" charset="0"/>
              <a:cs typeface="Arial" panose="020B0604020202020204" pitchFamily="34" charset="0"/>
            </a:endParaRPr>
          </a:p>
        </p:txBody>
      </p:sp>
      <p:sp>
        <p:nvSpPr>
          <p:cNvPr id="13" name="Shape 10"/>
          <p:cNvSpPr/>
          <p:nvPr/>
        </p:nvSpPr>
        <p:spPr>
          <a:xfrm>
            <a:off x="7112000" y="2260600"/>
            <a:ext cx="1016000" cy="0"/>
          </a:xfrm>
          <a:prstGeom prst="straightConnector1">
            <a:avLst/>
          </a:prstGeom>
          <a:noFill/>
          <a:ln w="25400">
            <a:solidFill>
              <a:srgbClr val="00E5A0"/>
            </a:solidFill>
            <a:prstDash val="solid"/>
            <a:headEnd type="none"/>
            <a:tailEnd type="arrow"/>
          </a:ln>
        </p:spPr>
      </p:sp>
      <p:sp>
        <p:nvSpPr>
          <p:cNvPr id="14" name="Shape 11"/>
          <p:cNvSpPr/>
          <p:nvPr/>
        </p:nvSpPr>
        <p:spPr>
          <a:xfrm>
            <a:off x="8128000" y="1651000"/>
            <a:ext cx="2540000" cy="1270000"/>
          </a:xfrm>
          <a:prstGeom prst="roundRect">
            <a:avLst>
              <a:gd name="adj" fmla="val 10000"/>
            </a:avLst>
          </a:prstGeom>
          <a:solidFill>
            <a:srgbClr val="161B22"/>
          </a:solidFill>
          <a:ln w="25400">
            <a:solidFill>
              <a:srgbClr val="00E5A0"/>
            </a:solidFill>
            <a:prstDash val="solid"/>
          </a:ln>
        </p:spPr>
      </p:sp>
      <p:sp>
        <p:nvSpPr>
          <p:cNvPr id="15" name="Shape 12"/>
          <p:cNvSpPr/>
          <p:nvPr/>
        </p:nvSpPr>
        <p:spPr>
          <a:xfrm>
            <a:off x="8991600" y="1778000"/>
            <a:ext cx="508000" cy="508000"/>
          </a:xfrm>
          <a:custGeom>
            <a:avLst/>
            <a:gdLst/>
            <a:ahLst/>
            <a:cxnLst/>
            <a:rect l="l" t="t" r="r" b="b"/>
            <a:pathLst>
              <a:path w="508000" h="508000">
                <a:moveTo>
                  <a:pt x="254000" y="0"/>
                </a:moveTo>
                <a:cubicBezTo>
                  <a:pt x="394186" y="0"/>
                  <a:pt x="508000" y="113814"/>
                  <a:pt x="508000" y="254000"/>
                </a:cubicBezTo>
                <a:cubicBezTo>
                  <a:pt x="508000" y="394186"/>
                  <a:pt x="394186" y="508000"/>
                  <a:pt x="254000" y="508000"/>
                </a:cubicBezTo>
                <a:cubicBezTo>
                  <a:pt x="113814" y="508000"/>
                  <a:pt x="0" y="394186"/>
                  <a:pt x="0" y="254000"/>
                </a:cubicBezTo>
                <a:cubicBezTo>
                  <a:pt x="0" y="113814"/>
                  <a:pt x="113814" y="0"/>
                  <a:pt x="254000" y="0"/>
                </a:cubicBezTo>
                <a:close/>
                <a:moveTo>
                  <a:pt x="230188" y="119063"/>
                </a:moveTo>
                <a:lnTo>
                  <a:pt x="230188" y="254000"/>
                </a:lnTo>
                <a:cubicBezTo>
                  <a:pt x="230188" y="261937"/>
                  <a:pt x="234156" y="269379"/>
                  <a:pt x="240804" y="273844"/>
                </a:cubicBezTo>
                <a:lnTo>
                  <a:pt x="336054" y="337344"/>
                </a:lnTo>
                <a:cubicBezTo>
                  <a:pt x="346968" y="344686"/>
                  <a:pt x="361752" y="341709"/>
                  <a:pt x="369094" y="330696"/>
                </a:cubicBezTo>
                <a:cubicBezTo>
                  <a:pt x="376436" y="319683"/>
                  <a:pt x="373459" y="304998"/>
                  <a:pt x="362446" y="297656"/>
                </a:cubicBezTo>
                <a:lnTo>
                  <a:pt x="277813" y="241300"/>
                </a:lnTo>
                <a:lnTo>
                  <a:pt x="277813" y="119063"/>
                </a:lnTo>
                <a:cubicBezTo>
                  <a:pt x="277813" y="105866"/>
                  <a:pt x="267196" y="95250"/>
                  <a:pt x="254000" y="95250"/>
                </a:cubicBezTo>
                <a:cubicBezTo>
                  <a:pt x="240804" y="95250"/>
                  <a:pt x="230188" y="105866"/>
                  <a:pt x="230188" y="119063"/>
                </a:cubicBezTo>
                <a:close/>
              </a:path>
            </a:pathLst>
          </a:custGeom>
          <a:solidFill>
            <a:srgbClr val="00E5A0"/>
          </a:solidFill>
          <a:ln/>
        </p:spPr>
      </p:sp>
      <p:sp>
        <p:nvSpPr>
          <p:cNvPr id="16" name="Text 13"/>
          <p:cNvSpPr/>
          <p:nvPr/>
        </p:nvSpPr>
        <p:spPr>
          <a:xfrm>
            <a:off x="8128000" y="2349500"/>
            <a:ext cx="2540000" cy="444500"/>
          </a:xfrm>
          <a:prstGeom prst="rect">
            <a:avLst/>
          </a:prstGeom>
          <a:noFill/>
          <a:ln/>
        </p:spPr>
        <p:txBody>
          <a:bodyPr wrap="none" lIns="0" tIns="0" rIns="0" bIns="0" rtlCol="0" anchor="ctr"/>
          <a:lstStyle/>
          <a:p>
            <a:pPr algn="ctr">
              <a:lnSpc>
                <a:spcPct val="100000"/>
              </a:lnSpc>
            </a:pPr>
            <a:r>
              <a:rPr lang="en-US" sz="1300" dirty="0" err="1">
                <a:solidFill>
                  <a:srgbClr val="00E5A0"/>
                </a:solidFill>
                <a:latin typeface="Arial" panose="020B0604020202020204" pitchFamily="34" charset="0"/>
                <a:ea typeface="Liter" pitchFamily="34" charset="-122"/>
                <a:cs typeface="Arial" panose="020B0604020202020204" pitchFamily="34" charset="0"/>
              </a:rPr>
              <a:t>cron</a:t>
            </a:r>
            <a:r>
              <a:rPr lang="en-US" sz="1300" dirty="0">
                <a:solidFill>
                  <a:srgbClr val="00E5A0"/>
                </a:solidFill>
                <a:latin typeface="Arial" panose="020B0604020202020204" pitchFamily="34" charset="0"/>
                <a:ea typeface="Liter" pitchFamily="34" charset="-122"/>
                <a:cs typeface="Arial" panose="020B0604020202020204" pitchFamily="34" charset="0"/>
              </a:rPr>
              <a:t> (</a:t>
            </a:r>
            <a:r>
              <a:rPr lang="en-US" sz="1300" dirty="0" err="1">
                <a:solidFill>
                  <a:srgbClr val="00E5A0"/>
                </a:solidFill>
                <a:latin typeface="Arial" panose="020B0604020202020204" pitchFamily="34" charset="0"/>
                <a:ea typeface="Liter" pitchFamily="34" charset="-122"/>
                <a:cs typeface="Arial" panose="020B0604020202020204" pitchFamily="34" charset="0"/>
              </a:rPr>
              <a:t>cada</a:t>
            </a:r>
            <a:r>
              <a:rPr lang="en-US" sz="1300" dirty="0">
                <a:solidFill>
                  <a:srgbClr val="00E5A0"/>
                </a:solidFill>
                <a:latin typeface="Arial" panose="020B0604020202020204" pitchFamily="34" charset="0"/>
                <a:ea typeface="Liter" pitchFamily="34" charset="-122"/>
                <a:cs typeface="Arial" panose="020B0604020202020204" pitchFamily="34" charset="0"/>
              </a:rPr>
              <a:t> 5 min)</a:t>
            </a:r>
            <a:endParaRPr lang="en-US" sz="1600" dirty="0">
              <a:latin typeface="Arial" panose="020B0604020202020204" pitchFamily="34" charset="0"/>
              <a:cs typeface="Arial" panose="020B0604020202020204" pitchFamily="34" charset="0"/>
            </a:endParaRPr>
          </a:p>
        </p:txBody>
      </p:sp>
      <p:sp>
        <p:nvSpPr>
          <p:cNvPr id="17" name="Shape 14"/>
          <p:cNvSpPr/>
          <p:nvPr/>
        </p:nvSpPr>
        <p:spPr>
          <a:xfrm>
            <a:off x="10668000" y="2260600"/>
            <a:ext cx="1016000" cy="0"/>
          </a:xfrm>
          <a:prstGeom prst="straightConnector1">
            <a:avLst/>
          </a:prstGeom>
          <a:noFill/>
          <a:ln w="25400">
            <a:solidFill>
              <a:srgbClr val="00E5A0"/>
            </a:solidFill>
            <a:prstDash val="solid"/>
            <a:headEnd type="none"/>
            <a:tailEnd type="arrow"/>
          </a:ln>
        </p:spPr>
      </p:sp>
      <p:sp>
        <p:nvSpPr>
          <p:cNvPr id="18" name="Shape 15"/>
          <p:cNvSpPr/>
          <p:nvPr/>
        </p:nvSpPr>
        <p:spPr>
          <a:xfrm>
            <a:off x="11684000" y="1651000"/>
            <a:ext cx="2540000" cy="1270000"/>
          </a:xfrm>
          <a:prstGeom prst="roundRect">
            <a:avLst>
              <a:gd name="adj" fmla="val 10000"/>
            </a:avLst>
          </a:prstGeom>
          <a:solidFill>
            <a:srgbClr val="161B22"/>
          </a:solidFill>
          <a:ln w="25400">
            <a:solidFill>
              <a:srgbClr val="00E5A0"/>
            </a:solidFill>
            <a:prstDash val="solid"/>
          </a:ln>
        </p:spPr>
      </p:sp>
      <p:sp>
        <p:nvSpPr>
          <p:cNvPr id="19" name="Shape 16"/>
          <p:cNvSpPr/>
          <p:nvPr/>
        </p:nvSpPr>
        <p:spPr>
          <a:xfrm>
            <a:off x="12515850" y="1778000"/>
            <a:ext cx="571500" cy="508000"/>
          </a:xfrm>
          <a:custGeom>
            <a:avLst/>
            <a:gdLst/>
            <a:ahLst/>
            <a:cxnLst/>
            <a:rect l="l" t="t" r="r" b="b"/>
            <a:pathLst>
              <a:path w="571500" h="508000">
                <a:moveTo>
                  <a:pt x="142875" y="476250"/>
                </a:moveTo>
                <a:cubicBezTo>
                  <a:pt x="63996" y="476250"/>
                  <a:pt x="0" y="412254"/>
                  <a:pt x="0" y="333375"/>
                </a:cubicBezTo>
                <a:cubicBezTo>
                  <a:pt x="0" y="270470"/>
                  <a:pt x="40680" y="217091"/>
                  <a:pt x="97135" y="197941"/>
                </a:cubicBezTo>
                <a:cubicBezTo>
                  <a:pt x="95845" y="190302"/>
                  <a:pt x="95250" y="182563"/>
                  <a:pt x="95250" y="174625"/>
                </a:cubicBezTo>
                <a:cubicBezTo>
                  <a:pt x="95250" y="95746"/>
                  <a:pt x="159246" y="31750"/>
                  <a:pt x="238125" y="31750"/>
                </a:cubicBezTo>
                <a:cubicBezTo>
                  <a:pt x="293092" y="31750"/>
                  <a:pt x="340816" y="62805"/>
                  <a:pt x="364728" y="108248"/>
                </a:cubicBezTo>
                <a:cubicBezTo>
                  <a:pt x="378817" y="100013"/>
                  <a:pt x="395288" y="95250"/>
                  <a:pt x="412750" y="95250"/>
                </a:cubicBezTo>
                <a:cubicBezTo>
                  <a:pt x="465336" y="95250"/>
                  <a:pt x="508000" y="137914"/>
                  <a:pt x="508000" y="190500"/>
                </a:cubicBezTo>
                <a:cubicBezTo>
                  <a:pt x="508000" y="206077"/>
                  <a:pt x="504230" y="220861"/>
                  <a:pt x="497582" y="233859"/>
                </a:cubicBezTo>
                <a:cubicBezTo>
                  <a:pt x="541238" y="254000"/>
                  <a:pt x="571500" y="298053"/>
                  <a:pt x="571500" y="349250"/>
                </a:cubicBezTo>
                <a:cubicBezTo>
                  <a:pt x="571500" y="419398"/>
                  <a:pt x="514648" y="476250"/>
                  <a:pt x="444500" y="476250"/>
                </a:cubicBezTo>
                <a:lnTo>
                  <a:pt x="142875" y="476250"/>
                </a:lnTo>
                <a:close/>
                <a:moveTo>
                  <a:pt x="374055" y="310555"/>
                </a:moveTo>
                <a:cubicBezTo>
                  <a:pt x="383381" y="301228"/>
                  <a:pt x="383381" y="286147"/>
                  <a:pt x="374055" y="276920"/>
                </a:cubicBezTo>
                <a:cubicBezTo>
                  <a:pt x="364728" y="267692"/>
                  <a:pt x="349647" y="267593"/>
                  <a:pt x="340420" y="276920"/>
                </a:cubicBezTo>
                <a:lnTo>
                  <a:pt x="309662" y="307677"/>
                </a:lnTo>
                <a:lnTo>
                  <a:pt x="309662" y="206375"/>
                </a:lnTo>
                <a:cubicBezTo>
                  <a:pt x="309662" y="193179"/>
                  <a:pt x="299045" y="182563"/>
                  <a:pt x="285849" y="182563"/>
                </a:cubicBezTo>
                <a:cubicBezTo>
                  <a:pt x="272653" y="182563"/>
                  <a:pt x="262037" y="193179"/>
                  <a:pt x="262037" y="206375"/>
                </a:cubicBezTo>
                <a:lnTo>
                  <a:pt x="262037" y="307677"/>
                </a:lnTo>
                <a:lnTo>
                  <a:pt x="231279" y="276920"/>
                </a:lnTo>
                <a:cubicBezTo>
                  <a:pt x="221952" y="267593"/>
                  <a:pt x="206871" y="267593"/>
                  <a:pt x="197644" y="276920"/>
                </a:cubicBezTo>
                <a:cubicBezTo>
                  <a:pt x="188416" y="286246"/>
                  <a:pt x="188317" y="301327"/>
                  <a:pt x="197644" y="310555"/>
                </a:cubicBezTo>
                <a:lnTo>
                  <a:pt x="269081" y="381992"/>
                </a:lnTo>
                <a:cubicBezTo>
                  <a:pt x="278408" y="391319"/>
                  <a:pt x="293489" y="391319"/>
                  <a:pt x="302716" y="381992"/>
                </a:cubicBezTo>
                <a:lnTo>
                  <a:pt x="374154" y="310555"/>
                </a:lnTo>
                <a:close/>
              </a:path>
            </a:pathLst>
          </a:custGeom>
          <a:solidFill>
            <a:srgbClr val="00E5A0"/>
          </a:solidFill>
          <a:ln/>
        </p:spPr>
      </p:sp>
      <p:sp>
        <p:nvSpPr>
          <p:cNvPr id="20" name="Text 17"/>
          <p:cNvSpPr/>
          <p:nvPr/>
        </p:nvSpPr>
        <p:spPr>
          <a:xfrm>
            <a:off x="11684000" y="2349500"/>
            <a:ext cx="2540000" cy="444500"/>
          </a:xfrm>
          <a:prstGeom prst="rect">
            <a:avLst/>
          </a:prstGeom>
          <a:noFill/>
          <a:ln/>
        </p:spPr>
        <p:txBody>
          <a:bodyPr wrap="none" lIns="0" tIns="0" rIns="0" bIns="0" rtlCol="0" anchor="ctr"/>
          <a:lstStyle/>
          <a:p>
            <a:pPr algn="ctr">
              <a:lnSpc>
                <a:spcPct val="100000"/>
              </a:lnSpc>
            </a:pPr>
            <a:r>
              <a:rPr lang="en-US" sz="1300" dirty="0">
                <a:solidFill>
                  <a:srgbClr val="00E5A0"/>
                </a:solidFill>
                <a:latin typeface="Arial" panose="020B0604020202020204" pitchFamily="34" charset="0"/>
                <a:ea typeface="Liter" pitchFamily="34" charset="-122"/>
                <a:cs typeface="Arial" panose="020B0604020202020204" pitchFamily="34" charset="0"/>
              </a:rPr>
              <a:t>Backup Server</a:t>
            </a:r>
            <a:endParaRPr lang="en-US" sz="1600" dirty="0">
              <a:latin typeface="Arial" panose="020B0604020202020204" pitchFamily="34" charset="0"/>
              <a:cs typeface="Arial" panose="020B0604020202020204" pitchFamily="34" charset="0"/>
            </a:endParaRPr>
          </a:p>
        </p:txBody>
      </p:sp>
      <p:sp>
        <p:nvSpPr>
          <p:cNvPr id="21" name="Text 18"/>
          <p:cNvSpPr/>
          <p:nvPr/>
        </p:nvSpPr>
        <p:spPr>
          <a:xfrm>
            <a:off x="762000" y="3429000"/>
            <a:ext cx="5080000" cy="381000"/>
          </a:xfrm>
          <a:prstGeom prst="rect">
            <a:avLst/>
          </a:prstGeom>
          <a:noFill/>
          <a:ln/>
        </p:spPr>
        <p:txBody>
          <a:bodyPr wrap="none" lIns="0" tIns="0" rIns="0" bIns="0" rtlCol="0" anchor="ctr"/>
          <a:lstStyle/>
          <a:p>
            <a:pPr>
              <a:lnSpc>
                <a:spcPct val="100000"/>
              </a:lnSpc>
            </a:pPr>
            <a:r>
              <a:rPr lang="en-US" sz="1800" dirty="0">
                <a:solidFill>
                  <a:srgbClr val="00E5A0"/>
                </a:solidFill>
                <a:latin typeface="Arial" panose="020B0604020202020204" pitchFamily="34" charset="0"/>
                <a:ea typeface="Liter" pitchFamily="34" charset="-122"/>
                <a:cs typeface="Arial" panose="020B0604020202020204" pitchFamily="34" charset="0"/>
              </a:rPr>
              <a:t>DETALLES DE IMPLEMENTACIÓN</a:t>
            </a:r>
            <a:endParaRPr lang="en-US" sz="1600" dirty="0">
              <a:latin typeface="Arial" panose="020B0604020202020204" pitchFamily="34" charset="0"/>
              <a:cs typeface="Arial" panose="020B0604020202020204" pitchFamily="34" charset="0"/>
            </a:endParaRPr>
          </a:p>
        </p:txBody>
      </p:sp>
      <p:sp>
        <p:nvSpPr>
          <p:cNvPr id="22" name="Shape 19"/>
          <p:cNvSpPr/>
          <p:nvPr/>
        </p:nvSpPr>
        <p:spPr>
          <a:xfrm>
            <a:off x="762000" y="4357848"/>
            <a:ext cx="7112000" cy="1016000"/>
          </a:xfrm>
          <a:prstGeom prst="roundRect">
            <a:avLst>
              <a:gd name="adj" fmla="val 8000"/>
            </a:avLst>
          </a:prstGeom>
          <a:solidFill>
            <a:srgbClr val="161B22"/>
          </a:solidFill>
          <a:ln w="12700">
            <a:solidFill>
              <a:srgbClr val="30363D"/>
            </a:solidFill>
            <a:prstDash val="solid"/>
          </a:ln>
        </p:spPr>
      </p:sp>
      <p:sp>
        <p:nvSpPr>
          <p:cNvPr id="23" name="Shape 20"/>
          <p:cNvSpPr/>
          <p:nvPr/>
        </p:nvSpPr>
        <p:spPr>
          <a:xfrm>
            <a:off x="1041400" y="4611848"/>
            <a:ext cx="355600" cy="406400"/>
          </a:xfrm>
          <a:custGeom>
            <a:avLst/>
            <a:gdLst/>
            <a:ahLst/>
            <a:cxnLst/>
            <a:rect l="l" t="t" r="r" b="b"/>
            <a:pathLst>
              <a:path w="355600" h="406400">
                <a:moveTo>
                  <a:pt x="101600" y="0"/>
                </a:moveTo>
                <a:cubicBezTo>
                  <a:pt x="115649" y="0"/>
                  <a:pt x="127000" y="11351"/>
                  <a:pt x="127000" y="25400"/>
                </a:cubicBezTo>
                <a:lnTo>
                  <a:pt x="127000" y="50800"/>
                </a:lnTo>
                <a:lnTo>
                  <a:pt x="228600" y="50800"/>
                </a:lnTo>
                <a:lnTo>
                  <a:pt x="228600" y="25400"/>
                </a:lnTo>
                <a:cubicBezTo>
                  <a:pt x="228600" y="11351"/>
                  <a:pt x="239951" y="0"/>
                  <a:pt x="254000" y="0"/>
                </a:cubicBezTo>
                <a:cubicBezTo>
                  <a:pt x="268049" y="0"/>
                  <a:pt x="279400" y="11351"/>
                  <a:pt x="279400" y="25400"/>
                </a:cubicBezTo>
                <a:lnTo>
                  <a:pt x="279400" y="50800"/>
                </a:lnTo>
                <a:lnTo>
                  <a:pt x="304800" y="50800"/>
                </a:lnTo>
                <a:cubicBezTo>
                  <a:pt x="332819" y="50800"/>
                  <a:pt x="355600" y="73581"/>
                  <a:pt x="355600" y="101600"/>
                </a:cubicBezTo>
                <a:lnTo>
                  <a:pt x="355600" y="330200"/>
                </a:lnTo>
                <a:cubicBezTo>
                  <a:pt x="355600" y="358219"/>
                  <a:pt x="332819" y="381000"/>
                  <a:pt x="304800" y="381000"/>
                </a:cubicBezTo>
                <a:lnTo>
                  <a:pt x="50800" y="381000"/>
                </a:lnTo>
                <a:cubicBezTo>
                  <a:pt x="22781" y="381000"/>
                  <a:pt x="0" y="358219"/>
                  <a:pt x="0" y="330200"/>
                </a:cubicBezTo>
                <a:lnTo>
                  <a:pt x="0" y="101600"/>
                </a:lnTo>
                <a:cubicBezTo>
                  <a:pt x="0" y="73581"/>
                  <a:pt x="22781" y="50800"/>
                  <a:pt x="50800" y="50800"/>
                </a:cubicBezTo>
                <a:lnTo>
                  <a:pt x="76200" y="50800"/>
                </a:lnTo>
                <a:lnTo>
                  <a:pt x="76200" y="25400"/>
                </a:lnTo>
                <a:cubicBezTo>
                  <a:pt x="76200" y="11351"/>
                  <a:pt x="87551" y="0"/>
                  <a:pt x="101600" y="0"/>
                </a:cubicBezTo>
                <a:close/>
                <a:moveTo>
                  <a:pt x="244793" y="181531"/>
                </a:moveTo>
                <a:cubicBezTo>
                  <a:pt x="250349" y="172641"/>
                  <a:pt x="247650" y="160893"/>
                  <a:pt x="238760" y="155258"/>
                </a:cubicBezTo>
                <a:cubicBezTo>
                  <a:pt x="229870" y="149622"/>
                  <a:pt x="218122" y="152400"/>
                  <a:pt x="212487" y="161290"/>
                </a:cubicBezTo>
                <a:lnTo>
                  <a:pt x="163751" y="239316"/>
                </a:lnTo>
                <a:lnTo>
                  <a:pt x="142319" y="210741"/>
                </a:lnTo>
                <a:cubicBezTo>
                  <a:pt x="135969" y="202327"/>
                  <a:pt x="124063" y="200581"/>
                  <a:pt x="115649" y="206931"/>
                </a:cubicBezTo>
                <a:cubicBezTo>
                  <a:pt x="107236" y="213281"/>
                  <a:pt x="105489" y="225187"/>
                  <a:pt x="111839" y="233601"/>
                </a:cubicBezTo>
                <a:lnTo>
                  <a:pt x="149939" y="284401"/>
                </a:lnTo>
                <a:cubicBezTo>
                  <a:pt x="153670" y="289401"/>
                  <a:pt x="159702" y="292259"/>
                  <a:pt x="165973" y="292021"/>
                </a:cubicBezTo>
                <a:cubicBezTo>
                  <a:pt x="172244" y="291783"/>
                  <a:pt x="177959" y="288449"/>
                  <a:pt x="181292" y="283051"/>
                </a:cubicBezTo>
                <a:lnTo>
                  <a:pt x="244792" y="181451"/>
                </a:lnTo>
                <a:close/>
              </a:path>
            </a:pathLst>
          </a:custGeom>
          <a:solidFill>
            <a:srgbClr val="00E5A0"/>
          </a:solidFill>
          <a:ln/>
        </p:spPr>
      </p:sp>
      <p:sp>
        <p:nvSpPr>
          <p:cNvPr id="24" name="Text 21"/>
          <p:cNvSpPr/>
          <p:nvPr/>
        </p:nvSpPr>
        <p:spPr>
          <a:xfrm>
            <a:off x="1587500" y="4484848"/>
            <a:ext cx="6032500" cy="762000"/>
          </a:xfrm>
          <a:prstGeom prst="rect">
            <a:avLst/>
          </a:prstGeom>
          <a:noFill/>
          <a:ln/>
        </p:spPr>
        <p:txBody>
          <a:bodyPr wrap="square" lIns="0" tIns="0" rIns="0" bIns="0" rtlCol="0" anchor="ctr"/>
          <a:lstStyle/>
          <a:p>
            <a:pPr>
              <a:lnSpc>
                <a:spcPct val="140000"/>
              </a:lnSpc>
            </a:pPr>
            <a:r>
              <a:rPr lang="en-US" sz="1600" b="1" dirty="0">
                <a:solidFill>
                  <a:srgbClr val="00E5A0"/>
                </a:solidFill>
                <a:latin typeface="Arial" panose="020B0604020202020204" pitchFamily="34" charset="0"/>
                <a:ea typeface="微软雅黑" pitchFamily="34" charset="-122"/>
                <a:cs typeface="Arial" panose="020B0604020202020204" pitchFamily="34" charset="0"/>
              </a:rPr>
              <a:t>Automatización:</a:t>
            </a:r>
            <a:r>
              <a:rPr lang="en-US" sz="1600" dirty="0">
                <a:solidFill>
                  <a:srgbClr val="E6EDF3"/>
                </a:solidFill>
                <a:latin typeface="Arial" panose="020B0604020202020204" pitchFamily="34" charset="0"/>
                <a:ea typeface="微软雅黑" pitchFamily="34" charset="-122"/>
                <a:cs typeface="Arial" panose="020B0604020202020204" pitchFamily="34" charset="0"/>
              </a:rPr>
              <a:t> Script Bash ejecutado diariamente vía </a:t>
            </a:r>
            <a:r>
              <a:rPr lang="en-US" sz="1600" dirty="0" err="1">
                <a:solidFill>
                  <a:srgbClr val="E6EDF3"/>
                </a:solidFill>
                <a:latin typeface="Arial" panose="020B0604020202020204" pitchFamily="34" charset="0"/>
                <a:ea typeface="微软雅黑" pitchFamily="34" charset="-122"/>
                <a:cs typeface="Arial" panose="020B0604020202020204" pitchFamily="34" charset="0"/>
              </a:rPr>
              <a:t>cron</a:t>
            </a:r>
            <a:r>
              <a:rPr lang="en-US" sz="1600" dirty="0">
                <a:solidFill>
                  <a:srgbClr val="E6EDF3"/>
                </a:solidFill>
                <a:latin typeface="Arial" panose="020B0604020202020204" pitchFamily="34" charset="0"/>
                <a:ea typeface="微软雅黑" pitchFamily="34" charset="-122"/>
                <a:cs typeface="Arial" panose="020B0604020202020204" pitchFamily="34" charset="0"/>
              </a:rPr>
              <a:t> </a:t>
            </a:r>
            <a:r>
              <a:rPr lang="en-US" sz="1600" dirty="0" err="1">
                <a:solidFill>
                  <a:srgbClr val="E6EDF3"/>
                </a:solidFill>
                <a:latin typeface="Arial" panose="020B0604020202020204" pitchFamily="34" charset="0"/>
                <a:ea typeface="微软雅黑" pitchFamily="34" charset="-122"/>
                <a:cs typeface="Arial" panose="020B0604020202020204" pitchFamily="34" charset="0"/>
              </a:rPr>
              <a:t>cada</a:t>
            </a:r>
            <a:r>
              <a:rPr lang="en-US" sz="1600" dirty="0">
                <a:solidFill>
                  <a:srgbClr val="E6EDF3"/>
                </a:solidFill>
                <a:latin typeface="Arial" panose="020B0604020202020204" pitchFamily="34" charset="0"/>
                <a:ea typeface="微软雅黑" pitchFamily="34" charset="-122"/>
                <a:cs typeface="Arial" panose="020B0604020202020204" pitchFamily="34" charset="0"/>
              </a:rPr>
              <a:t> 5 min sin intervención manual</a:t>
            </a:r>
            <a:endParaRPr lang="en-US" sz="1600" dirty="0">
              <a:latin typeface="Arial" panose="020B0604020202020204" pitchFamily="34" charset="0"/>
              <a:cs typeface="Arial" panose="020B0604020202020204" pitchFamily="34" charset="0"/>
            </a:endParaRPr>
          </a:p>
        </p:txBody>
      </p:sp>
      <p:sp>
        <p:nvSpPr>
          <p:cNvPr id="28" name="Shape 25"/>
          <p:cNvSpPr/>
          <p:nvPr/>
        </p:nvSpPr>
        <p:spPr>
          <a:xfrm>
            <a:off x="762000" y="5835431"/>
            <a:ext cx="7112000" cy="1016000"/>
          </a:xfrm>
          <a:prstGeom prst="roundRect">
            <a:avLst>
              <a:gd name="adj" fmla="val 8000"/>
            </a:avLst>
          </a:prstGeom>
          <a:solidFill>
            <a:srgbClr val="161B22"/>
          </a:solidFill>
          <a:ln w="12700">
            <a:solidFill>
              <a:srgbClr val="30363D"/>
            </a:solidFill>
            <a:prstDash val="solid"/>
          </a:ln>
        </p:spPr>
      </p:sp>
      <p:sp>
        <p:nvSpPr>
          <p:cNvPr id="29" name="Shape 26"/>
          <p:cNvSpPr/>
          <p:nvPr/>
        </p:nvSpPr>
        <p:spPr>
          <a:xfrm>
            <a:off x="1016000" y="6089431"/>
            <a:ext cx="406400" cy="406400"/>
          </a:xfrm>
          <a:custGeom>
            <a:avLst/>
            <a:gdLst/>
            <a:ahLst/>
            <a:cxnLst/>
            <a:rect l="l" t="t" r="r" b="b"/>
            <a:pathLst>
              <a:path w="406400" h="406400">
                <a:moveTo>
                  <a:pt x="19050" y="152400"/>
                </a:moveTo>
                <a:lnTo>
                  <a:pt x="133350" y="152400"/>
                </a:lnTo>
                <a:cubicBezTo>
                  <a:pt x="141049" y="152400"/>
                  <a:pt x="148034" y="147796"/>
                  <a:pt x="150971" y="140652"/>
                </a:cubicBezTo>
                <a:cubicBezTo>
                  <a:pt x="153908" y="133509"/>
                  <a:pt x="152321" y="125333"/>
                  <a:pt x="146844" y="119856"/>
                </a:cubicBezTo>
                <a:lnTo>
                  <a:pt x="109776" y="82788"/>
                </a:lnTo>
                <a:cubicBezTo>
                  <a:pt x="169545" y="36274"/>
                  <a:pt x="256064" y="40481"/>
                  <a:pt x="310991" y="95409"/>
                </a:cubicBezTo>
                <a:cubicBezTo>
                  <a:pt x="370523" y="154940"/>
                  <a:pt x="370523" y="251381"/>
                  <a:pt x="310991" y="310912"/>
                </a:cubicBezTo>
                <a:cubicBezTo>
                  <a:pt x="251460" y="370443"/>
                  <a:pt x="155019" y="370443"/>
                  <a:pt x="95488" y="310912"/>
                </a:cubicBezTo>
                <a:cubicBezTo>
                  <a:pt x="87392" y="302816"/>
                  <a:pt x="80407" y="294005"/>
                  <a:pt x="74533" y="284718"/>
                </a:cubicBezTo>
                <a:cubicBezTo>
                  <a:pt x="66993" y="272891"/>
                  <a:pt x="51276" y="269399"/>
                  <a:pt x="39449" y="276939"/>
                </a:cubicBezTo>
                <a:cubicBezTo>
                  <a:pt x="27622" y="284480"/>
                  <a:pt x="24130" y="300196"/>
                  <a:pt x="31671" y="312023"/>
                </a:cubicBezTo>
                <a:cubicBezTo>
                  <a:pt x="39449" y="324406"/>
                  <a:pt x="48736" y="336153"/>
                  <a:pt x="59531" y="346869"/>
                </a:cubicBezTo>
                <a:cubicBezTo>
                  <a:pt x="138906" y="426244"/>
                  <a:pt x="267494" y="426244"/>
                  <a:pt x="346869" y="346869"/>
                </a:cubicBezTo>
                <a:cubicBezTo>
                  <a:pt x="426244" y="267494"/>
                  <a:pt x="426244" y="138906"/>
                  <a:pt x="346869" y="59531"/>
                </a:cubicBezTo>
                <a:cubicBezTo>
                  <a:pt x="272098" y="-15319"/>
                  <a:pt x="153432" y="-19606"/>
                  <a:pt x="73581" y="46673"/>
                </a:cubicBezTo>
                <a:lnTo>
                  <a:pt x="32544" y="5556"/>
                </a:lnTo>
                <a:cubicBezTo>
                  <a:pt x="27067" y="159"/>
                  <a:pt x="18891" y="-1508"/>
                  <a:pt x="11748" y="1429"/>
                </a:cubicBezTo>
                <a:cubicBezTo>
                  <a:pt x="4604" y="4366"/>
                  <a:pt x="0" y="11351"/>
                  <a:pt x="0" y="19050"/>
                </a:cubicBezTo>
                <a:lnTo>
                  <a:pt x="0" y="133350"/>
                </a:lnTo>
                <a:cubicBezTo>
                  <a:pt x="0" y="143907"/>
                  <a:pt x="8493" y="152400"/>
                  <a:pt x="19050" y="152400"/>
                </a:cubicBezTo>
                <a:close/>
              </a:path>
            </a:pathLst>
          </a:custGeom>
          <a:solidFill>
            <a:srgbClr val="00E5A0"/>
          </a:solidFill>
          <a:ln/>
        </p:spPr>
      </p:sp>
      <p:sp>
        <p:nvSpPr>
          <p:cNvPr id="30" name="Text 27"/>
          <p:cNvSpPr/>
          <p:nvPr/>
        </p:nvSpPr>
        <p:spPr>
          <a:xfrm>
            <a:off x="1587500" y="5962431"/>
            <a:ext cx="6032500" cy="762000"/>
          </a:xfrm>
          <a:prstGeom prst="rect">
            <a:avLst/>
          </a:prstGeom>
          <a:noFill/>
          <a:ln/>
        </p:spPr>
        <p:txBody>
          <a:bodyPr wrap="square" lIns="0" tIns="0" rIns="0" bIns="0" rtlCol="0" anchor="ctr"/>
          <a:lstStyle/>
          <a:p>
            <a:pPr>
              <a:lnSpc>
                <a:spcPct val="140000"/>
              </a:lnSpc>
            </a:pPr>
            <a:r>
              <a:rPr lang="en-US" sz="1600" b="1" dirty="0">
                <a:solidFill>
                  <a:srgbClr val="00E5A0"/>
                </a:solidFill>
                <a:latin typeface="Arial" panose="020B0604020202020204" pitchFamily="34" charset="0"/>
                <a:ea typeface="微软雅黑" pitchFamily="34" charset="-122"/>
                <a:cs typeface="Arial" panose="020B0604020202020204" pitchFamily="34" charset="0"/>
              </a:rPr>
              <a:t>Recuperación:</a:t>
            </a:r>
            <a:r>
              <a:rPr lang="en-US" sz="1600" dirty="0">
                <a:solidFill>
                  <a:srgbClr val="E6EDF3"/>
                </a:solidFill>
                <a:latin typeface="Arial" panose="020B0604020202020204" pitchFamily="34" charset="0"/>
                <a:ea typeface="微软雅黑" pitchFamily="34" charset="-122"/>
                <a:cs typeface="Arial" panose="020B0604020202020204" pitchFamily="34" charset="0"/>
              </a:rPr>
              <a:t> Restauración completa ante fallos de hardware, corrupción o eliminación accidental</a:t>
            </a:r>
            <a:endParaRPr lang="en-US" sz="1600" dirty="0">
              <a:latin typeface="Arial" panose="020B0604020202020204" pitchFamily="34" charset="0"/>
              <a:cs typeface="Arial" panose="020B0604020202020204" pitchFamily="34" charset="0"/>
            </a:endParaRPr>
          </a:p>
        </p:txBody>
      </p:sp>
      <p:sp>
        <p:nvSpPr>
          <p:cNvPr id="31" name="Shape 28"/>
          <p:cNvSpPr/>
          <p:nvPr/>
        </p:nvSpPr>
        <p:spPr>
          <a:xfrm>
            <a:off x="8382000" y="4000500"/>
            <a:ext cx="7112000" cy="3429000"/>
          </a:xfrm>
          <a:prstGeom prst="roundRect">
            <a:avLst>
              <a:gd name="adj" fmla="val 8000"/>
            </a:avLst>
          </a:prstGeom>
          <a:solidFill>
            <a:srgbClr val="00E5A0">
              <a:alpha val="3137"/>
            </a:srgbClr>
          </a:solidFill>
          <a:ln w="12700">
            <a:solidFill>
              <a:srgbClr val="00E5A0"/>
            </a:solidFill>
            <a:prstDash val="solid"/>
          </a:ln>
        </p:spPr>
      </p:sp>
      <p:sp>
        <p:nvSpPr>
          <p:cNvPr id="32" name="Text 29"/>
          <p:cNvSpPr/>
          <p:nvPr/>
        </p:nvSpPr>
        <p:spPr>
          <a:xfrm>
            <a:off x="8699500" y="4191000"/>
            <a:ext cx="3810000" cy="355600"/>
          </a:xfrm>
          <a:prstGeom prst="rect">
            <a:avLst/>
          </a:prstGeom>
          <a:noFill/>
          <a:ln/>
        </p:spPr>
        <p:txBody>
          <a:bodyPr wrap="none" lIns="0" tIns="0" rIns="0" bIns="0" rtlCol="0" anchor="ctr"/>
          <a:lstStyle/>
          <a:p>
            <a:pPr>
              <a:lnSpc>
                <a:spcPct val="100000"/>
              </a:lnSpc>
            </a:pPr>
            <a:r>
              <a:rPr lang="en-US" sz="1800" dirty="0">
                <a:solidFill>
                  <a:srgbClr val="00E5A0"/>
                </a:solidFill>
                <a:latin typeface="Arial" panose="020B0604020202020204" pitchFamily="34" charset="0"/>
                <a:ea typeface="Liter" pitchFamily="34" charset="-122"/>
                <a:cs typeface="Arial" panose="020B0604020202020204" pitchFamily="34" charset="0"/>
              </a:rPr>
              <a:t>BENEFICIOS</a:t>
            </a:r>
            <a:endParaRPr lang="en-US" sz="1600" dirty="0">
              <a:latin typeface="Arial" panose="020B0604020202020204" pitchFamily="34" charset="0"/>
              <a:cs typeface="Arial" panose="020B0604020202020204" pitchFamily="34" charset="0"/>
            </a:endParaRPr>
          </a:p>
        </p:txBody>
      </p:sp>
      <p:sp>
        <p:nvSpPr>
          <p:cNvPr id="33" name="Text 30"/>
          <p:cNvSpPr/>
          <p:nvPr/>
        </p:nvSpPr>
        <p:spPr>
          <a:xfrm>
            <a:off x="8699500" y="4699000"/>
            <a:ext cx="6477000" cy="508000"/>
          </a:xfrm>
          <a:prstGeom prst="rect">
            <a:avLst/>
          </a:prstGeom>
          <a:noFill/>
          <a:ln/>
        </p:spPr>
        <p:txBody>
          <a:bodyPr wrap="square" lIns="0" tIns="0" rIns="0" bIns="0" rtlCol="0" anchor="ctr"/>
          <a:lstStyle/>
          <a:p>
            <a:pPr>
              <a:lnSpc>
                <a:spcPct val="140000"/>
              </a:lnSpc>
            </a:pPr>
            <a:r>
              <a:rPr lang="en-US" sz="1600" dirty="0">
                <a:solidFill>
                  <a:srgbClr val="00E5A0"/>
                </a:solidFill>
                <a:latin typeface="Arial" panose="020B0604020202020204" pitchFamily="34" charset="0"/>
                <a:ea typeface="微软雅黑" pitchFamily="34" charset="-122"/>
                <a:cs typeface="Arial" panose="020B0604020202020204" pitchFamily="34" charset="0"/>
              </a:rPr>
              <a:t>✓</a:t>
            </a:r>
            <a:r>
              <a:rPr lang="en-US" sz="1600" dirty="0">
                <a:solidFill>
                  <a:srgbClr val="E6EDF3"/>
                </a:solidFill>
                <a:latin typeface="Arial" panose="020B0604020202020204" pitchFamily="34" charset="0"/>
                <a:ea typeface="微软雅黑" pitchFamily="34" charset="-122"/>
                <a:cs typeface="Arial" panose="020B0604020202020204" pitchFamily="34" charset="0"/>
              </a:rPr>
              <a:t> Protección contra pérdida de datos críticos</a:t>
            </a:r>
            <a:endParaRPr lang="en-US" sz="1600" dirty="0">
              <a:latin typeface="Arial" panose="020B0604020202020204" pitchFamily="34" charset="0"/>
              <a:cs typeface="Arial" panose="020B0604020202020204" pitchFamily="34" charset="0"/>
            </a:endParaRPr>
          </a:p>
        </p:txBody>
      </p:sp>
      <p:sp>
        <p:nvSpPr>
          <p:cNvPr id="34" name="Text 31"/>
          <p:cNvSpPr/>
          <p:nvPr/>
        </p:nvSpPr>
        <p:spPr>
          <a:xfrm>
            <a:off x="8699500" y="5270500"/>
            <a:ext cx="6477000" cy="508000"/>
          </a:xfrm>
          <a:prstGeom prst="rect">
            <a:avLst/>
          </a:prstGeom>
          <a:noFill/>
          <a:ln/>
        </p:spPr>
        <p:txBody>
          <a:bodyPr wrap="square" lIns="0" tIns="0" rIns="0" bIns="0" rtlCol="0" anchor="ctr"/>
          <a:lstStyle/>
          <a:p>
            <a:pPr>
              <a:lnSpc>
                <a:spcPct val="140000"/>
              </a:lnSpc>
            </a:pPr>
            <a:r>
              <a:rPr lang="en-US" sz="1600" dirty="0">
                <a:solidFill>
                  <a:srgbClr val="00E5A0"/>
                </a:solidFill>
                <a:latin typeface="Arial" panose="020B0604020202020204" pitchFamily="34" charset="0"/>
                <a:ea typeface="微软雅黑" pitchFamily="34" charset="-122"/>
                <a:cs typeface="Arial" panose="020B0604020202020204" pitchFamily="34" charset="0"/>
              </a:rPr>
              <a:t>✓</a:t>
            </a:r>
            <a:r>
              <a:rPr lang="en-US" sz="1600" dirty="0">
                <a:solidFill>
                  <a:srgbClr val="E6EDF3"/>
                </a:solidFill>
                <a:latin typeface="Arial" panose="020B0604020202020204" pitchFamily="34" charset="0"/>
                <a:ea typeface="微软雅黑" pitchFamily="34" charset="-122"/>
                <a:cs typeface="Arial" panose="020B0604020202020204" pitchFamily="34" charset="0"/>
              </a:rPr>
              <a:t> Recuperación rápida ante desastres (RTO bajo)</a:t>
            </a:r>
            <a:endParaRPr lang="en-US" sz="1600" dirty="0">
              <a:latin typeface="Arial" panose="020B0604020202020204" pitchFamily="34" charset="0"/>
              <a:cs typeface="Arial" panose="020B0604020202020204" pitchFamily="34" charset="0"/>
            </a:endParaRPr>
          </a:p>
        </p:txBody>
      </p:sp>
      <p:sp>
        <p:nvSpPr>
          <p:cNvPr id="35" name="Text 32"/>
          <p:cNvSpPr/>
          <p:nvPr/>
        </p:nvSpPr>
        <p:spPr>
          <a:xfrm>
            <a:off x="8699500" y="5842000"/>
            <a:ext cx="6477000" cy="508000"/>
          </a:xfrm>
          <a:prstGeom prst="rect">
            <a:avLst/>
          </a:prstGeom>
          <a:noFill/>
          <a:ln/>
        </p:spPr>
        <p:txBody>
          <a:bodyPr wrap="square" lIns="0" tIns="0" rIns="0" bIns="0" rtlCol="0" anchor="ctr"/>
          <a:lstStyle/>
          <a:p>
            <a:pPr>
              <a:lnSpc>
                <a:spcPct val="140000"/>
              </a:lnSpc>
            </a:pPr>
            <a:r>
              <a:rPr lang="en-US" sz="1600" dirty="0">
                <a:solidFill>
                  <a:srgbClr val="00E5A0"/>
                </a:solidFill>
                <a:latin typeface="Arial" panose="020B0604020202020204" pitchFamily="34" charset="0"/>
                <a:ea typeface="微软雅黑" pitchFamily="34" charset="-122"/>
                <a:cs typeface="Arial" panose="020B0604020202020204" pitchFamily="34" charset="0"/>
              </a:rPr>
              <a:t>✓</a:t>
            </a:r>
            <a:r>
              <a:rPr lang="en-US" sz="1600" dirty="0">
                <a:solidFill>
                  <a:srgbClr val="E6EDF3"/>
                </a:solidFill>
                <a:latin typeface="Arial" panose="020B0604020202020204" pitchFamily="34" charset="0"/>
                <a:ea typeface="微软雅黑" pitchFamily="34" charset="-122"/>
                <a:cs typeface="Arial" panose="020B0604020202020204" pitchFamily="34" charset="0"/>
              </a:rPr>
              <a:t> Cumplimiento de políticas de respaldo institucional</a:t>
            </a:r>
            <a:endParaRPr lang="en-US" sz="1600" dirty="0">
              <a:latin typeface="Arial" panose="020B0604020202020204" pitchFamily="34" charset="0"/>
              <a:cs typeface="Arial" panose="020B0604020202020204" pitchFamily="34" charset="0"/>
            </a:endParaRPr>
          </a:p>
        </p:txBody>
      </p:sp>
      <p:sp>
        <p:nvSpPr>
          <p:cNvPr id="36" name="Text 33"/>
          <p:cNvSpPr/>
          <p:nvPr/>
        </p:nvSpPr>
        <p:spPr>
          <a:xfrm>
            <a:off x="8699500" y="6413500"/>
            <a:ext cx="6477000" cy="508000"/>
          </a:xfrm>
          <a:prstGeom prst="rect">
            <a:avLst/>
          </a:prstGeom>
          <a:noFill/>
          <a:ln/>
        </p:spPr>
        <p:txBody>
          <a:bodyPr wrap="square" lIns="0" tIns="0" rIns="0" bIns="0" rtlCol="0" anchor="ctr"/>
          <a:lstStyle/>
          <a:p>
            <a:pPr>
              <a:lnSpc>
                <a:spcPct val="140000"/>
              </a:lnSpc>
            </a:pPr>
            <a:r>
              <a:rPr lang="en-US" sz="1600" dirty="0">
                <a:solidFill>
                  <a:srgbClr val="00E5A0"/>
                </a:solidFill>
                <a:latin typeface="Arial" panose="020B0604020202020204" pitchFamily="34" charset="0"/>
                <a:ea typeface="微软雅黑" pitchFamily="34" charset="-122"/>
                <a:cs typeface="Arial" panose="020B0604020202020204" pitchFamily="34" charset="0"/>
              </a:rPr>
              <a:t>✓</a:t>
            </a:r>
            <a:r>
              <a:rPr lang="en-US" sz="1600" dirty="0">
                <a:solidFill>
                  <a:srgbClr val="E6EDF3"/>
                </a:solidFill>
                <a:latin typeface="Arial" panose="020B0604020202020204" pitchFamily="34" charset="0"/>
                <a:ea typeface="微软雅黑" pitchFamily="34" charset="-122"/>
                <a:cs typeface="Arial" panose="020B0604020202020204" pitchFamily="34" charset="0"/>
              </a:rPr>
              <a:t> Cero intervención manual en el proceso diario</a:t>
            </a:r>
            <a:endParaRPr lang="en-US" sz="1600" dirty="0">
              <a:latin typeface="Arial" panose="020B0604020202020204" pitchFamily="34" charset="0"/>
              <a:cs typeface="Arial" panose="020B0604020202020204" pitchFamily="34" charset="0"/>
            </a:endParaRPr>
          </a:p>
        </p:txBody>
      </p:sp>
      <p:sp>
        <p:nvSpPr>
          <p:cNvPr id="37" name="Text 34"/>
          <p:cNvSpPr/>
          <p:nvPr/>
        </p:nvSpPr>
        <p:spPr>
          <a:xfrm>
            <a:off x="15240000" y="8763000"/>
            <a:ext cx="635000" cy="254000"/>
          </a:xfrm>
          <a:prstGeom prst="rect">
            <a:avLst/>
          </a:prstGeom>
          <a:noFill/>
          <a:ln/>
        </p:spPr>
        <p:txBody>
          <a:bodyPr wrap="none" lIns="0" tIns="0" rIns="0" bIns="0" rtlCol="0" anchor="ctr"/>
          <a:lstStyle/>
          <a:p>
            <a:pPr algn="r">
              <a:lnSpc>
                <a:spcPct val="140000"/>
              </a:lnSpc>
            </a:pPr>
            <a:r>
              <a:rPr lang="en-US" sz="1400" dirty="0">
                <a:solidFill>
                  <a:srgbClr val="8B949E"/>
                </a:solidFill>
                <a:latin typeface="Arial" panose="020B0604020202020204" pitchFamily="34" charset="0"/>
                <a:ea typeface="QuattrocentoSans" pitchFamily="34" charset="-122"/>
                <a:cs typeface="Arial" panose="020B0604020202020204" pitchFamily="34" charset="0"/>
              </a:rPr>
              <a:t>07</a:t>
            </a:r>
            <a:endParaRPr lang="en-US" sz="1400" dirty="0">
              <a:latin typeface="Arial" panose="020B0604020202020204" pitchFamily="34" charset="0"/>
              <a:cs typeface="Arial" panose="020B0604020202020204" pitchFamily="34" charset="0"/>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3" name="Shape 0"/>
          <p:cNvSpPr/>
          <p:nvPr/>
        </p:nvSpPr>
        <p:spPr>
          <a:xfrm>
            <a:off x="0" y="0"/>
            <a:ext cx="16256000" cy="38100"/>
          </a:xfrm>
          <a:prstGeom prst="rect">
            <a:avLst/>
          </a:prstGeom>
          <a:solidFill>
            <a:srgbClr val="00E5A0"/>
          </a:solidFill>
          <a:ln/>
        </p:spPr>
      </p:sp>
      <p:sp>
        <p:nvSpPr>
          <p:cNvPr id="4" name="Text 1"/>
          <p:cNvSpPr/>
          <p:nvPr/>
        </p:nvSpPr>
        <p:spPr>
          <a:xfrm>
            <a:off x="762000" y="381000"/>
            <a:ext cx="7620000" cy="508000"/>
          </a:xfrm>
          <a:prstGeom prst="rect">
            <a:avLst/>
          </a:prstGeom>
          <a:noFill/>
          <a:ln/>
        </p:spPr>
        <p:txBody>
          <a:bodyPr wrap="none" lIns="0" tIns="0" rIns="0" bIns="0" rtlCol="0" anchor="ctr"/>
          <a:lstStyle/>
          <a:p>
            <a:pPr>
              <a:lnSpc>
                <a:spcPct val="120000"/>
              </a:lnSpc>
            </a:pPr>
            <a:r>
              <a:rPr lang="en-US" sz="3000" kern="0" spc="200" dirty="0">
                <a:solidFill>
                  <a:srgbClr val="00E5A0"/>
                </a:solidFill>
                <a:latin typeface="Arial" panose="020B0604020202020204" pitchFamily="34" charset="0"/>
                <a:ea typeface="Liter" pitchFamily="34" charset="-122"/>
                <a:cs typeface="Arial" panose="020B0604020202020204" pitchFamily="34" charset="0"/>
              </a:rPr>
              <a:t>RESULTADOS Y LOGROS</a:t>
            </a:r>
            <a:endParaRPr lang="en-US" sz="3000" dirty="0">
              <a:latin typeface="Arial" panose="020B0604020202020204" pitchFamily="34" charset="0"/>
              <a:cs typeface="Arial" panose="020B0604020202020204" pitchFamily="34" charset="0"/>
            </a:endParaRPr>
          </a:p>
        </p:txBody>
      </p:sp>
      <p:sp>
        <p:nvSpPr>
          <p:cNvPr id="5" name="Shape 2"/>
          <p:cNvSpPr/>
          <p:nvPr/>
        </p:nvSpPr>
        <p:spPr>
          <a:xfrm>
            <a:off x="762000" y="952500"/>
            <a:ext cx="1524000" cy="38100"/>
          </a:xfrm>
          <a:prstGeom prst="rect">
            <a:avLst/>
          </a:prstGeom>
          <a:solidFill>
            <a:srgbClr val="00E5A0"/>
          </a:solidFill>
          <a:ln/>
        </p:spPr>
      </p:sp>
      <p:sp>
        <p:nvSpPr>
          <p:cNvPr id="6" name="Shape 3"/>
          <p:cNvSpPr/>
          <p:nvPr/>
        </p:nvSpPr>
        <p:spPr>
          <a:xfrm>
            <a:off x="762000" y="1397000"/>
            <a:ext cx="4699000" cy="2921000"/>
          </a:xfrm>
          <a:prstGeom prst="roundRect">
            <a:avLst>
              <a:gd name="adj" fmla="val 8000"/>
            </a:avLst>
          </a:prstGeom>
          <a:solidFill>
            <a:srgbClr val="161B22"/>
          </a:solidFill>
          <a:ln w="12700">
            <a:solidFill>
              <a:srgbClr val="30363D"/>
            </a:solidFill>
            <a:prstDash val="solid"/>
          </a:ln>
        </p:spPr>
      </p:sp>
      <p:sp>
        <p:nvSpPr>
          <p:cNvPr id="7" name="Text 4"/>
          <p:cNvSpPr/>
          <p:nvPr/>
        </p:nvSpPr>
        <p:spPr>
          <a:xfrm>
            <a:off x="1016000" y="1524000"/>
            <a:ext cx="1016000" cy="635000"/>
          </a:xfrm>
          <a:prstGeom prst="rect">
            <a:avLst/>
          </a:prstGeom>
          <a:noFill/>
          <a:ln/>
        </p:spPr>
        <p:txBody>
          <a:bodyPr wrap="none" lIns="0" tIns="0" rIns="0" bIns="0" rtlCol="0" anchor="ctr"/>
          <a:lstStyle/>
          <a:p>
            <a:pPr>
              <a:lnSpc>
                <a:spcPct val="100000"/>
              </a:lnSpc>
            </a:pPr>
            <a:r>
              <a:rPr lang="en-US" sz="3600" dirty="0">
                <a:solidFill>
                  <a:srgbClr val="00E5A0"/>
                </a:solidFill>
                <a:latin typeface="Arial" panose="020B0604020202020204" pitchFamily="34" charset="0"/>
                <a:cs typeface="Arial" panose="020B0604020202020204" pitchFamily="34" charset="0"/>
              </a:rPr>
              <a:t>6</a:t>
            </a:r>
            <a:endParaRPr lang="en-US" sz="1600" dirty="0">
              <a:latin typeface="Arial" panose="020B0604020202020204" pitchFamily="34" charset="0"/>
              <a:cs typeface="Arial" panose="020B0604020202020204" pitchFamily="34" charset="0"/>
            </a:endParaRPr>
          </a:p>
        </p:txBody>
      </p:sp>
      <p:sp>
        <p:nvSpPr>
          <p:cNvPr id="8" name="Text 5"/>
          <p:cNvSpPr/>
          <p:nvPr/>
        </p:nvSpPr>
        <p:spPr>
          <a:xfrm>
            <a:off x="1016000" y="2222500"/>
            <a:ext cx="4191000" cy="355600"/>
          </a:xfrm>
          <a:prstGeom prst="rect">
            <a:avLst/>
          </a:prstGeom>
          <a:noFill/>
          <a:ln/>
        </p:spPr>
        <p:txBody>
          <a:bodyPr wrap="none" lIns="0" tIns="0" rIns="0" bIns="0" rtlCol="0" anchor="ctr"/>
          <a:lstStyle/>
          <a:p>
            <a:pPr>
              <a:lnSpc>
                <a:spcPct val="100000"/>
              </a:lnSpc>
            </a:pPr>
            <a:r>
              <a:rPr lang="en-US" sz="1800" dirty="0">
                <a:solidFill>
                  <a:srgbClr val="E6EDF3"/>
                </a:solidFill>
                <a:latin typeface="Arial" panose="020B0604020202020204" pitchFamily="34" charset="0"/>
                <a:ea typeface="Liter" pitchFamily="34" charset="-122"/>
                <a:cs typeface="Arial" panose="020B0604020202020204" pitchFamily="34" charset="0"/>
              </a:rPr>
              <a:t>SERVIDORES CONFIGURADOS</a:t>
            </a:r>
            <a:endParaRPr lang="en-US" sz="1600" dirty="0">
              <a:latin typeface="Arial" panose="020B0604020202020204" pitchFamily="34" charset="0"/>
              <a:cs typeface="Arial" panose="020B0604020202020204" pitchFamily="34" charset="0"/>
            </a:endParaRPr>
          </a:p>
        </p:txBody>
      </p:sp>
      <p:sp>
        <p:nvSpPr>
          <p:cNvPr id="9" name="Text 6"/>
          <p:cNvSpPr/>
          <p:nvPr/>
        </p:nvSpPr>
        <p:spPr>
          <a:xfrm>
            <a:off x="1016000" y="2667000"/>
            <a:ext cx="4191000" cy="1397000"/>
          </a:xfrm>
          <a:prstGeom prst="rect">
            <a:avLst/>
          </a:prstGeom>
          <a:noFill/>
          <a:ln/>
        </p:spPr>
        <p:txBody>
          <a:bodyPr wrap="square" lIns="0" tIns="0" rIns="0" bIns="0" rtlCol="0" anchor="t"/>
          <a:lstStyle/>
          <a:p>
            <a:pPr>
              <a:lnSpc>
                <a:spcPct val="150000"/>
              </a:lnSpc>
            </a:pPr>
            <a:r>
              <a:rPr lang="en-US" sz="1500" dirty="0">
                <a:solidFill>
                  <a:srgbClr val="8B949E"/>
                </a:solidFill>
                <a:latin typeface="Arial" panose="020B0604020202020204" pitchFamily="34" charset="0"/>
                <a:ea typeface="微软雅黑" pitchFamily="34" charset="-122"/>
                <a:cs typeface="Arial" panose="020B0604020202020204" pitchFamily="34" charset="0"/>
              </a:rPr>
              <a:t>Infraestructura completa operativa con router, balanceador, servidores web, base de datos, backup y administración</a:t>
            </a:r>
            <a:endParaRPr lang="en-US" sz="1600" dirty="0">
              <a:latin typeface="Arial" panose="020B0604020202020204" pitchFamily="34" charset="0"/>
              <a:cs typeface="Arial" panose="020B0604020202020204" pitchFamily="34" charset="0"/>
            </a:endParaRPr>
          </a:p>
        </p:txBody>
      </p:sp>
      <p:sp>
        <p:nvSpPr>
          <p:cNvPr id="10" name="Shape 7"/>
          <p:cNvSpPr/>
          <p:nvPr/>
        </p:nvSpPr>
        <p:spPr>
          <a:xfrm>
            <a:off x="5778500" y="1397000"/>
            <a:ext cx="4699000" cy="2921000"/>
          </a:xfrm>
          <a:prstGeom prst="roundRect">
            <a:avLst>
              <a:gd name="adj" fmla="val 8000"/>
            </a:avLst>
          </a:prstGeom>
          <a:solidFill>
            <a:srgbClr val="161B22"/>
          </a:solidFill>
          <a:ln w="12700">
            <a:solidFill>
              <a:srgbClr val="30363D"/>
            </a:solidFill>
            <a:prstDash val="solid"/>
          </a:ln>
        </p:spPr>
      </p:sp>
      <p:sp>
        <p:nvSpPr>
          <p:cNvPr id="11" name="Text 8"/>
          <p:cNvSpPr/>
          <p:nvPr/>
        </p:nvSpPr>
        <p:spPr>
          <a:xfrm>
            <a:off x="6032500" y="1524000"/>
            <a:ext cx="1016000" cy="635000"/>
          </a:xfrm>
          <a:prstGeom prst="rect">
            <a:avLst/>
          </a:prstGeom>
          <a:noFill/>
          <a:ln/>
        </p:spPr>
        <p:txBody>
          <a:bodyPr wrap="none" lIns="0" tIns="0" rIns="0" bIns="0" rtlCol="0" anchor="ctr"/>
          <a:lstStyle/>
          <a:p>
            <a:pPr>
              <a:lnSpc>
                <a:spcPct val="100000"/>
              </a:lnSpc>
            </a:pPr>
            <a:r>
              <a:rPr lang="en-US" sz="3600" dirty="0">
                <a:solidFill>
                  <a:srgbClr val="00E5A0"/>
                </a:solidFill>
                <a:latin typeface="Arial" panose="020B0604020202020204" pitchFamily="34" charset="0"/>
                <a:ea typeface="Liter" pitchFamily="34" charset="-122"/>
                <a:cs typeface="Arial" panose="020B0604020202020204" pitchFamily="34" charset="0"/>
              </a:rPr>
              <a:t>5</a:t>
            </a:r>
            <a:endParaRPr lang="en-US" sz="1600" dirty="0">
              <a:latin typeface="Arial" panose="020B0604020202020204" pitchFamily="34" charset="0"/>
              <a:cs typeface="Arial" panose="020B0604020202020204" pitchFamily="34" charset="0"/>
            </a:endParaRPr>
          </a:p>
        </p:txBody>
      </p:sp>
      <p:sp>
        <p:nvSpPr>
          <p:cNvPr id="12" name="Text 9"/>
          <p:cNvSpPr/>
          <p:nvPr/>
        </p:nvSpPr>
        <p:spPr>
          <a:xfrm>
            <a:off x="6032500" y="2222500"/>
            <a:ext cx="4191000" cy="355600"/>
          </a:xfrm>
          <a:prstGeom prst="rect">
            <a:avLst/>
          </a:prstGeom>
          <a:noFill/>
          <a:ln/>
        </p:spPr>
        <p:txBody>
          <a:bodyPr wrap="none" lIns="0" tIns="0" rIns="0" bIns="0" rtlCol="0" anchor="ctr"/>
          <a:lstStyle/>
          <a:p>
            <a:pPr>
              <a:lnSpc>
                <a:spcPct val="100000"/>
              </a:lnSpc>
            </a:pPr>
            <a:r>
              <a:rPr lang="en-US" sz="1800" dirty="0">
                <a:solidFill>
                  <a:srgbClr val="E6EDF3"/>
                </a:solidFill>
                <a:latin typeface="Arial" panose="020B0604020202020204" pitchFamily="34" charset="0"/>
                <a:ea typeface="Liter" pitchFamily="34" charset="-122"/>
                <a:cs typeface="Arial" panose="020B0604020202020204" pitchFamily="34" charset="0"/>
              </a:rPr>
              <a:t>CAPAS DE SEGURIDAD</a:t>
            </a:r>
            <a:endParaRPr lang="en-US" sz="1600" dirty="0">
              <a:latin typeface="Arial" panose="020B0604020202020204" pitchFamily="34" charset="0"/>
              <a:cs typeface="Arial" panose="020B0604020202020204" pitchFamily="34" charset="0"/>
            </a:endParaRPr>
          </a:p>
        </p:txBody>
      </p:sp>
      <p:sp>
        <p:nvSpPr>
          <p:cNvPr id="13" name="Text 10"/>
          <p:cNvSpPr/>
          <p:nvPr/>
        </p:nvSpPr>
        <p:spPr>
          <a:xfrm>
            <a:off x="6032500" y="2667000"/>
            <a:ext cx="4191000" cy="1397000"/>
          </a:xfrm>
          <a:prstGeom prst="rect">
            <a:avLst/>
          </a:prstGeom>
          <a:noFill/>
          <a:ln/>
        </p:spPr>
        <p:txBody>
          <a:bodyPr wrap="square" lIns="0" tIns="0" rIns="0" bIns="0" rtlCol="0" anchor="t"/>
          <a:lstStyle/>
          <a:p>
            <a:pPr>
              <a:lnSpc>
                <a:spcPct val="150000"/>
              </a:lnSpc>
            </a:pPr>
            <a:r>
              <a:rPr lang="en-US" sz="1500" dirty="0">
                <a:solidFill>
                  <a:srgbClr val="8B949E"/>
                </a:solidFill>
                <a:latin typeface="Arial" panose="020B0604020202020204" pitchFamily="34" charset="0"/>
                <a:ea typeface="微软雅黑" pitchFamily="34" charset="-122"/>
                <a:cs typeface="Arial" panose="020B0604020202020204" pitchFamily="34" charset="0"/>
              </a:rPr>
              <a:t>SSH hardening, claves RSA, acceso root restringido, firewall UFW y control de permisos administrativos</a:t>
            </a:r>
            <a:endParaRPr lang="en-US" sz="1600" dirty="0">
              <a:latin typeface="Arial" panose="020B0604020202020204" pitchFamily="34" charset="0"/>
              <a:cs typeface="Arial" panose="020B0604020202020204" pitchFamily="34" charset="0"/>
            </a:endParaRPr>
          </a:p>
        </p:txBody>
      </p:sp>
      <p:sp>
        <p:nvSpPr>
          <p:cNvPr id="14" name="Shape 11"/>
          <p:cNvSpPr/>
          <p:nvPr/>
        </p:nvSpPr>
        <p:spPr>
          <a:xfrm>
            <a:off x="10795000" y="1397000"/>
            <a:ext cx="4699000" cy="2921000"/>
          </a:xfrm>
          <a:prstGeom prst="roundRect">
            <a:avLst>
              <a:gd name="adj" fmla="val 8000"/>
            </a:avLst>
          </a:prstGeom>
          <a:solidFill>
            <a:srgbClr val="161B22"/>
          </a:solidFill>
          <a:ln w="12700">
            <a:solidFill>
              <a:srgbClr val="30363D"/>
            </a:solidFill>
            <a:prstDash val="solid"/>
          </a:ln>
        </p:spPr>
      </p:sp>
      <p:sp>
        <p:nvSpPr>
          <p:cNvPr id="15" name="Shape 12"/>
          <p:cNvSpPr/>
          <p:nvPr/>
        </p:nvSpPr>
        <p:spPr>
          <a:xfrm>
            <a:off x="11049000" y="1587500"/>
            <a:ext cx="508000" cy="508000"/>
          </a:xfrm>
          <a:custGeom>
            <a:avLst/>
            <a:gdLst/>
            <a:ahLst/>
            <a:cxnLst/>
            <a:rect l="l" t="t" r="r" b="b"/>
            <a:pathLst>
              <a:path w="508000" h="508000">
                <a:moveTo>
                  <a:pt x="476349" y="190500"/>
                </a:moveTo>
                <a:lnTo>
                  <a:pt x="484187" y="190500"/>
                </a:lnTo>
                <a:cubicBezTo>
                  <a:pt x="497384" y="190500"/>
                  <a:pt x="508000" y="179884"/>
                  <a:pt x="508000" y="166688"/>
                </a:cubicBezTo>
                <a:lnTo>
                  <a:pt x="508000" y="23812"/>
                </a:lnTo>
                <a:cubicBezTo>
                  <a:pt x="508000" y="14188"/>
                  <a:pt x="502245" y="5457"/>
                  <a:pt x="493316" y="1786"/>
                </a:cubicBezTo>
                <a:cubicBezTo>
                  <a:pt x="484386" y="-1885"/>
                  <a:pt x="474166" y="198"/>
                  <a:pt x="467320" y="6945"/>
                </a:cubicBezTo>
                <a:lnTo>
                  <a:pt x="416024" y="58341"/>
                </a:lnTo>
                <a:cubicBezTo>
                  <a:pt x="372070" y="21927"/>
                  <a:pt x="315516" y="0"/>
                  <a:pt x="254000" y="0"/>
                </a:cubicBezTo>
                <a:cubicBezTo>
                  <a:pt x="126008" y="0"/>
                  <a:pt x="20141" y="94655"/>
                  <a:pt x="2580" y="217785"/>
                </a:cubicBezTo>
                <a:cubicBezTo>
                  <a:pt x="99" y="235148"/>
                  <a:pt x="12105" y="251222"/>
                  <a:pt x="29468" y="253702"/>
                </a:cubicBezTo>
                <a:cubicBezTo>
                  <a:pt x="46831" y="256183"/>
                  <a:pt x="62905" y="244078"/>
                  <a:pt x="65385" y="226814"/>
                </a:cubicBezTo>
                <a:cubicBezTo>
                  <a:pt x="78581" y="134441"/>
                  <a:pt x="158055" y="63500"/>
                  <a:pt x="254000" y="63500"/>
                </a:cubicBezTo>
                <a:cubicBezTo>
                  <a:pt x="298053" y="63500"/>
                  <a:pt x="338534" y="78383"/>
                  <a:pt x="370780" y="103485"/>
                </a:cubicBezTo>
                <a:lnTo>
                  <a:pt x="324445" y="149820"/>
                </a:lnTo>
                <a:cubicBezTo>
                  <a:pt x="317599" y="156666"/>
                  <a:pt x="315615" y="166886"/>
                  <a:pt x="319286" y="175816"/>
                </a:cubicBezTo>
                <a:cubicBezTo>
                  <a:pt x="322957" y="184745"/>
                  <a:pt x="331688" y="190500"/>
                  <a:pt x="341313" y="190500"/>
                </a:cubicBezTo>
                <a:lnTo>
                  <a:pt x="476349" y="190500"/>
                </a:lnTo>
                <a:close/>
                <a:moveTo>
                  <a:pt x="505520" y="290215"/>
                </a:moveTo>
                <a:cubicBezTo>
                  <a:pt x="508000" y="272852"/>
                  <a:pt x="495895" y="256778"/>
                  <a:pt x="478631" y="254298"/>
                </a:cubicBezTo>
                <a:cubicBezTo>
                  <a:pt x="461367" y="251817"/>
                  <a:pt x="445195" y="263922"/>
                  <a:pt x="442714" y="281186"/>
                </a:cubicBezTo>
                <a:cubicBezTo>
                  <a:pt x="429518" y="373459"/>
                  <a:pt x="350044" y="444401"/>
                  <a:pt x="254099" y="444401"/>
                </a:cubicBezTo>
                <a:cubicBezTo>
                  <a:pt x="210046" y="444401"/>
                  <a:pt x="169565" y="429518"/>
                  <a:pt x="137319" y="404416"/>
                </a:cubicBezTo>
                <a:lnTo>
                  <a:pt x="183555" y="358180"/>
                </a:lnTo>
                <a:cubicBezTo>
                  <a:pt x="190401" y="351334"/>
                  <a:pt x="192385" y="341114"/>
                  <a:pt x="188714" y="332184"/>
                </a:cubicBezTo>
                <a:cubicBezTo>
                  <a:pt x="185043" y="323255"/>
                  <a:pt x="176312" y="317500"/>
                  <a:pt x="166688" y="317500"/>
                </a:cubicBezTo>
                <a:lnTo>
                  <a:pt x="23812" y="317500"/>
                </a:lnTo>
                <a:cubicBezTo>
                  <a:pt x="10616" y="317500"/>
                  <a:pt x="0" y="328116"/>
                  <a:pt x="0" y="341313"/>
                </a:cubicBezTo>
                <a:lnTo>
                  <a:pt x="0" y="484187"/>
                </a:lnTo>
                <a:cubicBezTo>
                  <a:pt x="0" y="493812"/>
                  <a:pt x="5755" y="502543"/>
                  <a:pt x="14684" y="506214"/>
                </a:cubicBezTo>
                <a:cubicBezTo>
                  <a:pt x="23614" y="509885"/>
                  <a:pt x="33834" y="507802"/>
                  <a:pt x="40680" y="501055"/>
                </a:cubicBezTo>
                <a:lnTo>
                  <a:pt x="92075" y="449659"/>
                </a:lnTo>
                <a:cubicBezTo>
                  <a:pt x="135930" y="486073"/>
                  <a:pt x="192484" y="508000"/>
                  <a:pt x="254000" y="508000"/>
                </a:cubicBezTo>
                <a:cubicBezTo>
                  <a:pt x="381992" y="508000"/>
                  <a:pt x="487859" y="413345"/>
                  <a:pt x="505420" y="290215"/>
                </a:cubicBezTo>
                <a:close/>
              </a:path>
            </a:pathLst>
          </a:custGeom>
          <a:solidFill>
            <a:srgbClr val="00E5A0"/>
          </a:solidFill>
          <a:ln/>
        </p:spPr>
      </p:sp>
      <p:sp>
        <p:nvSpPr>
          <p:cNvPr id="16" name="Text 13"/>
          <p:cNvSpPr/>
          <p:nvPr/>
        </p:nvSpPr>
        <p:spPr>
          <a:xfrm>
            <a:off x="11049000" y="2222500"/>
            <a:ext cx="4191000" cy="355600"/>
          </a:xfrm>
          <a:prstGeom prst="rect">
            <a:avLst/>
          </a:prstGeom>
          <a:noFill/>
          <a:ln/>
        </p:spPr>
        <p:txBody>
          <a:bodyPr wrap="none" lIns="0" tIns="0" rIns="0" bIns="0" rtlCol="0" anchor="ctr"/>
          <a:lstStyle/>
          <a:p>
            <a:pPr>
              <a:lnSpc>
                <a:spcPct val="100000"/>
              </a:lnSpc>
            </a:pPr>
            <a:r>
              <a:rPr lang="en-US" sz="1800" dirty="0">
                <a:solidFill>
                  <a:srgbClr val="E6EDF3"/>
                </a:solidFill>
                <a:latin typeface="Arial" panose="020B0604020202020204" pitchFamily="34" charset="0"/>
                <a:ea typeface="Liter" pitchFamily="34" charset="-122"/>
                <a:cs typeface="Arial" panose="020B0604020202020204" pitchFamily="34" charset="0"/>
              </a:rPr>
              <a:t>ALTA DISPONIBILIDAD</a:t>
            </a:r>
            <a:endParaRPr lang="en-US" sz="1600" dirty="0">
              <a:latin typeface="Arial" panose="020B0604020202020204" pitchFamily="34" charset="0"/>
              <a:cs typeface="Arial" panose="020B0604020202020204" pitchFamily="34" charset="0"/>
            </a:endParaRPr>
          </a:p>
        </p:txBody>
      </p:sp>
      <p:sp>
        <p:nvSpPr>
          <p:cNvPr id="17" name="Text 14"/>
          <p:cNvSpPr/>
          <p:nvPr/>
        </p:nvSpPr>
        <p:spPr>
          <a:xfrm>
            <a:off x="11049000" y="2667000"/>
            <a:ext cx="4191000" cy="1397000"/>
          </a:xfrm>
          <a:prstGeom prst="rect">
            <a:avLst/>
          </a:prstGeom>
          <a:noFill/>
          <a:ln/>
        </p:spPr>
        <p:txBody>
          <a:bodyPr wrap="square" lIns="0" tIns="0" rIns="0" bIns="0" rtlCol="0" anchor="t"/>
          <a:lstStyle/>
          <a:p>
            <a:pPr>
              <a:lnSpc>
                <a:spcPct val="150000"/>
              </a:lnSpc>
            </a:pPr>
            <a:r>
              <a:rPr lang="en-US" sz="1500" dirty="0">
                <a:solidFill>
                  <a:srgbClr val="8B949E"/>
                </a:solidFill>
                <a:latin typeface="Arial" panose="020B0604020202020204" pitchFamily="34" charset="0"/>
                <a:ea typeface="微软雅黑" pitchFamily="34" charset="-122"/>
                <a:cs typeface="Arial" panose="020B0604020202020204" pitchFamily="34" charset="0"/>
              </a:rPr>
              <a:t>Balanceo de carga NGINX activo distribuyendo peticiones entre dos servidores web en tiempo real</a:t>
            </a:r>
            <a:endParaRPr lang="en-US" sz="1600" dirty="0">
              <a:latin typeface="Arial" panose="020B0604020202020204" pitchFamily="34" charset="0"/>
              <a:cs typeface="Arial" panose="020B0604020202020204" pitchFamily="34" charset="0"/>
            </a:endParaRPr>
          </a:p>
        </p:txBody>
      </p:sp>
      <p:sp>
        <p:nvSpPr>
          <p:cNvPr id="18" name="Shape 15"/>
          <p:cNvSpPr/>
          <p:nvPr/>
        </p:nvSpPr>
        <p:spPr>
          <a:xfrm>
            <a:off x="762000" y="4699000"/>
            <a:ext cx="4699000" cy="2921000"/>
          </a:xfrm>
          <a:prstGeom prst="roundRect">
            <a:avLst>
              <a:gd name="adj" fmla="val 8000"/>
            </a:avLst>
          </a:prstGeom>
          <a:solidFill>
            <a:srgbClr val="161B22"/>
          </a:solidFill>
          <a:ln w="12700">
            <a:solidFill>
              <a:srgbClr val="30363D"/>
            </a:solidFill>
            <a:prstDash val="solid"/>
          </a:ln>
        </p:spPr>
      </p:sp>
      <p:sp>
        <p:nvSpPr>
          <p:cNvPr id="19" name="Shape 16"/>
          <p:cNvSpPr/>
          <p:nvPr/>
        </p:nvSpPr>
        <p:spPr>
          <a:xfrm>
            <a:off x="984250" y="4889500"/>
            <a:ext cx="571500" cy="508000"/>
          </a:xfrm>
          <a:custGeom>
            <a:avLst/>
            <a:gdLst/>
            <a:ahLst/>
            <a:cxnLst/>
            <a:rect l="l" t="t" r="r" b="b"/>
            <a:pathLst>
              <a:path w="571500" h="508000">
                <a:moveTo>
                  <a:pt x="285750" y="63500"/>
                </a:moveTo>
                <a:cubicBezTo>
                  <a:pt x="390922" y="63500"/>
                  <a:pt x="476250" y="148828"/>
                  <a:pt x="476250" y="254000"/>
                </a:cubicBezTo>
                <a:cubicBezTo>
                  <a:pt x="476250" y="359172"/>
                  <a:pt x="390922" y="444500"/>
                  <a:pt x="285750" y="444500"/>
                </a:cubicBezTo>
                <a:cubicBezTo>
                  <a:pt x="221059" y="444500"/>
                  <a:pt x="163810" y="412254"/>
                  <a:pt x="129381" y="362843"/>
                </a:cubicBezTo>
                <a:cubicBezTo>
                  <a:pt x="119360" y="348456"/>
                  <a:pt x="99516" y="344984"/>
                  <a:pt x="85130" y="355005"/>
                </a:cubicBezTo>
                <a:cubicBezTo>
                  <a:pt x="70743" y="365026"/>
                  <a:pt x="67270" y="384870"/>
                  <a:pt x="77291" y="399256"/>
                </a:cubicBezTo>
                <a:cubicBezTo>
                  <a:pt x="123130" y="464939"/>
                  <a:pt x="199430" y="508000"/>
                  <a:pt x="285750" y="508000"/>
                </a:cubicBezTo>
                <a:cubicBezTo>
                  <a:pt x="426045" y="508000"/>
                  <a:pt x="539750" y="394295"/>
                  <a:pt x="539750" y="254000"/>
                </a:cubicBezTo>
                <a:cubicBezTo>
                  <a:pt x="539750" y="113705"/>
                  <a:pt x="426045" y="0"/>
                  <a:pt x="285750" y="0"/>
                </a:cubicBezTo>
                <a:cubicBezTo>
                  <a:pt x="200720" y="0"/>
                  <a:pt x="125512" y="41771"/>
                  <a:pt x="79375" y="105866"/>
                </a:cubicBezTo>
                <a:lnTo>
                  <a:pt x="79375" y="79375"/>
                </a:lnTo>
                <a:cubicBezTo>
                  <a:pt x="79375" y="61813"/>
                  <a:pt x="65187" y="47625"/>
                  <a:pt x="47625" y="47625"/>
                </a:cubicBezTo>
                <a:cubicBezTo>
                  <a:pt x="30063" y="47625"/>
                  <a:pt x="15875" y="61813"/>
                  <a:pt x="15875" y="79375"/>
                </a:cubicBezTo>
                <a:lnTo>
                  <a:pt x="15875" y="190500"/>
                </a:lnTo>
                <a:cubicBezTo>
                  <a:pt x="15875" y="208062"/>
                  <a:pt x="30063" y="222250"/>
                  <a:pt x="47625" y="222250"/>
                </a:cubicBezTo>
                <a:lnTo>
                  <a:pt x="72033" y="222250"/>
                </a:lnTo>
                <a:cubicBezTo>
                  <a:pt x="72529" y="222250"/>
                  <a:pt x="73025" y="222250"/>
                  <a:pt x="73521" y="222250"/>
                </a:cubicBezTo>
                <a:lnTo>
                  <a:pt x="158849" y="222250"/>
                </a:lnTo>
                <a:cubicBezTo>
                  <a:pt x="176411" y="222250"/>
                  <a:pt x="190599" y="208062"/>
                  <a:pt x="190599" y="190500"/>
                </a:cubicBezTo>
                <a:cubicBezTo>
                  <a:pt x="190599" y="172938"/>
                  <a:pt x="176411" y="158750"/>
                  <a:pt x="158849" y="158750"/>
                </a:cubicBezTo>
                <a:lnTo>
                  <a:pt x="120848" y="158750"/>
                </a:lnTo>
                <a:cubicBezTo>
                  <a:pt x="153690" y="101798"/>
                  <a:pt x="215305" y="63500"/>
                  <a:pt x="285750" y="63500"/>
                </a:cubicBezTo>
                <a:close/>
                <a:moveTo>
                  <a:pt x="309562" y="150813"/>
                </a:moveTo>
                <a:cubicBezTo>
                  <a:pt x="309562" y="137616"/>
                  <a:pt x="298946" y="127000"/>
                  <a:pt x="285750" y="127000"/>
                </a:cubicBezTo>
                <a:cubicBezTo>
                  <a:pt x="272554" y="127000"/>
                  <a:pt x="261937" y="137616"/>
                  <a:pt x="261937" y="150813"/>
                </a:cubicBezTo>
                <a:lnTo>
                  <a:pt x="261937" y="254000"/>
                </a:lnTo>
                <a:cubicBezTo>
                  <a:pt x="261937" y="260350"/>
                  <a:pt x="264418" y="266402"/>
                  <a:pt x="268883" y="270867"/>
                </a:cubicBezTo>
                <a:lnTo>
                  <a:pt x="340320" y="342305"/>
                </a:lnTo>
                <a:cubicBezTo>
                  <a:pt x="349647" y="351631"/>
                  <a:pt x="364728" y="351631"/>
                  <a:pt x="373955" y="342305"/>
                </a:cubicBezTo>
                <a:cubicBezTo>
                  <a:pt x="383183" y="332978"/>
                  <a:pt x="383282" y="317897"/>
                  <a:pt x="373955" y="308670"/>
                </a:cubicBezTo>
                <a:lnTo>
                  <a:pt x="309463" y="244177"/>
                </a:lnTo>
                <a:lnTo>
                  <a:pt x="309463" y="150813"/>
                </a:lnTo>
                <a:close/>
              </a:path>
            </a:pathLst>
          </a:custGeom>
          <a:solidFill>
            <a:srgbClr val="00E5A0"/>
          </a:solidFill>
          <a:ln/>
        </p:spPr>
      </p:sp>
      <p:sp>
        <p:nvSpPr>
          <p:cNvPr id="20" name="Text 17"/>
          <p:cNvSpPr/>
          <p:nvPr/>
        </p:nvSpPr>
        <p:spPr>
          <a:xfrm>
            <a:off x="1016000" y="5524500"/>
            <a:ext cx="4191000" cy="355600"/>
          </a:xfrm>
          <a:prstGeom prst="rect">
            <a:avLst/>
          </a:prstGeom>
          <a:noFill/>
          <a:ln/>
        </p:spPr>
        <p:txBody>
          <a:bodyPr wrap="none" lIns="0" tIns="0" rIns="0" bIns="0" rtlCol="0" anchor="ctr"/>
          <a:lstStyle/>
          <a:p>
            <a:pPr>
              <a:lnSpc>
                <a:spcPct val="100000"/>
              </a:lnSpc>
            </a:pPr>
            <a:r>
              <a:rPr lang="en-US" sz="1800" dirty="0">
                <a:solidFill>
                  <a:srgbClr val="E6EDF3"/>
                </a:solidFill>
                <a:latin typeface="Arial" panose="020B0604020202020204" pitchFamily="34" charset="0"/>
                <a:ea typeface="Liter" pitchFamily="34" charset="-122"/>
                <a:cs typeface="Arial" panose="020B0604020202020204" pitchFamily="34" charset="0"/>
              </a:rPr>
              <a:t>RESPALDOS AUTO</a:t>
            </a:r>
            <a:endParaRPr lang="en-US" sz="1600" dirty="0">
              <a:latin typeface="Arial" panose="020B0604020202020204" pitchFamily="34" charset="0"/>
              <a:cs typeface="Arial" panose="020B0604020202020204" pitchFamily="34" charset="0"/>
            </a:endParaRPr>
          </a:p>
        </p:txBody>
      </p:sp>
      <p:sp>
        <p:nvSpPr>
          <p:cNvPr id="21" name="Text 18"/>
          <p:cNvSpPr/>
          <p:nvPr/>
        </p:nvSpPr>
        <p:spPr>
          <a:xfrm>
            <a:off x="1016000" y="5969000"/>
            <a:ext cx="4191000" cy="1397000"/>
          </a:xfrm>
          <a:prstGeom prst="rect">
            <a:avLst/>
          </a:prstGeom>
          <a:noFill/>
          <a:ln/>
        </p:spPr>
        <p:txBody>
          <a:bodyPr wrap="square" lIns="0" tIns="0" rIns="0" bIns="0" rtlCol="0" anchor="t"/>
          <a:lstStyle/>
          <a:p>
            <a:pPr>
              <a:lnSpc>
                <a:spcPct val="150000"/>
              </a:lnSpc>
            </a:pPr>
            <a:r>
              <a:rPr lang="en-US" sz="1500" dirty="0">
                <a:solidFill>
                  <a:srgbClr val="8B949E"/>
                </a:solidFill>
                <a:latin typeface="Arial" panose="020B0604020202020204" pitchFamily="34" charset="0"/>
                <a:ea typeface="微软雅黑" pitchFamily="34" charset="-122"/>
                <a:cs typeface="Arial" panose="020B0604020202020204" pitchFamily="34" charset="0"/>
              </a:rPr>
              <a:t>Scripts cron ejecutando respaldos diarios de la base de datos sin intervención manual</a:t>
            </a:r>
            <a:endParaRPr lang="en-US" sz="1600" dirty="0">
              <a:latin typeface="Arial" panose="020B0604020202020204" pitchFamily="34" charset="0"/>
              <a:cs typeface="Arial" panose="020B0604020202020204" pitchFamily="34" charset="0"/>
            </a:endParaRPr>
          </a:p>
        </p:txBody>
      </p:sp>
      <p:sp>
        <p:nvSpPr>
          <p:cNvPr id="22" name="Shape 19"/>
          <p:cNvSpPr/>
          <p:nvPr/>
        </p:nvSpPr>
        <p:spPr>
          <a:xfrm>
            <a:off x="5778500" y="4699000"/>
            <a:ext cx="4699000" cy="2921000"/>
          </a:xfrm>
          <a:prstGeom prst="roundRect">
            <a:avLst>
              <a:gd name="adj" fmla="val 8000"/>
            </a:avLst>
          </a:prstGeom>
          <a:solidFill>
            <a:srgbClr val="161B22"/>
          </a:solidFill>
          <a:ln w="12700">
            <a:solidFill>
              <a:srgbClr val="30363D"/>
            </a:solidFill>
            <a:prstDash val="solid"/>
          </a:ln>
        </p:spPr>
      </p:sp>
      <p:sp>
        <p:nvSpPr>
          <p:cNvPr id="23" name="Shape 20"/>
          <p:cNvSpPr/>
          <p:nvPr/>
        </p:nvSpPr>
        <p:spPr>
          <a:xfrm>
            <a:off x="6032500" y="4889500"/>
            <a:ext cx="508000" cy="508000"/>
          </a:xfrm>
          <a:custGeom>
            <a:avLst/>
            <a:gdLst/>
            <a:ahLst/>
            <a:cxnLst/>
            <a:rect l="l" t="t" r="r" b="b"/>
            <a:pathLst>
              <a:path w="508000" h="508000">
                <a:moveTo>
                  <a:pt x="276423" y="9327"/>
                </a:moveTo>
                <a:cubicBezTo>
                  <a:pt x="264021" y="-3076"/>
                  <a:pt x="243880" y="-3076"/>
                  <a:pt x="231477" y="9327"/>
                </a:cubicBezTo>
                <a:lnTo>
                  <a:pt x="167977" y="72827"/>
                </a:lnTo>
                <a:cubicBezTo>
                  <a:pt x="155575" y="85229"/>
                  <a:pt x="155575" y="105370"/>
                  <a:pt x="167977" y="117773"/>
                </a:cubicBezTo>
                <a:cubicBezTo>
                  <a:pt x="180380" y="130175"/>
                  <a:pt x="200521" y="130175"/>
                  <a:pt x="212923" y="117773"/>
                </a:cubicBezTo>
                <a:lnTo>
                  <a:pt x="222250" y="108446"/>
                </a:lnTo>
                <a:lnTo>
                  <a:pt x="222250" y="222250"/>
                </a:lnTo>
                <a:lnTo>
                  <a:pt x="108446" y="222250"/>
                </a:lnTo>
                <a:lnTo>
                  <a:pt x="117773" y="212923"/>
                </a:lnTo>
                <a:cubicBezTo>
                  <a:pt x="130175" y="200521"/>
                  <a:pt x="130175" y="180380"/>
                  <a:pt x="117773" y="167977"/>
                </a:cubicBezTo>
                <a:cubicBezTo>
                  <a:pt x="105370" y="155575"/>
                  <a:pt x="85229" y="155575"/>
                  <a:pt x="72827" y="167977"/>
                </a:cubicBezTo>
                <a:lnTo>
                  <a:pt x="9327" y="231477"/>
                </a:lnTo>
                <a:cubicBezTo>
                  <a:pt x="-3076" y="243880"/>
                  <a:pt x="-3076" y="264021"/>
                  <a:pt x="9327" y="276423"/>
                </a:cubicBezTo>
                <a:lnTo>
                  <a:pt x="72827" y="339923"/>
                </a:lnTo>
                <a:cubicBezTo>
                  <a:pt x="85229" y="352326"/>
                  <a:pt x="105370" y="352326"/>
                  <a:pt x="117773" y="339923"/>
                </a:cubicBezTo>
                <a:cubicBezTo>
                  <a:pt x="130175" y="327521"/>
                  <a:pt x="130175" y="307380"/>
                  <a:pt x="117773" y="294977"/>
                </a:cubicBezTo>
                <a:lnTo>
                  <a:pt x="108446" y="285651"/>
                </a:lnTo>
                <a:lnTo>
                  <a:pt x="222250" y="285651"/>
                </a:lnTo>
                <a:lnTo>
                  <a:pt x="222250" y="399455"/>
                </a:lnTo>
                <a:lnTo>
                  <a:pt x="212923" y="390128"/>
                </a:lnTo>
                <a:cubicBezTo>
                  <a:pt x="200521" y="377726"/>
                  <a:pt x="180380" y="377726"/>
                  <a:pt x="167977" y="390128"/>
                </a:cubicBezTo>
                <a:cubicBezTo>
                  <a:pt x="155575" y="402530"/>
                  <a:pt x="155575" y="422672"/>
                  <a:pt x="167977" y="435074"/>
                </a:cubicBezTo>
                <a:lnTo>
                  <a:pt x="231477" y="498574"/>
                </a:lnTo>
                <a:cubicBezTo>
                  <a:pt x="243880" y="510977"/>
                  <a:pt x="264021" y="510977"/>
                  <a:pt x="276423" y="498574"/>
                </a:cubicBezTo>
                <a:lnTo>
                  <a:pt x="339923" y="435074"/>
                </a:lnTo>
                <a:cubicBezTo>
                  <a:pt x="352326" y="422672"/>
                  <a:pt x="352326" y="402530"/>
                  <a:pt x="339923" y="390128"/>
                </a:cubicBezTo>
                <a:cubicBezTo>
                  <a:pt x="327521" y="377726"/>
                  <a:pt x="307380" y="377726"/>
                  <a:pt x="294977" y="390128"/>
                </a:cubicBezTo>
                <a:lnTo>
                  <a:pt x="285651" y="399455"/>
                </a:lnTo>
                <a:lnTo>
                  <a:pt x="285651" y="285651"/>
                </a:lnTo>
                <a:lnTo>
                  <a:pt x="399455" y="285651"/>
                </a:lnTo>
                <a:lnTo>
                  <a:pt x="390128" y="294977"/>
                </a:lnTo>
                <a:cubicBezTo>
                  <a:pt x="377726" y="307380"/>
                  <a:pt x="377726" y="327521"/>
                  <a:pt x="390128" y="339923"/>
                </a:cubicBezTo>
                <a:cubicBezTo>
                  <a:pt x="402530" y="352326"/>
                  <a:pt x="422672" y="352326"/>
                  <a:pt x="435074" y="339923"/>
                </a:cubicBezTo>
                <a:lnTo>
                  <a:pt x="498574" y="276423"/>
                </a:lnTo>
                <a:cubicBezTo>
                  <a:pt x="510977" y="264021"/>
                  <a:pt x="510977" y="243880"/>
                  <a:pt x="498574" y="231477"/>
                </a:cubicBezTo>
                <a:lnTo>
                  <a:pt x="435074" y="167977"/>
                </a:lnTo>
                <a:cubicBezTo>
                  <a:pt x="422672" y="155575"/>
                  <a:pt x="402530" y="155575"/>
                  <a:pt x="390128" y="167977"/>
                </a:cubicBezTo>
                <a:cubicBezTo>
                  <a:pt x="377726" y="180380"/>
                  <a:pt x="377726" y="200521"/>
                  <a:pt x="390128" y="212923"/>
                </a:cubicBezTo>
                <a:lnTo>
                  <a:pt x="399455" y="222250"/>
                </a:lnTo>
                <a:lnTo>
                  <a:pt x="285651" y="222250"/>
                </a:lnTo>
                <a:lnTo>
                  <a:pt x="285651" y="108446"/>
                </a:lnTo>
                <a:lnTo>
                  <a:pt x="294977" y="117773"/>
                </a:lnTo>
                <a:cubicBezTo>
                  <a:pt x="307380" y="130175"/>
                  <a:pt x="327521" y="130175"/>
                  <a:pt x="339923" y="117773"/>
                </a:cubicBezTo>
                <a:cubicBezTo>
                  <a:pt x="352326" y="105370"/>
                  <a:pt x="352326" y="85229"/>
                  <a:pt x="339923" y="72827"/>
                </a:cubicBezTo>
                <a:lnTo>
                  <a:pt x="276423" y="9327"/>
                </a:lnTo>
                <a:close/>
              </a:path>
            </a:pathLst>
          </a:custGeom>
          <a:solidFill>
            <a:srgbClr val="00E5A0"/>
          </a:solidFill>
          <a:ln/>
        </p:spPr>
      </p:sp>
      <p:sp>
        <p:nvSpPr>
          <p:cNvPr id="24" name="Text 21"/>
          <p:cNvSpPr/>
          <p:nvPr/>
        </p:nvSpPr>
        <p:spPr>
          <a:xfrm>
            <a:off x="6032500" y="5524500"/>
            <a:ext cx="4191000" cy="355600"/>
          </a:xfrm>
          <a:prstGeom prst="rect">
            <a:avLst/>
          </a:prstGeom>
          <a:noFill/>
          <a:ln/>
        </p:spPr>
        <p:txBody>
          <a:bodyPr wrap="none" lIns="0" tIns="0" rIns="0" bIns="0" rtlCol="0" anchor="ctr"/>
          <a:lstStyle/>
          <a:p>
            <a:pPr>
              <a:lnSpc>
                <a:spcPct val="100000"/>
              </a:lnSpc>
            </a:pPr>
            <a:r>
              <a:rPr lang="en-US" sz="1800" dirty="0">
                <a:solidFill>
                  <a:srgbClr val="E6EDF3"/>
                </a:solidFill>
                <a:latin typeface="Arial" panose="020B0604020202020204" pitchFamily="34" charset="0"/>
                <a:ea typeface="Liter" pitchFamily="34" charset="-122"/>
                <a:cs typeface="Arial" panose="020B0604020202020204" pitchFamily="34" charset="0"/>
              </a:rPr>
              <a:t>ESCALABLE</a:t>
            </a:r>
            <a:endParaRPr lang="en-US" sz="1600" dirty="0">
              <a:latin typeface="Arial" panose="020B0604020202020204" pitchFamily="34" charset="0"/>
              <a:cs typeface="Arial" panose="020B0604020202020204" pitchFamily="34" charset="0"/>
            </a:endParaRPr>
          </a:p>
        </p:txBody>
      </p:sp>
      <p:sp>
        <p:nvSpPr>
          <p:cNvPr id="25" name="Text 22"/>
          <p:cNvSpPr/>
          <p:nvPr/>
        </p:nvSpPr>
        <p:spPr>
          <a:xfrm>
            <a:off x="6032500" y="5969000"/>
            <a:ext cx="4191000" cy="1397000"/>
          </a:xfrm>
          <a:prstGeom prst="rect">
            <a:avLst/>
          </a:prstGeom>
          <a:noFill/>
          <a:ln/>
        </p:spPr>
        <p:txBody>
          <a:bodyPr wrap="square" lIns="0" tIns="0" rIns="0" bIns="0" rtlCol="0" anchor="t"/>
          <a:lstStyle/>
          <a:p>
            <a:pPr>
              <a:lnSpc>
                <a:spcPct val="150000"/>
              </a:lnSpc>
            </a:pPr>
            <a:r>
              <a:rPr lang="en-US" sz="1500" dirty="0">
                <a:solidFill>
                  <a:srgbClr val="8B949E"/>
                </a:solidFill>
                <a:latin typeface="Arial" panose="020B0604020202020204" pitchFamily="34" charset="0"/>
                <a:ea typeface="微软雅黑" pitchFamily="34" charset="-122"/>
                <a:cs typeface="Arial" panose="020B0604020202020204" pitchFamily="34" charset="0"/>
              </a:rPr>
              <a:t>Arquitectura que permite agregar más servidores web fácilmente según la demanda de usuarios</a:t>
            </a:r>
            <a:endParaRPr lang="en-US" sz="1600" dirty="0">
              <a:latin typeface="Arial" panose="020B0604020202020204" pitchFamily="34" charset="0"/>
              <a:cs typeface="Arial" panose="020B0604020202020204" pitchFamily="34" charset="0"/>
            </a:endParaRPr>
          </a:p>
        </p:txBody>
      </p:sp>
      <p:sp>
        <p:nvSpPr>
          <p:cNvPr id="26" name="Shape 23"/>
          <p:cNvSpPr/>
          <p:nvPr/>
        </p:nvSpPr>
        <p:spPr>
          <a:xfrm>
            <a:off x="10795000" y="4699000"/>
            <a:ext cx="4699000" cy="2921000"/>
          </a:xfrm>
          <a:prstGeom prst="roundRect">
            <a:avLst>
              <a:gd name="adj" fmla="val 8000"/>
            </a:avLst>
          </a:prstGeom>
          <a:solidFill>
            <a:srgbClr val="00E5A0">
              <a:alpha val="6275"/>
            </a:srgbClr>
          </a:solidFill>
          <a:ln w="12700">
            <a:solidFill>
              <a:srgbClr val="00E5A0"/>
            </a:solidFill>
            <a:prstDash val="solid"/>
          </a:ln>
        </p:spPr>
      </p:sp>
      <p:sp>
        <p:nvSpPr>
          <p:cNvPr id="27" name="Shape 24"/>
          <p:cNvSpPr/>
          <p:nvPr/>
        </p:nvSpPr>
        <p:spPr>
          <a:xfrm>
            <a:off x="12763500" y="5080000"/>
            <a:ext cx="762000" cy="762000"/>
          </a:xfrm>
          <a:custGeom>
            <a:avLst/>
            <a:gdLst/>
            <a:ahLst/>
            <a:cxnLst/>
            <a:rect l="l" t="t" r="r" b="b"/>
            <a:pathLst>
              <a:path w="762000" h="762000">
                <a:moveTo>
                  <a:pt x="381000" y="762000"/>
                </a:moveTo>
                <a:cubicBezTo>
                  <a:pt x="591280" y="762000"/>
                  <a:pt x="762000" y="591280"/>
                  <a:pt x="762000" y="381000"/>
                </a:cubicBezTo>
                <a:cubicBezTo>
                  <a:pt x="762000" y="170720"/>
                  <a:pt x="591280" y="0"/>
                  <a:pt x="381000" y="0"/>
                </a:cubicBezTo>
                <a:cubicBezTo>
                  <a:pt x="170720" y="0"/>
                  <a:pt x="0" y="170720"/>
                  <a:pt x="0" y="381000"/>
                </a:cubicBezTo>
                <a:cubicBezTo>
                  <a:pt x="0" y="591280"/>
                  <a:pt x="170720" y="762000"/>
                  <a:pt x="381000" y="762000"/>
                </a:cubicBezTo>
                <a:close/>
                <a:moveTo>
                  <a:pt x="506611" y="316557"/>
                </a:moveTo>
                <a:lnTo>
                  <a:pt x="387548" y="507057"/>
                </a:lnTo>
                <a:cubicBezTo>
                  <a:pt x="381298" y="517029"/>
                  <a:pt x="370582" y="523280"/>
                  <a:pt x="358825" y="523875"/>
                </a:cubicBezTo>
                <a:cubicBezTo>
                  <a:pt x="347067" y="524470"/>
                  <a:pt x="335756" y="519113"/>
                  <a:pt x="328761" y="509587"/>
                </a:cubicBezTo>
                <a:lnTo>
                  <a:pt x="257324" y="414337"/>
                </a:lnTo>
                <a:cubicBezTo>
                  <a:pt x="245418" y="398562"/>
                  <a:pt x="248692" y="376238"/>
                  <a:pt x="264468" y="364331"/>
                </a:cubicBezTo>
                <a:cubicBezTo>
                  <a:pt x="280243" y="352425"/>
                  <a:pt x="302568" y="355699"/>
                  <a:pt x="314474" y="371475"/>
                </a:cubicBezTo>
                <a:lnTo>
                  <a:pt x="354657" y="425053"/>
                </a:lnTo>
                <a:lnTo>
                  <a:pt x="446038" y="278755"/>
                </a:lnTo>
                <a:cubicBezTo>
                  <a:pt x="456456" y="262086"/>
                  <a:pt x="478482" y="256877"/>
                  <a:pt x="495300" y="267444"/>
                </a:cubicBezTo>
                <a:cubicBezTo>
                  <a:pt x="512118" y="278011"/>
                  <a:pt x="517178" y="299889"/>
                  <a:pt x="506611" y="316706"/>
                </a:cubicBezTo>
                <a:close/>
              </a:path>
            </a:pathLst>
          </a:custGeom>
          <a:solidFill>
            <a:srgbClr val="00E5A0"/>
          </a:solidFill>
          <a:ln/>
        </p:spPr>
      </p:sp>
      <p:sp>
        <p:nvSpPr>
          <p:cNvPr id="28" name="Text 25"/>
          <p:cNvSpPr/>
          <p:nvPr/>
        </p:nvSpPr>
        <p:spPr>
          <a:xfrm>
            <a:off x="11049000" y="6032500"/>
            <a:ext cx="4191000" cy="355600"/>
          </a:xfrm>
          <a:prstGeom prst="rect">
            <a:avLst/>
          </a:prstGeom>
          <a:noFill/>
          <a:ln/>
        </p:spPr>
        <p:txBody>
          <a:bodyPr wrap="none" lIns="0" tIns="0" rIns="0" bIns="0" rtlCol="0" anchor="ctr"/>
          <a:lstStyle/>
          <a:p>
            <a:pPr algn="ctr">
              <a:lnSpc>
                <a:spcPct val="100000"/>
              </a:lnSpc>
            </a:pPr>
            <a:r>
              <a:rPr lang="en-US" sz="1800" dirty="0">
                <a:solidFill>
                  <a:srgbClr val="00E5A0"/>
                </a:solidFill>
                <a:latin typeface="Arial" panose="020B0604020202020204" pitchFamily="34" charset="0"/>
                <a:ea typeface="Liter" pitchFamily="34" charset="-122"/>
                <a:cs typeface="Arial" panose="020B0604020202020204" pitchFamily="34" charset="0"/>
              </a:rPr>
              <a:t>100% OPERATIVO</a:t>
            </a:r>
            <a:endParaRPr lang="en-US" sz="1600" dirty="0">
              <a:latin typeface="Arial" panose="020B0604020202020204" pitchFamily="34" charset="0"/>
              <a:cs typeface="Arial" panose="020B0604020202020204" pitchFamily="34" charset="0"/>
            </a:endParaRPr>
          </a:p>
        </p:txBody>
      </p:sp>
      <p:sp>
        <p:nvSpPr>
          <p:cNvPr id="29" name="Text 26"/>
          <p:cNvSpPr/>
          <p:nvPr/>
        </p:nvSpPr>
        <p:spPr>
          <a:xfrm>
            <a:off x="11049000" y="6477000"/>
            <a:ext cx="4191000" cy="889000"/>
          </a:xfrm>
          <a:prstGeom prst="rect">
            <a:avLst/>
          </a:prstGeom>
          <a:noFill/>
          <a:ln/>
        </p:spPr>
        <p:txBody>
          <a:bodyPr wrap="square" lIns="0" tIns="0" rIns="0" bIns="0" rtlCol="0" anchor="t"/>
          <a:lstStyle/>
          <a:p>
            <a:pPr algn="ctr">
              <a:lnSpc>
                <a:spcPct val="150000"/>
              </a:lnSpc>
            </a:pPr>
            <a:r>
              <a:rPr lang="en-US" sz="1500" dirty="0">
                <a:solidFill>
                  <a:srgbClr val="8B949E"/>
                </a:solidFill>
                <a:latin typeface="Arial" panose="020B0604020202020204" pitchFamily="34" charset="0"/>
                <a:ea typeface="微软雅黑" pitchFamily="34" charset="-122"/>
                <a:cs typeface="Arial" panose="020B0604020202020204" pitchFamily="34" charset="0"/>
              </a:rPr>
              <a:t>Todos los servicios funcionando correctamente y listos para producción</a:t>
            </a:r>
            <a:endParaRPr lang="en-US" sz="1600" dirty="0">
              <a:latin typeface="Arial" panose="020B0604020202020204" pitchFamily="34" charset="0"/>
              <a:cs typeface="Arial" panose="020B0604020202020204" pitchFamily="34" charset="0"/>
            </a:endParaRPr>
          </a:p>
        </p:txBody>
      </p:sp>
      <p:sp>
        <p:nvSpPr>
          <p:cNvPr id="30" name="Text 27"/>
          <p:cNvSpPr/>
          <p:nvPr/>
        </p:nvSpPr>
        <p:spPr>
          <a:xfrm>
            <a:off x="15240000" y="8763000"/>
            <a:ext cx="635000" cy="254000"/>
          </a:xfrm>
          <a:prstGeom prst="rect">
            <a:avLst/>
          </a:prstGeom>
          <a:noFill/>
          <a:ln/>
        </p:spPr>
        <p:txBody>
          <a:bodyPr wrap="none" lIns="0" tIns="0" rIns="0" bIns="0" rtlCol="0" anchor="ctr"/>
          <a:lstStyle/>
          <a:p>
            <a:pPr algn="r">
              <a:lnSpc>
                <a:spcPct val="140000"/>
              </a:lnSpc>
            </a:pPr>
            <a:r>
              <a:rPr lang="en-US" sz="1400" dirty="0">
                <a:solidFill>
                  <a:srgbClr val="8B949E"/>
                </a:solidFill>
                <a:latin typeface="Arial" panose="020B0604020202020204" pitchFamily="34" charset="0"/>
                <a:ea typeface="QuattrocentoSans" pitchFamily="34" charset="-122"/>
                <a:cs typeface="Arial" panose="020B0604020202020204" pitchFamily="34" charset="0"/>
              </a:rPr>
              <a:t>09</a:t>
            </a:r>
            <a:endParaRPr lang="en-US" sz="1400" dirty="0">
              <a:latin typeface="Arial" panose="020B0604020202020204" pitchFamily="34" charset="0"/>
              <a:cs typeface="Arial" panose="020B0604020202020204" pitchFamily="34" charset="0"/>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ttps://kimi-img.moonshot.cn/pub/slides/okc/rdnujj54ikoe2/mnt/agents/output/red-examenes/images/4_Free_Futuristic_Data_Center_Image.png"/>
          <p:cNvPicPr>
            <a:picLocks noChangeAspect="1"/>
          </p:cNvPicPr>
          <p:nvPr/>
        </p:nvPicPr>
        <p:blipFill>
          <a:blip r:embed="rId3"/>
          <a:srcRect t="21875" b="21875"/>
          <a:stretch/>
        </p:blipFill>
        <p:spPr>
          <a:xfrm>
            <a:off x="0" y="0"/>
            <a:ext cx="16256000" cy="9144000"/>
          </a:xfrm>
          <a:prstGeom prst="rect">
            <a:avLst/>
          </a:prstGeom>
        </p:spPr>
      </p:pic>
      <p:sp>
        <p:nvSpPr>
          <p:cNvPr id="4" name="Shape 0"/>
          <p:cNvSpPr/>
          <p:nvPr/>
        </p:nvSpPr>
        <p:spPr>
          <a:xfrm>
            <a:off x="0" y="0"/>
            <a:ext cx="16256000" cy="9144000"/>
          </a:xfrm>
          <a:prstGeom prst="rect">
            <a:avLst/>
          </a:prstGeom>
          <a:gradFill flip="none" rotWithShape="1">
            <a:gsLst>
              <a:gs pos="0">
                <a:srgbClr val="0D1117">
                  <a:alpha val="90000"/>
                </a:srgbClr>
              </a:gs>
              <a:gs pos="40000">
                <a:srgbClr val="0D1117">
                  <a:alpha val="80000"/>
                </a:srgbClr>
              </a:gs>
              <a:gs pos="100000">
                <a:srgbClr val="0D1117">
                  <a:alpha val="94000"/>
                </a:srgbClr>
              </a:gs>
            </a:gsLst>
            <a:lin ang="5400000" scaled="1"/>
          </a:gradFill>
          <a:ln w="12700">
            <a:solidFill>
              <a:srgbClr val="333333"/>
            </a:solidFill>
            <a:prstDash val="solid"/>
          </a:ln>
        </p:spPr>
        <p:txBody>
          <a:bodyPr/>
          <a:lstStyle/>
          <a:p>
            <a:endParaRPr lang="es-BO" dirty="0"/>
          </a:p>
        </p:txBody>
      </p:sp>
      <p:sp>
        <p:nvSpPr>
          <p:cNvPr id="5" name="Shape 1"/>
          <p:cNvSpPr/>
          <p:nvPr/>
        </p:nvSpPr>
        <p:spPr>
          <a:xfrm>
            <a:off x="0" y="0"/>
            <a:ext cx="16256000" cy="38100"/>
          </a:xfrm>
          <a:prstGeom prst="rect">
            <a:avLst/>
          </a:prstGeom>
          <a:solidFill>
            <a:srgbClr val="00E5A0"/>
          </a:solidFill>
          <a:ln/>
        </p:spPr>
      </p:sp>
      <p:sp>
        <p:nvSpPr>
          <p:cNvPr id="6" name="Text 2"/>
          <p:cNvSpPr/>
          <p:nvPr/>
        </p:nvSpPr>
        <p:spPr>
          <a:xfrm>
            <a:off x="762000" y="635000"/>
            <a:ext cx="7620000" cy="508000"/>
          </a:xfrm>
          <a:prstGeom prst="rect">
            <a:avLst/>
          </a:prstGeom>
          <a:noFill/>
          <a:ln/>
        </p:spPr>
        <p:txBody>
          <a:bodyPr wrap="none" lIns="0" tIns="0" rIns="0" bIns="0" rtlCol="0" anchor="ctr"/>
          <a:lstStyle/>
          <a:p>
            <a:pPr>
              <a:lnSpc>
                <a:spcPct val="120000"/>
              </a:lnSpc>
            </a:pPr>
            <a:r>
              <a:rPr lang="en-US" sz="3000" kern="0" spc="200" dirty="0">
                <a:solidFill>
                  <a:srgbClr val="00E5A0"/>
                </a:solidFill>
                <a:latin typeface="Arial" panose="020B0604020202020204" pitchFamily="34" charset="0"/>
                <a:ea typeface="Liter" pitchFamily="34" charset="-122"/>
                <a:cs typeface="Arial" panose="020B0604020202020204" pitchFamily="34" charset="0"/>
              </a:rPr>
              <a:t>CONCLUSIONES</a:t>
            </a:r>
            <a:endParaRPr lang="en-US" sz="3000" dirty="0">
              <a:latin typeface="Arial" panose="020B0604020202020204" pitchFamily="34" charset="0"/>
              <a:cs typeface="Arial" panose="020B0604020202020204" pitchFamily="34" charset="0"/>
            </a:endParaRPr>
          </a:p>
        </p:txBody>
      </p:sp>
      <p:sp>
        <p:nvSpPr>
          <p:cNvPr id="7" name="Shape 3"/>
          <p:cNvSpPr/>
          <p:nvPr/>
        </p:nvSpPr>
        <p:spPr>
          <a:xfrm>
            <a:off x="762000" y="1206500"/>
            <a:ext cx="1524000" cy="38100"/>
          </a:xfrm>
          <a:prstGeom prst="rect">
            <a:avLst/>
          </a:prstGeom>
          <a:solidFill>
            <a:srgbClr val="00E5A0"/>
          </a:solidFill>
          <a:ln/>
        </p:spPr>
      </p:sp>
      <p:sp>
        <p:nvSpPr>
          <p:cNvPr id="8" name="Text 4"/>
          <p:cNvSpPr/>
          <p:nvPr/>
        </p:nvSpPr>
        <p:spPr>
          <a:xfrm>
            <a:off x="762000" y="1524000"/>
            <a:ext cx="14732000" cy="762000"/>
          </a:xfrm>
          <a:prstGeom prst="rect">
            <a:avLst/>
          </a:prstGeom>
          <a:noFill/>
          <a:ln/>
        </p:spPr>
        <p:txBody>
          <a:bodyPr wrap="square" lIns="0" tIns="0" rIns="0" bIns="0" rtlCol="0" anchor="ctr"/>
          <a:lstStyle/>
          <a:p>
            <a:pPr>
              <a:lnSpc>
                <a:spcPct val="150000"/>
              </a:lnSpc>
            </a:pPr>
            <a:r>
              <a:rPr lang="en-US" sz="1800" dirty="0">
                <a:solidFill>
                  <a:srgbClr val="E6EDF3"/>
                </a:solidFill>
                <a:latin typeface="Arial" panose="020B0604020202020204" pitchFamily="34" charset="0"/>
                <a:ea typeface="QuattrocentoSans" pitchFamily="34" charset="-122"/>
                <a:cs typeface="Arial" panose="020B0604020202020204" pitchFamily="34" charset="0"/>
              </a:rPr>
              <a:t>Se logró una </a:t>
            </a:r>
            <a:r>
              <a:rPr lang="en-US" sz="1800" b="1" dirty="0">
                <a:solidFill>
                  <a:srgbClr val="00E5A0"/>
                </a:solidFill>
                <a:latin typeface="Arial" panose="020B0604020202020204" pitchFamily="34" charset="0"/>
                <a:ea typeface="QuattrocentoSans" pitchFamily="34" charset="-122"/>
                <a:cs typeface="Arial" panose="020B0604020202020204" pitchFamily="34" charset="0"/>
              </a:rPr>
              <a:t>infraestructura robusta, segura y escalable</a:t>
            </a:r>
            <a:r>
              <a:rPr lang="en-US" sz="1800" dirty="0">
                <a:solidFill>
                  <a:srgbClr val="E6EDF3"/>
                </a:solidFill>
                <a:latin typeface="Arial" panose="020B0604020202020204" pitchFamily="34" charset="0"/>
                <a:ea typeface="QuattrocentoSans" pitchFamily="34" charset="-122"/>
                <a:cs typeface="Arial" panose="020B0604020202020204" pitchFamily="34" charset="0"/>
              </a:rPr>
              <a:t> para la aplicación de exámenes en línea cumpliendo todos los objetivos planteados.</a:t>
            </a:r>
            <a:endParaRPr lang="en-US" sz="1800" dirty="0">
              <a:latin typeface="Arial" panose="020B0604020202020204" pitchFamily="34" charset="0"/>
              <a:cs typeface="Arial" panose="020B0604020202020204" pitchFamily="34" charset="0"/>
            </a:endParaRPr>
          </a:p>
        </p:txBody>
      </p:sp>
      <p:sp>
        <p:nvSpPr>
          <p:cNvPr id="20" name="Shape 16"/>
          <p:cNvSpPr/>
          <p:nvPr/>
        </p:nvSpPr>
        <p:spPr>
          <a:xfrm>
            <a:off x="762000" y="6223000"/>
            <a:ext cx="14732000" cy="12700"/>
          </a:xfrm>
          <a:prstGeom prst="rect">
            <a:avLst/>
          </a:prstGeom>
          <a:solidFill>
            <a:srgbClr val="30363D"/>
          </a:solidFill>
          <a:ln/>
        </p:spPr>
      </p:sp>
      <p:sp>
        <p:nvSpPr>
          <p:cNvPr id="22" name="Text 18"/>
          <p:cNvSpPr/>
          <p:nvPr/>
        </p:nvSpPr>
        <p:spPr>
          <a:xfrm>
            <a:off x="-804260" y="6905282"/>
            <a:ext cx="10160000" cy="635000"/>
          </a:xfrm>
          <a:prstGeom prst="rect">
            <a:avLst/>
          </a:prstGeom>
          <a:noFill/>
          <a:ln/>
        </p:spPr>
        <p:txBody>
          <a:bodyPr wrap="none" lIns="0" tIns="0" rIns="0" bIns="0" rtlCol="0" anchor="ctr"/>
          <a:lstStyle/>
          <a:p>
            <a:pPr algn="ctr">
              <a:lnSpc>
                <a:spcPct val="100000"/>
              </a:lnSpc>
            </a:pPr>
            <a:r>
              <a:rPr lang="en-US" sz="3200" dirty="0">
                <a:solidFill>
                  <a:srgbClr val="00E5A0"/>
                </a:solidFill>
                <a:latin typeface="Arial" panose="020B0604020202020204" pitchFamily="34" charset="0"/>
                <a:ea typeface="Liter" pitchFamily="34" charset="-122"/>
                <a:cs typeface="Arial" panose="020B0604020202020204" pitchFamily="34" charset="0"/>
              </a:rPr>
              <a:t>¡DEMOSTRACION!</a:t>
            </a:r>
            <a:endParaRPr lang="en-US" sz="1600" dirty="0">
              <a:latin typeface="Arial" panose="020B0604020202020204" pitchFamily="34" charset="0"/>
              <a:cs typeface="Arial" panose="020B0604020202020204" pitchFamily="34" charset="0"/>
            </a:endParaRPr>
          </a:p>
        </p:txBody>
      </p:sp>
      <p:sp>
        <p:nvSpPr>
          <p:cNvPr id="24" name="Shape 20"/>
          <p:cNvSpPr/>
          <p:nvPr/>
        </p:nvSpPr>
        <p:spPr>
          <a:xfrm>
            <a:off x="0" y="9105900"/>
            <a:ext cx="16256000" cy="38100"/>
          </a:xfrm>
          <a:prstGeom prst="rect">
            <a:avLst/>
          </a:prstGeom>
          <a:solidFill>
            <a:srgbClr val="00E5A0"/>
          </a:solidFill>
          <a:ln/>
        </p:spPr>
      </p:sp>
      <p:pic>
        <p:nvPicPr>
          <p:cNvPr id="9" name="Imagen 8">
            <a:extLst>
              <a:ext uri="{FF2B5EF4-FFF2-40B4-BE49-F238E27FC236}">
                <a16:creationId xmlns:a16="http://schemas.microsoft.com/office/drawing/2014/main" id="{C5E321BB-D365-3DA7-871E-BFA07009BE80}"/>
              </a:ext>
            </a:extLst>
          </p:cNvPr>
          <p:cNvPicPr>
            <a:picLocks noChangeAspect="1"/>
          </p:cNvPicPr>
          <p:nvPr/>
        </p:nvPicPr>
        <p:blipFill>
          <a:blip r:embed="rId4"/>
          <a:stretch>
            <a:fillRect/>
          </a:stretch>
        </p:blipFill>
        <p:spPr>
          <a:xfrm>
            <a:off x="1933146" y="2179251"/>
            <a:ext cx="4839266" cy="4785497"/>
          </a:xfrm>
          <a:prstGeom prst="rect">
            <a:avLst/>
          </a:prstGeom>
        </p:spPr>
      </p:pic>
      <p:pic>
        <p:nvPicPr>
          <p:cNvPr id="11" name="Imagen 10">
            <a:extLst>
              <a:ext uri="{FF2B5EF4-FFF2-40B4-BE49-F238E27FC236}">
                <a16:creationId xmlns:a16="http://schemas.microsoft.com/office/drawing/2014/main" id="{3C75841A-22DC-82FE-15D5-82CB4C9FCE2E}"/>
              </a:ext>
            </a:extLst>
          </p:cNvPr>
          <p:cNvPicPr>
            <a:picLocks noChangeAspect="1"/>
          </p:cNvPicPr>
          <p:nvPr/>
        </p:nvPicPr>
        <p:blipFill>
          <a:blip r:embed="rId5"/>
          <a:stretch>
            <a:fillRect/>
          </a:stretch>
        </p:blipFill>
        <p:spPr>
          <a:xfrm>
            <a:off x="6911618" y="2237603"/>
            <a:ext cx="9134897" cy="6608804"/>
          </a:xfrm>
          <a:prstGeom prst="rect">
            <a:avLst/>
          </a:prstGeom>
        </p:spPr>
      </p:pic>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TotalTime>
  <Words>1380</Words>
  <Application>Microsoft Office PowerPoint</Application>
  <PresentationFormat>Personalizado</PresentationFormat>
  <Paragraphs>99</Paragraphs>
  <Slides>8</Slides>
  <Notes>8</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8</vt:i4>
      </vt:variant>
    </vt:vector>
  </HeadingPairs>
  <TitlesOfParts>
    <vt:vector size="10" baseType="lpstr">
      <vt:lpstr>Arial</vt:lpstr>
      <vt:lpstr>Custom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Diseño, Implementación y Aseguramiento de Infraestructura de Red para un Centro de Cómputo de Exámenes en Línea</dc:title>
  <dc:subject>Diseño, Implementación y Aseguramiento de Infraestructura de Red para un Centro de Cómputo de Exámenes en Línea</dc:subject>
  <dc:creator>Kimi</dc:creator>
  <cp:lastModifiedBy>SPACE</cp:lastModifiedBy>
  <cp:revision>11</cp:revision>
  <dcterms:created xsi:type="dcterms:W3CDTF">2026-06-10T21:31:56Z</dcterms:created>
  <dcterms:modified xsi:type="dcterms:W3CDTF">2026-06-11T15:39:50Z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{"Label":"Diseño, Implementación y Aseguramiento de Infraestructura de Red para un Centro de Cómputo de Exámenes en Línea","ContentProducer":"001191110108MACG2KBH8F10000","ProduceID":"19eb3681-9ec2-8b45-8000-00006eb2d4b5","ReservedCode1":"","ContentPropag</vt:lpwstr>
  </property>
</Properties>
</file>